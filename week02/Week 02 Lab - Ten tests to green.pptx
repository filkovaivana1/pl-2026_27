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Ivana. The starter is a Maven project. IntelliJ IDEA downloads JUnit the first time, so the lab computers need internet access. Please open the starter once before the class to make sure the download works in the lab. All tests were run against the reference solution: 12 of 12 green. Against the untouched starter: 12 of 12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Reading a test is a skill. Ask: what must sumTo(100) return, and how do you know? From week 11 the students write such tests themselves.
MUST COVER: the lab of this week depends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IntelliJ asks whether to trust the project, answer yes. If the tests do not start, check File, Project Structure, SDK: it must be 25.
MUST COVER: the lab of this week depends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return n % 2 == 0. Typical detour: an if with return true and return false. It works. Show that the comparison already is the boolean.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5 hint if needed: divide by 10 in a loop and count the rounds. Students who try to convert the number to text: accept it, then ask for the loop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7: the classic bug is int max = 0, which fails for {-7, -2, -9}. The test catches it. Right start: values[0].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slide only after most students have tried task 9. The algorithm is correct, the contract is wrong: the original array is reversed as well. The students saw the reason one hour ago: a method receives a copy of the reference, not a copy of the array. The test checks that the original stays unchanged.
MUST COVER: the lab of this week depends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Scanner is introduced here because every book and most older course material uses it. new Scanner(System.in) is the first object the students create with new. Do not explain new in depth, that is the lecture of next week. This program has no test, check it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have reference solutions in the solution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way to check the last point: git status and git log show which files a student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589520" cy="6858000"/>
          </a:xfrm>
          <a:prstGeom prst="rect">
            <a:avLst/>
          </a:prstGeom>
          <a:solidFill>
            <a:srgbClr val="262B33"/>
          </a:solidFill>
          <a:ln w="12700">
            <a:solidFill>
              <a:srgbClr val="262B33"/>
            </a:solidFill>
            <a:prstDash val="solid"/>
          </a:ln>
        </p:spPr>
      </p:sp>
      <p:sp>
        <p:nvSpPr>
          <p:cNvPr id="3" name="Text 1"/>
          <p:cNvSpPr txBox="1"/>
          <p:nvPr/>
        </p:nvSpPr>
        <p:spPr>
          <a:xfrm>
            <a:off x="731520" y="1188720"/>
            <a:ext cx="6309360" cy="365760"/>
          </a:xfrm>
          <a:prstGeom prst="rect">
            <a:avLst/>
          </a:prstGeom>
          <a:noFill/>
          <a:ln/>
        </p:spPr>
        <p:txBody>
          <a:bodyPr wrap="square" lIns="0" tIns="0" rIns="0" bIns="0" rtlCol="0" anchor="ctr"/>
          <a:lstStyle/>
          <a:p>
            <a:pPr indent="0" marL="0">
              <a:buNone/>
            </a:pPr>
            <a:r>
              <a:rPr lang="en-US" sz="1600" b="1" spc="300" kern="0" dirty="0">
                <a:solidFill>
                  <a:srgbClr val="FFFFFF"/>
                </a:solidFill>
                <a:latin typeface="Calibri" pitchFamily="34" charset="0"/>
                <a:ea typeface="Calibri" pitchFamily="34" charset="-122"/>
                <a:cs typeface="Calibri" pitchFamily="34" charset="-120"/>
              </a:rPr>
              <a:t>WEEK 2  ·  LAB</a:t>
            </a:r>
            <a:endParaRPr lang="en-US" sz="1600" dirty="0"/>
          </a:p>
        </p:txBody>
      </p:sp>
      <p:sp>
        <p:nvSpPr>
          <p:cNvPr id="4" name="Text 2"/>
          <p:cNvSpPr txBox="1"/>
          <p:nvPr/>
        </p:nvSpPr>
        <p:spPr>
          <a:xfrm>
            <a:off x="731520" y="1737360"/>
            <a:ext cx="6309360" cy="237744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libri" pitchFamily="34" charset="0"/>
                <a:ea typeface="Calibri" pitchFamily="34" charset="-122"/>
                <a:cs typeface="Calibri" pitchFamily="34" charset="-120"/>
              </a:rPr>
              <a:t>Ten tests to green</a:t>
            </a:r>
            <a:endParaRPr lang="en-US" sz="4400" dirty="0"/>
          </a:p>
        </p:txBody>
      </p:sp>
      <p:sp>
        <p:nvSpPr>
          <p:cNvPr id="5" name="Text 3"/>
          <p:cNvSpPr txBox="1"/>
          <p:nvPr/>
        </p:nvSpPr>
        <p:spPr>
          <a:xfrm>
            <a:off x="731520" y="2752344"/>
            <a:ext cx="6309360" cy="10972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Decisions, loops, arrays and methods, checked by tests that you run yourself</a:t>
            </a:r>
            <a:endParaRPr lang="en-US" sz="2000" dirty="0"/>
          </a:p>
        </p:txBody>
      </p:sp>
      <p:sp>
        <p:nvSpPr>
          <p:cNvPr id="6" name="Text 4"/>
          <p:cNvSpPr txBox="1"/>
          <p:nvPr/>
        </p:nvSpPr>
        <p:spPr>
          <a:xfrm>
            <a:off x="731520" y="5806440"/>
            <a:ext cx="630936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Laboratory exercises: Ivana Filkova</a:t>
            </a:r>
            <a:endParaRPr lang="en-US" sz="1500" dirty="0"/>
          </a:p>
        </p:txBody>
      </p:sp>
      <p:pic>
        <p:nvPicPr>
          <p:cNvPr id="7" name="Image 0" descr="/home/claude/decks/assets/logo-color-md.png">    </p:cNvPr>
          <p:cNvPicPr>
            <a:picLocks noChangeAspect="1"/>
          </p:cNvPicPr>
          <p:nvPr/>
        </p:nvPicPr>
        <p:blipFill>
          <a:blip r:embed="rId1"/>
          <a:stretch>
            <a:fillRect/>
          </a:stretch>
        </p:blipFill>
        <p:spPr>
          <a:xfrm>
            <a:off x="8107528" y="1554480"/>
            <a:ext cx="3566160" cy="1304375"/>
          </a:xfrm>
          <a:prstGeom prst="rect">
            <a:avLst/>
          </a:prstGeom>
        </p:spPr>
      </p:pic>
      <p:sp>
        <p:nvSpPr>
          <p:cNvPr id="8" name="Text 5"/>
          <p:cNvSpPr txBox="1"/>
          <p:nvPr/>
        </p:nvSpPr>
        <p:spPr>
          <a:xfrm>
            <a:off x="7955280" y="3291840"/>
            <a:ext cx="3870655" cy="640080"/>
          </a:xfrm>
          <a:prstGeom prst="rect">
            <a:avLst/>
          </a:prstGeom>
          <a:noFill/>
          <a:ln/>
        </p:spPr>
        <p:txBody>
          <a:bodyPr wrap="square" lIns="0" tIns="0" rIns="0" bIns="0" rtlCol="0" anchor="ctr"/>
          <a:lstStyle/>
          <a:p>
            <a:pPr algn="ctr" indent="0" marL="0">
              <a:buNone/>
            </a:pPr>
            <a:r>
              <a:rPr lang="en-US" sz="1500" dirty="0">
                <a:solidFill>
                  <a:srgbClr val="1F2328"/>
                </a:solidFill>
                <a:latin typeface="Calibri" pitchFamily="34" charset="0"/>
                <a:ea typeface="Calibri" pitchFamily="34" charset="-122"/>
                <a:cs typeface="Calibri" pitchFamily="34" charset="-120"/>
              </a:rPr>
              <a:t>School of Computer Science and Information Technology</a:t>
            </a:r>
            <a:endParaRPr lang="en-US" sz="1500" dirty="0"/>
          </a:p>
        </p:txBody>
      </p:sp>
      <p:sp>
        <p:nvSpPr>
          <p:cNvPr id="9" name="Text 6"/>
          <p:cNvSpPr txBox="1"/>
          <p:nvPr/>
        </p:nvSpPr>
        <p:spPr>
          <a:xfrm>
            <a:off x="7955280" y="3977640"/>
            <a:ext cx="3870655" cy="365760"/>
          </a:xfrm>
          <a:prstGeom prst="rect">
            <a:avLst/>
          </a:prstGeom>
          <a:noFill/>
          <a:ln/>
        </p:spPr>
        <p:txBody>
          <a:bodyPr wrap="square" lIns="0" tIns="0" rIns="0" bIns="0" rtlCol="0" anchor="ctr"/>
          <a:lstStyle/>
          <a:p>
            <a:pPr algn="ctr" indent="0" marL="0">
              <a:buNone/>
            </a:pPr>
            <a:r>
              <a:rPr lang="en-US" sz="1500" b="1" dirty="0">
                <a:solidFill>
                  <a:srgbClr val="C6333B"/>
                </a:solidFill>
                <a:latin typeface="Calibri" pitchFamily="34" charset="0"/>
                <a:ea typeface="Calibri" pitchFamily="34" charset="-122"/>
                <a:cs typeface="Calibri" pitchFamily="34" charset="-120"/>
              </a:rPr>
              <a:t>Programming Languages  ·  CSCI 2430</a:t>
            </a:r>
            <a:endParaRPr lang="en-US" sz="1500" dirty="0"/>
          </a:p>
        </p:txBody>
      </p:sp>
      <p:sp>
        <p:nvSpPr>
          <p:cNvPr id="10" name="Text 7"/>
          <p:cNvSpPr txBox="1"/>
          <p:nvPr/>
        </p:nvSpPr>
        <p:spPr>
          <a:xfrm>
            <a:off x="7955280" y="4389120"/>
            <a:ext cx="3870655" cy="365760"/>
          </a:xfrm>
          <a:prstGeom prst="rect">
            <a:avLst/>
          </a:prstGeom>
          <a:noFill/>
          <a:ln/>
        </p:spPr>
        <p:txBody>
          <a:bodyPr wrap="square" lIns="0" tIns="0" rIns="0" bIns="0" rtlCol="0" anchor="ctr"/>
          <a:lstStyle/>
          <a:p>
            <a:pPr algn="ctr" indent="0" marL="0">
              <a:buNone/>
            </a:pPr>
            <a:r>
              <a:rPr lang="en-US" sz="1400" dirty="0">
                <a:solidFill>
                  <a:srgbClr val="5B6470"/>
                </a:solidFill>
                <a:latin typeface="Calibri" pitchFamily="34" charset="0"/>
                <a:ea typeface="Calibri" pitchFamily="34" charset="-122"/>
                <a:cs typeface="Calibri" pitchFamily="34" charset="-120"/>
              </a:rPr>
              <a:t>Academic year 2026/27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PLAN FOR THE LAB</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What we do in these 90 minutes</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2</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548640" y="1508760"/>
            <a:ext cx="11094415" cy="512064"/>
          </a:xfrm>
          <a:prstGeom prst="roundRect">
            <a:avLst>
              <a:gd name="adj" fmla="val 14286"/>
            </a:avLst>
          </a:prstGeom>
          <a:solidFill>
            <a:srgbClr val="F3F4F6"/>
          </a:solidFill>
          <a:ln w="12700">
            <a:solidFill>
              <a:srgbClr val="F3F4F6"/>
            </a:solidFill>
            <a:prstDash val="solid"/>
          </a:ln>
        </p:spPr>
      </p:sp>
      <p:sp>
        <p:nvSpPr>
          <p:cNvPr id="9" name="Text 5"/>
          <p:cNvSpPr txBox="1"/>
          <p:nvPr/>
        </p:nvSpPr>
        <p:spPr>
          <a:xfrm>
            <a:off x="777240" y="1508760"/>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0:00 to 0:08</a:t>
            </a:r>
            <a:endParaRPr lang="en-US" sz="1400" dirty="0"/>
          </a:p>
        </p:txBody>
      </p:sp>
      <p:sp>
        <p:nvSpPr>
          <p:cNvPr id="10" name="Text 6"/>
          <p:cNvSpPr txBox="1"/>
          <p:nvPr/>
        </p:nvSpPr>
        <p:spPr>
          <a:xfrm>
            <a:off x="2560320" y="1508760"/>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How tests work</a:t>
            </a:r>
            <a:pPr indent="0" marL="0">
              <a:buNone/>
            </a:pPr>
            <a:r>
              <a:rPr lang="en-US" sz="1800" dirty="0">
                <a:solidFill>
                  <a:srgbClr val="5B6470"/>
                </a:solidFill>
                <a:latin typeface="Calibri" pitchFamily="34" charset="0"/>
                <a:ea typeface="Calibri" pitchFamily="34" charset="-122"/>
                <a:cs typeface="Calibri" pitchFamily="34" charset="-120"/>
              </a:rPr>
              <a:t>   read a test, run a test</a:t>
            </a:r>
            <a:endParaRPr lang="en-US" sz="1800" dirty="0"/>
          </a:p>
        </p:txBody>
      </p:sp>
      <p:sp>
        <p:nvSpPr>
          <p:cNvPr id="11" name="Shape 7"/>
          <p:cNvSpPr/>
          <p:nvPr/>
        </p:nvSpPr>
        <p:spPr>
          <a:xfrm>
            <a:off x="10408615" y="1609344"/>
            <a:ext cx="1005840" cy="310896"/>
          </a:xfrm>
          <a:prstGeom prst="roundRect">
            <a:avLst>
              <a:gd name="adj" fmla="val 50000"/>
            </a:avLst>
          </a:prstGeom>
          <a:solidFill>
            <a:srgbClr val="262B33"/>
          </a:solidFill>
          <a:ln w="12700">
            <a:solidFill>
              <a:srgbClr val="262B33"/>
            </a:solidFill>
            <a:prstDash val="solid"/>
          </a:ln>
        </p:spPr>
      </p:sp>
      <p:sp>
        <p:nvSpPr>
          <p:cNvPr id="12" name="Text 8"/>
          <p:cNvSpPr txBox="1"/>
          <p:nvPr/>
        </p:nvSpPr>
        <p:spPr>
          <a:xfrm>
            <a:off x="10408615" y="1609344"/>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 min</a:t>
            </a:r>
            <a:endParaRPr lang="en-US" sz="1200" dirty="0"/>
          </a:p>
        </p:txBody>
      </p:sp>
      <p:sp>
        <p:nvSpPr>
          <p:cNvPr id="13" name="Text 9"/>
          <p:cNvSpPr txBox="1"/>
          <p:nvPr/>
        </p:nvSpPr>
        <p:spPr>
          <a:xfrm>
            <a:off x="777240" y="2075688"/>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0:08 to 0:15</a:t>
            </a:r>
            <a:endParaRPr lang="en-US" sz="1400" dirty="0"/>
          </a:p>
        </p:txBody>
      </p:sp>
      <p:sp>
        <p:nvSpPr>
          <p:cNvPr id="14" name="Text 10"/>
          <p:cNvSpPr txBox="1"/>
          <p:nvPr/>
        </p:nvSpPr>
        <p:spPr>
          <a:xfrm>
            <a:off x="2560320" y="2075688"/>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Open the starter project</a:t>
            </a:r>
            <a:pPr indent="0" marL="0">
              <a:buNone/>
            </a:pPr>
            <a:r>
              <a:rPr lang="en-US" sz="1800" dirty="0">
                <a:solidFill>
                  <a:srgbClr val="5B6470"/>
                </a:solidFill>
                <a:latin typeface="Calibri" pitchFamily="34" charset="0"/>
                <a:ea typeface="Calibri" pitchFamily="34" charset="-122"/>
                <a:cs typeface="Calibri" pitchFamily="34" charset="-120"/>
              </a:rPr>
              <a:t>   Maven project week02, twelve red tests</a:t>
            </a:r>
            <a:endParaRPr lang="en-US" sz="1800" dirty="0"/>
          </a:p>
        </p:txBody>
      </p:sp>
      <p:sp>
        <p:nvSpPr>
          <p:cNvPr id="15" name="Shape 11"/>
          <p:cNvSpPr/>
          <p:nvPr/>
        </p:nvSpPr>
        <p:spPr>
          <a:xfrm>
            <a:off x="10408615" y="2176272"/>
            <a:ext cx="1005840" cy="310896"/>
          </a:xfrm>
          <a:prstGeom prst="roundRect">
            <a:avLst>
              <a:gd name="adj" fmla="val 50000"/>
            </a:avLst>
          </a:prstGeom>
          <a:solidFill>
            <a:srgbClr val="262B33"/>
          </a:solidFill>
          <a:ln w="12700">
            <a:solidFill>
              <a:srgbClr val="262B33"/>
            </a:solidFill>
            <a:prstDash val="solid"/>
          </a:ln>
        </p:spPr>
      </p:sp>
      <p:sp>
        <p:nvSpPr>
          <p:cNvPr id="16" name="Text 12"/>
          <p:cNvSpPr txBox="1"/>
          <p:nvPr/>
        </p:nvSpPr>
        <p:spPr>
          <a:xfrm>
            <a:off x="10408615" y="2176272"/>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 min</a:t>
            </a:r>
            <a:endParaRPr lang="en-US" sz="1200" dirty="0"/>
          </a:p>
        </p:txBody>
      </p:sp>
      <p:sp>
        <p:nvSpPr>
          <p:cNvPr id="17" name="Shape 13"/>
          <p:cNvSpPr/>
          <p:nvPr/>
        </p:nvSpPr>
        <p:spPr>
          <a:xfrm>
            <a:off x="548640" y="2642616"/>
            <a:ext cx="11094415" cy="512064"/>
          </a:xfrm>
          <a:prstGeom prst="roundRect">
            <a:avLst>
              <a:gd name="adj" fmla="val 14286"/>
            </a:avLst>
          </a:prstGeom>
          <a:solidFill>
            <a:srgbClr val="F3F4F6"/>
          </a:solidFill>
          <a:ln w="12700">
            <a:solidFill>
              <a:srgbClr val="F3F4F6"/>
            </a:solidFill>
            <a:prstDash val="solid"/>
          </a:ln>
        </p:spPr>
      </p:sp>
      <p:sp>
        <p:nvSpPr>
          <p:cNvPr id="18" name="Text 14"/>
          <p:cNvSpPr txBox="1"/>
          <p:nvPr/>
        </p:nvSpPr>
        <p:spPr>
          <a:xfrm>
            <a:off x="777240" y="2642616"/>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0:15 to 0:20</a:t>
            </a:r>
            <a:endParaRPr lang="en-US" sz="1400" dirty="0"/>
          </a:p>
        </p:txBody>
      </p:sp>
      <p:sp>
        <p:nvSpPr>
          <p:cNvPr id="19" name="Text 15"/>
          <p:cNvSpPr txBox="1"/>
          <p:nvPr/>
        </p:nvSpPr>
        <p:spPr>
          <a:xfrm>
            <a:off x="2560320" y="2642616"/>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1  Warm up</a:t>
            </a:r>
            <a:pPr indent="0" marL="0">
              <a:buNone/>
            </a:pPr>
            <a:r>
              <a:rPr lang="en-US" sz="1800" dirty="0">
                <a:solidFill>
                  <a:srgbClr val="5B6470"/>
                </a:solidFill>
                <a:latin typeface="Calibri" pitchFamily="34" charset="0"/>
                <a:ea typeface="Calibri" pitchFamily="34" charset="-122"/>
                <a:cs typeface="Calibri" pitchFamily="34" charset="-120"/>
              </a:rPr>
              <a:t>   isEven</a:t>
            </a:r>
            <a:endParaRPr lang="en-US" sz="1800" dirty="0"/>
          </a:p>
        </p:txBody>
      </p:sp>
      <p:sp>
        <p:nvSpPr>
          <p:cNvPr id="20" name="Shape 16"/>
          <p:cNvSpPr/>
          <p:nvPr/>
        </p:nvSpPr>
        <p:spPr>
          <a:xfrm>
            <a:off x="10408615" y="2743200"/>
            <a:ext cx="1005840" cy="310896"/>
          </a:xfrm>
          <a:prstGeom prst="roundRect">
            <a:avLst>
              <a:gd name="adj" fmla="val 50000"/>
            </a:avLst>
          </a:prstGeom>
          <a:solidFill>
            <a:srgbClr val="262B33"/>
          </a:solidFill>
          <a:ln w="12700">
            <a:solidFill>
              <a:srgbClr val="262B33"/>
            </a:solidFill>
            <a:prstDash val="solid"/>
          </a:ln>
        </p:spPr>
      </p:sp>
      <p:sp>
        <p:nvSpPr>
          <p:cNvPr id="21" name="Text 17"/>
          <p:cNvSpPr txBox="1"/>
          <p:nvPr/>
        </p:nvSpPr>
        <p:spPr>
          <a:xfrm>
            <a:off x="10408615" y="2743200"/>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min</a:t>
            </a:r>
            <a:endParaRPr lang="en-US" sz="1200" dirty="0"/>
          </a:p>
        </p:txBody>
      </p:sp>
      <p:sp>
        <p:nvSpPr>
          <p:cNvPr id="22" name="Text 18"/>
          <p:cNvSpPr txBox="1"/>
          <p:nvPr/>
        </p:nvSpPr>
        <p:spPr>
          <a:xfrm>
            <a:off x="777240" y="3209544"/>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0:20 to 0:40</a:t>
            </a:r>
            <a:endParaRPr lang="en-US" sz="1400" dirty="0"/>
          </a:p>
        </p:txBody>
      </p:sp>
      <p:sp>
        <p:nvSpPr>
          <p:cNvPr id="23" name="Text 19"/>
          <p:cNvSpPr txBox="1"/>
          <p:nvPr/>
        </p:nvSpPr>
        <p:spPr>
          <a:xfrm>
            <a:off x="2560320" y="3209544"/>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Tasks 2 to 5</a:t>
            </a:r>
            <a:pPr indent="0" marL="0">
              <a:buNone/>
            </a:pPr>
            <a:r>
              <a:rPr lang="en-US" sz="1800" dirty="0">
                <a:solidFill>
                  <a:srgbClr val="5B6470"/>
                </a:solidFill>
                <a:latin typeface="Calibri" pitchFamily="34" charset="0"/>
                <a:ea typeface="Calibri" pitchFamily="34" charset="-122"/>
                <a:cs typeface="Calibri" pitchFamily="34" charset="-120"/>
              </a:rPr>
              <a:t>   decisions and loops</a:t>
            </a:r>
            <a:endParaRPr lang="en-US" sz="1800" dirty="0"/>
          </a:p>
        </p:txBody>
      </p:sp>
      <p:sp>
        <p:nvSpPr>
          <p:cNvPr id="24" name="Shape 20"/>
          <p:cNvSpPr/>
          <p:nvPr/>
        </p:nvSpPr>
        <p:spPr>
          <a:xfrm>
            <a:off x="10408615" y="3310128"/>
            <a:ext cx="1005840" cy="310896"/>
          </a:xfrm>
          <a:prstGeom prst="roundRect">
            <a:avLst>
              <a:gd name="adj" fmla="val 50000"/>
            </a:avLst>
          </a:prstGeom>
          <a:solidFill>
            <a:srgbClr val="262B33"/>
          </a:solidFill>
          <a:ln w="12700">
            <a:solidFill>
              <a:srgbClr val="262B33"/>
            </a:solidFill>
            <a:prstDash val="solid"/>
          </a:ln>
        </p:spPr>
      </p:sp>
      <p:sp>
        <p:nvSpPr>
          <p:cNvPr id="25" name="Text 21"/>
          <p:cNvSpPr txBox="1"/>
          <p:nvPr/>
        </p:nvSpPr>
        <p:spPr>
          <a:xfrm>
            <a:off x="10408615" y="3310128"/>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 min</a:t>
            </a:r>
            <a:endParaRPr lang="en-US" sz="1200" dirty="0"/>
          </a:p>
        </p:txBody>
      </p:sp>
      <p:sp>
        <p:nvSpPr>
          <p:cNvPr id="26" name="Shape 22"/>
          <p:cNvSpPr/>
          <p:nvPr/>
        </p:nvSpPr>
        <p:spPr>
          <a:xfrm>
            <a:off x="548640" y="3776472"/>
            <a:ext cx="11094415" cy="512064"/>
          </a:xfrm>
          <a:prstGeom prst="roundRect">
            <a:avLst>
              <a:gd name="adj" fmla="val 14286"/>
            </a:avLst>
          </a:prstGeom>
          <a:solidFill>
            <a:srgbClr val="F3F4F6"/>
          </a:solidFill>
          <a:ln w="12700">
            <a:solidFill>
              <a:srgbClr val="F3F4F6"/>
            </a:solidFill>
            <a:prstDash val="solid"/>
          </a:ln>
        </p:spPr>
      </p:sp>
      <p:sp>
        <p:nvSpPr>
          <p:cNvPr id="27" name="Text 23"/>
          <p:cNvSpPr txBox="1"/>
          <p:nvPr/>
        </p:nvSpPr>
        <p:spPr>
          <a:xfrm>
            <a:off x="777240" y="3776472"/>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0:40 to 1:10</a:t>
            </a:r>
            <a:endParaRPr lang="en-US" sz="1400" dirty="0"/>
          </a:p>
        </p:txBody>
      </p:sp>
      <p:sp>
        <p:nvSpPr>
          <p:cNvPr id="28" name="Text 24"/>
          <p:cNvSpPr txBox="1"/>
          <p:nvPr/>
        </p:nvSpPr>
        <p:spPr>
          <a:xfrm>
            <a:off x="2560320" y="3776472"/>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Tasks 6 to 10</a:t>
            </a:r>
            <a:pPr indent="0" marL="0">
              <a:buNone/>
            </a:pPr>
            <a:r>
              <a:rPr lang="en-US" sz="1800" dirty="0">
                <a:solidFill>
                  <a:srgbClr val="5B6470"/>
                </a:solidFill>
                <a:latin typeface="Calibri" pitchFamily="34" charset="0"/>
                <a:ea typeface="Calibri" pitchFamily="34" charset="-122"/>
                <a:cs typeface="Calibri" pitchFamily="34" charset="-120"/>
              </a:rPr>
              <a:t>   arrays and text</a:t>
            </a:r>
            <a:endParaRPr lang="en-US" sz="1800" dirty="0"/>
          </a:p>
        </p:txBody>
      </p:sp>
      <p:sp>
        <p:nvSpPr>
          <p:cNvPr id="29" name="Shape 25"/>
          <p:cNvSpPr/>
          <p:nvPr/>
        </p:nvSpPr>
        <p:spPr>
          <a:xfrm>
            <a:off x="10408615" y="3877056"/>
            <a:ext cx="1005840" cy="310896"/>
          </a:xfrm>
          <a:prstGeom prst="roundRect">
            <a:avLst>
              <a:gd name="adj" fmla="val 50000"/>
            </a:avLst>
          </a:prstGeom>
          <a:solidFill>
            <a:srgbClr val="262B33"/>
          </a:solidFill>
          <a:ln w="12700">
            <a:solidFill>
              <a:srgbClr val="262B33"/>
            </a:solidFill>
            <a:prstDash val="solid"/>
          </a:ln>
        </p:spPr>
      </p:sp>
      <p:sp>
        <p:nvSpPr>
          <p:cNvPr id="30" name="Text 26"/>
          <p:cNvSpPr txBox="1"/>
          <p:nvPr/>
        </p:nvSpPr>
        <p:spPr>
          <a:xfrm>
            <a:off x="10408615" y="3877056"/>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30 min</a:t>
            </a:r>
            <a:endParaRPr lang="en-US" sz="1200" dirty="0"/>
          </a:p>
        </p:txBody>
      </p:sp>
      <p:sp>
        <p:nvSpPr>
          <p:cNvPr id="31" name="Text 27"/>
          <p:cNvSpPr txBox="1"/>
          <p:nvPr/>
        </p:nvSpPr>
        <p:spPr>
          <a:xfrm>
            <a:off x="777240" y="4343400"/>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1:10 to 1:23</a:t>
            </a:r>
            <a:endParaRPr lang="en-US" sz="1400" dirty="0"/>
          </a:p>
        </p:txBody>
      </p:sp>
      <p:sp>
        <p:nvSpPr>
          <p:cNvPr id="32" name="Text 28"/>
          <p:cNvSpPr txBox="1"/>
          <p:nvPr/>
        </p:nvSpPr>
        <p:spPr>
          <a:xfrm>
            <a:off x="2560320" y="4343400"/>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11  A program with keyboard input</a:t>
            </a:r>
            <a:pPr indent="0" marL="0">
              <a:buNone/>
            </a:pPr>
            <a:r>
              <a:rPr lang="en-US" sz="1800" dirty="0">
                <a:solidFill>
                  <a:srgbClr val="5B6470"/>
                </a:solidFill>
                <a:latin typeface="Calibri" pitchFamily="34" charset="0"/>
                <a:ea typeface="Calibri" pitchFamily="34" charset="-122"/>
                <a:cs typeface="Calibri" pitchFamily="34" charset="-120"/>
              </a:rPr>
              <a:t>   Scanner, array, one loop</a:t>
            </a:r>
            <a:endParaRPr lang="en-US" sz="1800" dirty="0"/>
          </a:p>
        </p:txBody>
      </p:sp>
      <p:sp>
        <p:nvSpPr>
          <p:cNvPr id="33" name="Shape 29"/>
          <p:cNvSpPr/>
          <p:nvPr/>
        </p:nvSpPr>
        <p:spPr>
          <a:xfrm>
            <a:off x="10408615" y="4443984"/>
            <a:ext cx="1005840" cy="310896"/>
          </a:xfrm>
          <a:prstGeom prst="roundRect">
            <a:avLst>
              <a:gd name="adj" fmla="val 50000"/>
            </a:avLst>
          </a:prstGeom>
          <a:solidFill>
            <a:srgbClr val="262B33"/>
          </a:solidFill>
          <a:ln w="12700">
            <a:solidFill>
              <a:srgbClr val="262B33"/>
            </a:solidFill>
            <a:prstDash val="solid"/>
          </a:ln>
        </p:spPr>
      </p:sp>
      <p:sp>
        <p:nvSpPr>
          <p:cNvPr id="34" name="Text 30"/>
          <p:cNvSpPr txBox="1"/>
          <p:nvPr/>
        </p:nvSpPr>
        <p:spPr>
          <a:xfrm>
            <a:off x="10408615" y="4443984"/>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 min</a:t>
            </a:r>
            <a:endParaRPr lang="en-US" sz="1200" dirty="0"/>
          </a:p>
        </p:txBody>
      </p:sp>
      <p:sp>
        <p:nvSpPr>
          <p:cNvPr id="35" name="Shape 31"/>
          <p:cNvSpPr/>
          <p:nvPr/>
        </p:nvSpPr>
        <p:spPr>
          <a:xfrm>
            <a:off x="548640" y="4910328"/>
            <a:ext cx="11094415" cy="512064"/>
          </a:xfrm>
          <a:prstGeom prst="roundRect">
            <a:avLst>
              <a:gd name="adj" fmla="val 14286"/>
            </a:avLst>
          </a:prstGeom>
          <a:solidFill>
            <a:srgbClr val="F3F4F6"/>
          </a:solidFill>
          <a:ln w="12700">
            <a:solidFill>
              <a:srgbClr val="F3F4F6"/>
            </a:solidFill>
            <a:prstDash val="solid"/>
          </a:ln>
        </p:spPr>
      </p:sp>
      <p:sp>
        <p:nvSpPr>
          <p:cNvPr id="36" name="Text 32"/>
          <p:cNvSpPr txBox="1"/>
          <p:nvPr/>
        </p:nvSpPr>
        <p:spPr>
          <a:xfrm>
            <a:off x="777240" y="4910328"/>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1:23 to 1:30</a:t>
            </a:r>
            <a:endParaRPr lang="en-US" sz="1400" dirty="0"/>
          </a:p>
        </p:txBody>
      </p:sp>
      <p:sp>
        <p:nvSpPr>
          <p:cNvPr id="37" name="Text 33"/>
          <p:cNvSpPr txBox="1"/>
          <p:nvPr/>
        </p:nvSpPr>
        <p:spPr>
          <a:xfrm>
            <a:off x="2560320" y="4910328"/>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Commit, push, wrap up</a:t>
            </a:r>
            <a:pPr indent="0" marL="0">
              <a:buNone/>
            </a:pPr>
            <a:r>
              <a:rPr lang="en-US" sz="1800" dirty="0">
                <a:solidFill>
                  <a:srgbClr val="5B6470"/>
                </a:solidFill>
                <a:latin typeface="Calibri" pitchFamily="34" charset="0"/>
                <a:ea typeface="Calibri" pitchFamily="34" charset="-122"/>
                <a:cs typeface="Calibri" pitchFamily="34" charset="-120"/>
              </a:rPr>
              <a:t>   two stretch tasks for fast students</a:t>
            </a:r>
            <a:endParaRPr lang="en-US" sz="1800" dirty="0"/>
          </a:p>
        </p:txBody>
      </p:sp>
      <p:sp>
        <p:nvSpPr>
          <p:cNvPr id="38" name="Shape 34"/>
          <p:cNvSpPr/>
          <p:nvPr/>
        </p:nvSpPr>
        <p:spPr>
          <a:xfrm>
            <a:off x="10408615" y="5010912"/>
            <a:ext cx="1005840" cy="310896"/>
          </a:xfrm>
          <a:prstGeom prst="roundRect">
            <a:avLst>
              <a:gd name="adj" fmla="val 50000"/>
            </a:avLst>
          </a:prstGeom>
          <a:solidFill>
            <a:srgbClr val="262B33"/>
          </a:solidFill>
          <a:ln w="12700">
            <a:solidFill>
              <a:srgbClr val="262B33"/>
            </a:solidFill>
            <a:prstDash val="solid"/>
          </a:ln>
        </p:spPr>
      </p:sp>
      <p:sp>
        <p:nvSpPr>
          <p:cNvPr id="39" name="Text 35"/>
          <p:cNvSpPr txBox="1"/>
          <p:nvPr/>
        </p:nvSpPr>
        <p:spPr>
          <a:xfrm>
            <a:off x="10408615" y="5010912"/>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62B33"/>
        </a:solidFill>
      </p:bgPr>
    </p:bg>
    <p:spTree>
      <p:nvGrpSpPr>
        <p:cNvPr id="1" name=""/>
        <p:cNvGrpSpPr/>
        <p:nvPr/>
      </p:nvGrpSpPr>
      <p:grpSpPr>
        <a:xfrm>
          <a:off x="0" y="0"/>
          <a:ext cx="0" cy="0"/>
          <a:chOff x="0" y="0"/>
          <a:chExt cx="0" cy="0"/>
        </a:xfrm>
      </p:grpSpPr>
      <p:sp>
        <p:nvSpPr>
          <p:cNvPr id="2" name="Text 0"/>
          <p:cNvSpPr txBox="1"/>
          <p:nvPr/>
        </p:nvSpPr>
        <p:spPr>
          <a:xfrm>
            <a:off x="731520" y="1371600"/>
            <a:ext cx="2743200" cy="1463040"/>
          </a:xfrm>
          <a:prstGeom prst="rect">
            <a:avLst/>
          </a:prstGeom>
          <a:noFill/>
          <a:ln/>
        </p:spPr>
        <p:txBody>
          <a:bodyPr wrap="square" lIns="0" tIns="0" rIns="0" bIns="0" rtlCol="0" anchor="ctr"/>
          <a:lstStyle/>
          <a:p>
            <a:pPr indent="0" marL="0">
              <a:buNone/>
            </a:pPr>
            <a:r>
              <a:rPr lang="en-US" sz="9600" b="1" dirty="0">
                <a:solidFill>
                  <a:srgbClr val="8A919C"/>
                </a:solidFill>
                <a:latin typeface="Calibri" pitchFamily="34" charset="0"/>
                <a:ea typeface="Calibri" pitchFamily="34" charset="-122"/>
                <a:cs typeface="Calibri" pitchFamily="34" charset="-120"/>
              </a:rPr>
              <a:t>01</a:t>
            </a:r>
            <a:endParaRPr lang="en-US" sz="9600" dirty="0"/>
          </a:p>
        </p:txBody>
      </p:sp>
      <p:sp>
        <p:nvSpPr>
          <p:cNvPr id="3" name="Text 1"/>
          <p:cNvSpPr txBox="1"/>
          <p:nvPr/>
        </p:nvSpPr>
        <p:spPr>
          <a:xfrm>
            <a:off x="731520" y="2880360"/>
            <a:ext cx="9601200" cy="118872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libri" pitchFamily="34" charset="0"/>
                <a:ea typeface="Calibri" pitchFamily="34" charset="-122"/>
                <a:cs typeface="Calibri" pitchFamily="34" charset="-120"/>
              </a:rPr>
              <a:t>How tests work</a:t>
            </a:r>
            <a:endParaRPr lang="en-US" sz="4000" dirty="0"/>
          </a:p>
        </p:txBody>
      </p:sp>
      <p:sp>
        <p:nvSpPr>
          <p:cNvPr id="4" name="Text 2"/>
          <p:cNvSpPr txBox="1"/>
          <p:nvPr/>
        </p:nvSpPr>
        <p:spPr>
          <a:xfrm>
            <a:off x="731520" y="4114800"/>
            <a:ext cx="8686800" cy="91440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A test is a small program that checks your program.</a:t>
            </a:r>
            <a:endParaRPr lang="en-US" sz="2000" dirty="0"/>
          </a:p>
        </p:txBody>
      </p:sp>
      <p:sp>
        <p:nvSpPr>
          <p:cNvPr id="5" name="Shape 3"/>
          <p:cNvSpPr/>
          <p:nvPr/>
        </p:nvSpPr>
        <p:spPr>
          <a:xfrm>
            <a:off x="731520" y="5257800"/>
            <a:ext cx="1737360" cy="384048"/>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731520" y="5257800"/>
            <a:ext cx="1737360" cy="384048"/>
          </a:xfrm>
          <a:prstGeom prst="rect">
            <a:avLst/>
          </a:prstGeom>
          <a:noFill/>
          <a:ln/>
        </p:spPr>
        <p:txBody>
          <a:bodyPr wrap="square" lIns="0" tIns="0" rIns="0" bIns="0" rtlCol="0" anchor="ctr"/>
          <a:lstStyle/>
          <a:p>
            <a:pPr algn="ctr" indent="0" marL="0">
              <a:buNone/>
            </a:pPr>
            <a:r>
              <a:rPr lang="en-US" sz="1300" b="1" dirty="0">
                <a:solidFill>
                  <a:srgbClr val="262B33"/>
                </a:solidFill>
                <a:latin typeface="Calibri" pitchFamily="34" charset="0"/>
                <a:ea typeface="Calibri" pitchFamily="34" charset="-122"/>
                <a:cs typeface="Calibri" pitchFamily="34" charset="-120"/>
              </a:rPr>
              <a:t>about 15 min</a:t>
            </a:r>
            <a:endParaRPr lang="en-US" sz="1300" dirty="0"/>
          </a:p>
        </p:txBody>
      </p:sp>
      <p:sp>
        <p:nvSpPr>
          <p:cNvPr id="7" name="Text 5"/>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CSCI 2430 Programming Languages  ·  Week 2  ·  Lab</a:t>
            </a:r>
            <a:endParaRPr lang="en-US" sz="1050" dirty="0"/>
          </a:p>
        </p:txBody>
      </p:sp>
      <p:sp>
        <p:nvSpPr>
          <p:cNvPr id="8" name="Text 6"/>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FFFFFF"/>
                </a:solidFill>
                <a:latin typeface="Calibri" pitchFamily="34" charset="0"/>
                <a:ea typeface="Calibri" pitchFamily="34" charset="-122"/>
                <a:cs typeface="Calibri" pitchFamily="34" charset="-120"/>
              </a:rPr>
              <a:t>3</a:t>
            </a:r>
            <a:endParaRPr lang="en-US" sz="1050" dirty="0"/>
          </a:p>
        </p:txBody>
      </p:sp>
      <p:pic>
        <p:nvPicPr>
          <p:cNvPr id="9" name="Image 0" descr="/home/claude/decks/assets/logo-white-small.png">    </p:cNvPr>
          <p:cNvPicPr>
            <a:picLocks noChangeAspect="1"/>
          </p:cNvPicPr>
          <p:nvPr/>
        </p:nvPicPr>
        <p:blipFill>
          <a:blip r:embed="rId1"/>
          <a:stretch>
            <a:fillRect/>
          </a:stretch>
        </p:blipFill>
        <p:spPr>
          <a:xfrm>
            <a:off x="10518343" y="6291172"/>
            <a:ext cx="1124712" cy="4113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READ A TEST</a:t>
            </a:r>
            <a:endParaRPr lang="en-US" sz="1200" dirty="0"/>
          </a:p>
        </p:txBody>
      </p:sp>
      <p:sp>
        <p:nvSpPr>
          <p:cNvPr id="3" name="Text 1"/>
          <p:cNvSpPr txBox="1"/>
          <p:nvPr/>
        </p:nvSpPr>
        <p:spPr>
          <a:xfrm>
            <a:off x="548640" y="640080"/>
            <a:ext cx="941832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The test says what your method must do</a:t>
            </a:r>
            <a:endParaRPr lang="en-US" sz="3200" dirty="0"/>
          </a:p>
        </p:txBody>
      </p:sp>
      <p:sp>
        <p:nvSpPr>
          <p:cNvPr id="4" name="Shape 2"/>
          <p:cNvSpPr/>
          <p:nvPr/>
        </p:nvSpPr>
        <p:spPr>
          <a:xfrm>
            <a:off x="10042855" y="411480"/>
            <a:ext cx="1600200" cy="310896"/>
          </a:xfrm>
          <a:prstGeom prst="roundRect">
            <a:avLst>
              <a:gd name="adj" fmla="val 50000"/>
            </a:avLst>
          </a:prstGeom>
          <a:solidFill>
            <a:srgbClr val="C6333B"/>
          </a:solidFill>
          <a:ln w="12700">
            <a:solidFill>
              <a:srgbClr val="C6333B"/>
            </a:solidFill>
            <a:prstDash val="solid"/>
          </a:ln>
        </p:spPr>
      </p:sp>
      <p:sp>
        <p:nvSpPr>
          <p:cNvPr id="5" name="Text 3"/>
          <p:cNvSpPr txBox="1"/>
          <p:nvPr/>
        </p:nvSpPr>
        <p:spPr>
          <a:xfrm>
            <a:off x="10042855" y="411480"/>
            <a:ext cx="1600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LAB NEEDS THIS</a:t>
            </a:r>
            <a:endParaRPr lang="en-US" sz="105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7" name="Text 5"/>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4</a:t>
            </a:r>
            <a:endParaRPr lang="en-US" sz="1050" dirty="0"/>
          </a:p>
        </p:txBody>
      </p:sp>
      <p:pic>
        <p:nvPicPr>
          <p:cNvPr id="8"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10" name="Shape 6"/>
          <p:cNvSpPr/>
          <p:nvPr/>
        </p:nvSpPr>
        <p:spPr>
          <a:xfrm>
            <a:off x="548640" y="1508760"/>
            <a:ext cx="11094415" cy="2834640"/>
          </a:xfrm>
          <a:prstGeom prst="roundRect">
            <a:avLst>
              <a:gd name="adj" fmla="val 3226"/>
            </a:avLst>
          </a:prstGeom>
          <a:solidFill>
            <a:srgbClr val="1B2029"/>
          </a:solidFill>
          <a:ln w="12700">
            <a:solidFill>
              <a:srgbClr val="1B2029"/>
            </a:solidFill>
            <a:prstDash val="solid"/>
          </a:ln>
        </p:spPr>
      </p:sp>
      <p:sp>
        <p:nvSpPr>
          <p:cNvPr id="11" name="Text 7"/>
          <p:cNvSpPr txBox="1"/>
          <p:nvPr/>
        </p:nvSpPr>
        <p:spPr>
          <a:xfrm>
            <a:off x="804672" y="1618488"/>
            <a:ext cx="1058235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ExercisesTest.java</a:t>
            </a:r>
            <a:endParaRPr lang="en-US" sz="1100" dirty="0"/>
          </a:p>
        </p:txBody>
      </p:sp>
      <p:sp>
        <p:nvSpPr>
          <p:cNvPr id="12" name="Text 8"/>
          <p:cNvSpPr txBox="1"/>
          <p:nvPr/>
        </p:nvSpPr>
        <p:spPr>
          <a:xfrm>
            <a:off x="804672" y="1965960"/>
            <a:ext cx="10582351" cy="2194560"/>
          </a:xfrm>
          <a:prstGeom prst="rect">
            <a:avLst/>
          </a:prstGeom>
          <a:noFill/>
          <a:ln/>
        </p:spPr>
        <p:txBody>
          <a:bodyPr wrap="none" lIns="0" tIns="0" rIns="0" bIns="0" rtlCol="0" anchor="t"/>
          <a:lstStyle/>
          <a:p>
            <a:pPr indent="0" marL="0">
              <a:lnSpc>
                <a:spcPct val="105000"/>
              </a:lnSpc>
              <a:buNone/>
            </a:pPr>
            <a:r>
              <a:rPr lang="en-US" sz="1700" dirty="0">
                <a:solidFill>
                  <a:srgbClr val="7FC8FF"/>
                </a:solidFill>
                <a:latin typeface="Consolas" pitchFamily="34" charset="0"/>
                <a:ea typeface="Consolas" pitchFamily="34" charset="-122"/>
                <a:cs typeface="Consolas" pitchFamily="34" charset="-120"/>
              </a:rPr>
              <a:t>@Test</a:t>
            </a:r>
            <a:endParaRPr lang="en-US" sz="1700" dirty="0"/>
          </a:p>
          <a:p>
            <a:pPr indent="0" marL="0">
              <a:lnSpc>
                <a:spcPct val="105000"/>
              </a:lnSpc>
              <a:buNone/>
            </a:pPr>
            <a:r>
              <a:rPr lang="en-US" sz="1700" dirty="0">
                <a:solidFill>
                  <a:srgbClr val="FF8A93"/>
                </a:solidFill>
                <a:latin typeface="Consolas" pitchFamily="34" charset="0"/>
                <a:ea typeface="Consolas" pitchFamily="34" charset="-122"/>
                <a:cs typeface="Consolas" pitchFamily="34" charset="-120"/>
              </a:rPr>
              <a:t>void</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task04_sumTo() {</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assertEquals(</a:t>
            </a:r>
            <a:pPr indent="0" marL="0">
              <a:lnSpc>
                <a:spcPct val="105000"/>
              </a:lnSpc>
              <a:buNone/>
            </a:pPr>
            <a:r>
              <a:rPr lang="en-US" sz="1700" dirty="0">
                <a:solidFill>
                  <a:srgbClr val="F2CC60"/>
                </a:solidFill>
                <a:latin typeface="Consolas" pitchFamily="34" charset="0"/>
                <a:ea typeface="Consolas" pitchFamily="34" charset="-122"/>
                <a:cs typeface="Consolas" pitchFamily="34" charset="-120"/>
              </a:rPr>
              <a:t>15</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Exercises.sumTo(</a:t>
            </a:r>
            <a:pPr indent="0" marL="0">
              <a:lnSpc>
                <a:spcPct val="105000"/>
              </a:lnSpc>
              <a:buNone/>
            </a:pPr>
            <a:r>
              <a:rPr lang="en-US" sz="1700" dirty="0">
                <a:solidFill>
                  <a:srgbClr val="F2CC60"/>
                </a:solidFill>
                <a:latin typeface="Consolas" pitchFamily="34" charset="0"/>
                <a:ea typeface="Consolas" pitchFamily="34" charset="-122"/>
                <a:cs typeface="Consolas" pitchFamily="34" charset="-120"/>
              </a:rPr>
              <a:t>5</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assertEquals(</a:t>
            </a:r>
            <a:pPr indent="0" marL="0">
              <a:lnSpc>
                <a:spcPct val="105000"/>
              </a:lnSpc>
              <a:buNone/>
            </a:pPr>
            <a:r>
              <a:rPr lang="en-US" sz="1700" dirty="0">
                <a:solidFill>
                  <a:srgbClr val="F2CC60"/>
                </a:solidFill>
                <a:latin typeface="Consolas" pitchFamily="34" charset="0"/>
                <a:ea typeface="Consolas" pitchFamily="34" charset="-122"/>
                <a:cs typeface="Consolas" pitchFamily="34" charset="-120"/>
              </a:rPr>
              <a:t>1</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Exercises.sumTo(</a:t>
            </a:r>
            <a:pPr indent="0" marL="0">
              <a:lnSpc>
                <a:spcPct val="105000"/>
              </a:lnSpc>
              <a:buNone/>
            </a:pPr>
            <a:r>
              <a:rPr lang="en-US" sz="1700" dirty="0">
                <a:solidFill>
                  <a:srgbClr val="F2CC60"/>
                </a:solidFill>
                <a:latin typeface="Consolas" pitchFamily="34" charset="0"/>
                <a:ea typeface="Consolas" pitchFamily="34" charset="-122"/>
                <a:cs typeface="Consolas" pitchFamily="34" charset="-120"/>
              </a:rPr>
              <a:t>1</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assertEquals(</a:t>
            </a:r>
            <a:pPr indent="0" marL="0">
              <a:lnSpc>
                <a:spcPct val="105000"/>
              </a:lnSpc>
              <a:buNone/>
            </a:pPr>
            <a:r>
              <a:rPr lang="en-US" sz="1700" dirty="0">
                <a:solidFill>
                  <a:srgbClr val="F2CC60"/>
                </a:solidFill>
                <a:latin typeface="Consolas" pitchFamily="34" charset="0"/>
                <a:ea typeface="Consolas" pitchFamily="34" charset="-122"/>
                <a:cs typeface="Consolas" pitchFamily="34" charset="-120"/>
              </a:rPr>
              <a:t>5050</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Exercises.sumTo(</a:t>
            </a:r>
            <a:pPr indent="0" marL="0">
              <a:lnSpc>
                <a:spcPct val="105000"/>
              </a:lnSpc>
              <a:buNone/>
            </a:pPr>
            <a:r>
              <a:rPr lang="en-US" sz="1700" dirty="0">
                <a:solidFill>
                  <a:srgbClr val="F2CC60"/>
                </a:solidFill>
                <a:latin typeface="Consolas" pitchFamily="34" charset="0"/>
                <a:ea typeface="Consolas" pitchFamily="34" charset="-122"/>
                <a:cs typeface="Consolas" pitchFamily="34" charset="-120"/>
              </a:rPr>
              <a:t>100</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assertEquals(</a:t>
            </a:r>
            <a:pPr indent="0" marL="0">
              <a:lnSpc>
                <a:spcPct val="105000"/>
              </a:lnSpc>
              <a:buNone/>
            </a:pPr>
            <a:r>
              <a:rPr lang="en-US" sz="1700" dirty="0">
                <a:solidFill>
                  <a:srgbClr val="F2CC60"/>
                </a:solidFill>
                <a:latin typeface="Consolas" pitchFamily="34" charset="0"/>
                <a:ea typeface="Consolas" pitchFamily="34" charset="-122"/>
                <a:cs typeface="Consolas" pitchFamily="34" charset="-120"/>
              </a:rPr>
              <a:t>0</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Exercises.sumTo(</a:t>
            </a:r>
            <a:pPr indent="0" marL="0">
              <a:lnSpc>
                <a:spcPct val="105000"/>
              </a:lnSpc>
              <a:buNone/>
            </a:pPr>
            <a:r>
              <a:rPr lang="en-US" sz="1700" dirty="0">
                <a:solidFill>
                  <a:srgbClr val="F2CC60"/>
                </a:solidFill>
                <a:latin typeface="Consolas" pitchFamily="34" charset="0"/>
                <a:ea typeface="Consolas" pitchFamily="34" charset="-122"/>
                <a:cs typeface="Consolas" pitchFamily="34" charset="-120"/>
              </a:rPr>
              <a:t>0</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assertEquals(</a:t>
            </a:r>
            <a:pPr indent="0" marL="0">
              <a:lnSpc>
                <a:spcPct val="105000"/>
              </a:lnSpc>
              <a:buNone/>
            </a:pPr>
            <a:r>
              <a:rPr lang="en-US" sz="1700" dirty="0">
                <a:solidFill>
                  <a:srgbClr val="F2CC60"/>
                </a:solidFill>
                <a:latin typeface="Consolas" pitchFamily="34" charset="0"/>
                <a:ea typeface="Consolas" pitchFamily="34" charset="-122"/>
                <a:cs typeface="Consolas" pitchFamily="34" charset="-120"/>
              </a:rPr>
              <a:t>0</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Exercises.sumTo(-</a:t>
            </a:r>
            <a:pPr indent="0" marL="0">
              <a:lnSpc>
                <a:spcPct val="105000"/>
              </a:lnSpc>
              <a:buNone/>
            </a:pPr>
            <a:r>
              <a:rPr lang="en-US" sz="1700" dirty="0">
                <a:solidFill>
                  <a:srgbClr val="F2CC60"/>
                </a:solidFill>
                <a:latin typeface="Consolas" pitchFamily="34" charset="0"/>
                <a:ea typeface="Consolas" pitchFamily="34" charset="-122"/>
                <a:cs typeface="Consolas" pitchFamily="34" charset="-120"/>
              </a:rPr>
              <a:t>4</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a:t>
            </a:r>
            <a:endParaRPr lang="en-US" sz="1700" dirty="0"/>
          </a:p>
        </p:txBody>
      </p:sp>
      <p:sp>
        <p:nvSpPr>
          <p:cNvPr id="13" name="Shape 9"/>
          <p:cNvSpPr/>
          <p:nvPr/>
        </p:nvSpPr>
        <p:spPr>
          <a:xfrm>
            <a:off x="548640" y="4526280"/>
            <a:ext cx="3576218" cy="1428750"/>
          </a:xfrm>
          <a:prstGeom prst="roundRect">
            <a:avLst>
              <a:gd name="adj" fmla="val 5120"/>
            </a:avLst>
          </a:prstGeom>
          <a:solidFill>
            <a:srgbClr val="F3F4F6"/>
          </a:solidFill>
          <a:ln w="12700">
            <a:solidFill>
              <a:srgbClr val="F3F4F6"/>
            </a:solidFill>
            <a:prstDash val="solid"/>
          </a:ln>
        </p:spPr>
      </p:sp>
      <p:sp>
        <p:nvSpPr>
          <p:cNvPr id="14" name="Text 10"/>
          <p:cNvSpPr txBox="1"/>
          <p:nvPr/>
        </p:nvSpPr>
        <p:spPr>
          <a:xfrm>
            <a:off x="777240" y="4645152"/>
            <a:ext cx="3119018" cy="1245870"/>
          </a:xfrm>
          <a:prstGeom prst="rect">
            <a:avLst/>
          </a:prstGeom>
          <a:noFill/>
          <a:ln/>
        </p:spPr>
        <p:txBody>
          <a:bodyPr wrap="square" lIns="0" tIns="0" rIns="0" bIns="0" rtlCol="0" anchor="t"/>
          <a:lstStyle/>
          <a:p>
            <a:pPr indent="0" marL="0">
              <a:buNone/>
            </a:pPr>
            <a:r>
              <a:rPr lang="en-US" sz="1800" b="1" dirty="0">
                <a:solidFill>
                  <a:srgbClr val="9C2630"/>
                </a:solidFill>
                <a:latin typeface="Calibri" pitchFamily="34" charset="0"/>
                <a:ea typeface="Calibri" pitchFamily="34" charset="-122"/>
                <a:cs typeface="Calibri" pitchFamily="34" charset="-120"/>
              </a:rPr>
              <a:t>@Test</a:t>
            </a:r>
            <a:endParaRPr lang="en-US" sz="1800" dirty="0"/>
          </a:p>
          <a:p>
            <a:pPr indent="0" marL="0">
              <a:buNone/>
            </a:pPr>
            <a:r>
              <a:rPr lang="en-US" sz="1600" dirty="0">
                <a:solidFill>
                  <a:srgbClr val="1F2328"/>
                </a:solidFill>
                <a:latin typeface="Calibri" pitchFamily="34" charset="0"/>
                <a:ea typeface="Calibri" pitchFamily="34" charset="-122"/>
                <a:cs typeface="Calibri" pitchFamily="34" charset="-120"/>
              </a:rPr>
              <a:t>Marks a method as a test. IntelliJ shows a green arrow next to it.</a:t>
            </a:r>
            <a:endParaRPr lang="en-US" sz="1800" dirty="0"/>
          </a:p>
        </p:txBody>
      </p:sp>
      <p:sp>
        <p:nvSpPr>
          <p:cNvPr id="15" name="Shape 11"/>
          <p:cNvSpPr/>
          <p:nvPr/>
        </p:nvSpPr>
        <p:spPr>
          <a:xfrm>
            <a:off x="4307738" y="4526280"/>
            <a:ext cx="3576218" cy="1428750"/>
          </a:xfrm>
          <a:prstGeom prst="roundRect">
            <a:avLst>
              <a:gd name="adj" fmla="val 5120"/>
            </a:avLst>
          </a:prstGeom>
          <a:solidFill>
            <a:srgbClr val="F3F4F6"/>
          </a:solidFill>
          <a:ln w="12700">
            <a:solidFill>
              <a:srgbClr val="F3F4F6"/>
            </a:solidFill>
            <a:prstDash val="solid"/>
          </a:ln>
        </p:spPr>
      </p:sp>
      <p:sp>
        <p:nvSpPr>
          <p:cNvPr id="16" name="Text 12"/>
          <p:cNvSpPr txBox="1"/>
          <p:nvPr/>
        </p:nvSpPr>
        <p:spPr>
          <a:xfrm>
            <a:off x="4536338" y="4645152"/>
            <a:ext cx="3119018" cy="1245870"/>
          </a:xfrm>
          <a:prstGeom prst="rect">
            <a:avLst/>
          </a:prstGeom>
          <a:noFill/>
          <a:ln/>
        </p:spPr>
        <p:txBody>
          <a:bodyPr wrap="square" lIns="0" tIns="0" rIns="0" bIns="0" rtlCol="0" anchor="t"/>
          <a:lstStyle/>
          <a:p>
            <a:pPr indent="0" marL="0">
              <a:buNone/>
            </a:pPr>
            <a:r>
              <a:rPr lang="en-US" sz="1800" b="1" dirty="0">
                <a:solidFill>
                  <a:srgbClr val="9C2630"/>
                </a:solidFill>
                <a:latin typeface="Calibri" pitchFamily="34" charset="0"/>
                <a:ea typeface="Calibri" pitchFamily="34" charset="-122"/>
                <a:cs typeface="Calibri" pitchFamily="34" charset="-120"/>
              </a:rPr>
              <a:t>assertEquals(expected, actual)</a:t>
            </a:r>
            <a:endParaRPr lang="en-US" sz="1800" dirty="0"/>
          </a:p>
          <a:p>
            <a:pPr indent="0" marL="0">
              <a:buNone/>
            </a:pPr>
            <a:r>
              <a:rPr lang="en-US" sz="1600" dirty="0">
                <a:solidFill>
                  <a:srgbClr val="1F2328"/>
                </a:solidFill>
                <a:latin typeface="Calibri" pitchFamily="34" charset="0"/>
                <a:ea typeface="Calibri" pitchFamily="34" charset="-122"/>
                <a:cs typeface="Calibri" pitchFamily="34" charset="-120"/>
              </a:rPr>
              <a:t>Passes when both values are equal. If not, the test turns red and shows both values.</a:t>
            </a:r>
            <a:endParaRPr lang="en-US" sz="1800" dirty="0"/>
          </a:p>
        </p:txBody>
      </p:sp>
      <p:sp>
        <p:nvSpPr>
          <p:cNvPr id="17" name="Shape 13"/>
          <p:cNvSpPr/>
          <p:nvPr/>
        </p:nvSpPr>
        <p:spPr>
          <a:xfrm>
            <a:off x="8066837" y="4526280"/>
            <a:ext cx="3576218" cy="1428750"/>
          </a:xfrm>
          <a:prstGeom prst="roundRect">
            <a:avLst>
              <a:gd name="adj" fmla="val 5120"/>
            </a:avLst>
          </a:prstGeom>
          <a:solidFill>
            <a:srgbClr val="F3F4F6"/>
          </a:solidFill>
          <a:ln w="12700">
            <a:solidFill>
              <a:srgbClr val="F3F4F6"/>
            </a:solidFill>
            <a:prstDash val="solid"/>
          </a:ln>
        </p:spPr>
      </p:sp>
      <p:sp>
        <p:nvSpPr>
          <p:cNvPr id="18" name="Text 14"/>
          <p:cNvSpPr txBox="1"/>
          <p:nvPr/>
        </p:nvSpPr>
        <p:spPr>
          <a:xfrm>
            <a:off x="8295437" y="4645152"/>
            <a:ext cx="3119018" cy="1245870"/>
          </a:xfrm>
          <a:prstGeom prst="rect">
            <a:avLst/>
          </a:prstGeom>
          <a:noFill/>
          <a:ln/>
        </p:spPr>
        <p:txBody>
          <a:bodyPr wrap="square" lIns="0" tIns="0" rIns="0" bIns="0" rtlCol="0" anchor="t"/>
          <a:lstStyle/>
          <a:p>
            <a:pPr indent="0" marL="0">
              <a:buNone/>
            </a:pPr>
            <a:r>
              <a:rPr lang="en-US" sz="1800" b="1" dirty="0">
                <a:solidFill>
                  <a:srgbClr val="9C2630"/>
                </a:solidFill>
                <a:latin typeface="Calibri" pitchFamily="34" charset="0"/>
                <a:ea typeface="Calibri" pitchFamily="34" charset="-122"/>
                <a:cs typeface="Calibri" pitchFamily="34" charset="-120"/>
              </a:rPr>
              <a:t>Read the edge cases</a:t>
            </a:r>
            <a:endParaRPr lang="en-US" sz="1800" dirty="0"/>
          </a:p>
          <a:p>
            <a:pPr indent="0" marL="0">
              <a:buNone/>
            </a:pPr>
            <a:r>
              <a:rPr lang="en-US" sz="1600" dirty="0">
                <a:solidFill>
                  <a:srgbClr val="1F2328"/>
                </a:solidFill>
                <a:latin typeface="Calibri" pitchFamily="34" charset="0"/>
                <a:ea typeface="Calibri" pitchFamily="34" charset="-122"/>
                <a:cs typeface="Calibri" pitchFamily="34" charset="-120"/>
              </a:rPr>
              <a:t>sumTo(0) and sumTo(-4) must give 0. The test tells you that, the task text may not.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SETUP</a:t>
            </a:r>
            <a:endParaRPr lang="en-US" sz="1200" dirty="0"/>
          </a:p>
        </p:txBody>
      </p:sp>
      <p:sp>
        <p:nvSpPr>
          <p:cNvPr id="3" name="Text 1"/>
          <p:cNvSpPr txBox="1"/>
          <p:nvPr/>
        </p:nvSpPr>
        <p:spPr>
          <a:xfrm>
            <a:off x="548640" y="640080"/>
            <a:ext cx="941832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Open the starter project and see red</a:t>
            </a:r>
            <a:endParaRPr lang="en-US" sz="3200" dirty="0"/>
          </a:p>
        </p:txBody>
      </p:sp>
      <p:sp>
        <p:nvSpPr>
          <p:cNvPr id="4" name="Shape 2"/>
          <p:cNvSpPr/>
          <p:nvPr/>
        </p:nvSpPr>
        <p:spPr>
          <a:xfrm>
            <a:off x="10042855" y="411480"/>
            <a:ext cx="1600200" cy="310896"/>
          </a:xfrm>
          <a:prstGeom prst="roundRect">
            <a:avLst>
              <a:gd name="adj" fmla="val 50000"/>
            </a:avLst>
          </a:prstGeom>
          <a:solidFill>
            <a:srgbClr val="C6333B"/>
          </a:solidFill>
          <a:ln w="12700">
            <a:solidFill>
              <a:srgbClr val="C6333B"/>
            </a:solidFill>
            <a:prstDash val="solid"/>
          </a:ln>
        </p:spPr>
      </p:sp>
      <p:sp>
        <p:nvSpPr>
          <p:cNvPr id="5" name="Text 3"/>
          <p:cNvSpPr txBox="1"/>
          <p:nvPr/>
        </p:nvSpPr>
        <p:spPr>
          <a:xfrm>
            <a:off x="10042855" y="411480"/>
            <a:ext cx="1600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LAB NEEDS THIS</a:t>
            </a:r>
            <a:endParaRPr lang="en-US" sz="105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7" name="Text 5"/>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5</a:t>
            </a:r>
            <a:endParaRPr lang="en-US" sz="1050" dirty="0"/>
          </a:p>
        </p:txBody>
      </p:sp>
      <p:pic>
        <p:nvPicPr>
          <p:cNvPr id="8"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10" name="Shape 6"/>
          <p:cNvSpPr/>
          <p:nvPr/>
        </p:nvSpPr>
        <p:spPr>
          <a:xfrm>
            <a:off x="548640" y="1508760"/>
            <a:ext cx="566928" cy="365760"/>
          </a:xfrm>
          <a:prstGeom prst="roundRect">
            <a:avLst>
              <a:gd name="adj" fmla="val 20000"/>
            </a:avLst>
          </a:prstGeom>
          <a:solidFill>
            <a:srgbClr val="262B33"/>
          </a:solidFill>
          <a:ln w="12700">
            <a:solidFill>
              <a:srgbClr val="262B33"/>
            </a:solidFill>
            <a:prstDash val="solid"/>
          </a:ln>
        </p:spPr>
      </p:sp>
      <p:sp>
        <p:nvSpPr>
          <p:cNvPr id="11" name="Text 7"/>
          <p:cNvSpPr txBox="1"/>
          <p:nvPr/>
        </p:nvSpPr>
        <p:spPr>
          <a:xfrm>
            <a:off x="548640" y="1508760"/>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8"/>
          <p:cNvSpPr txBox="1"/>
          <p:nvPr/>
        </p:nvSpPr>
        <p:spPr>
          <a:xfrm>
            <a:off x="1325880" y="1508760"/>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Copy the folder week02 from the starter into your repository folder</a:t>
            </a:r>
            <a:endParaRPr lang="en-US" sz="1750" dirty="0"/>
          </a:p>
        </p:txBody>
      </p:sp>
      <p:sp>
        <p:nvSpPr>
          <p:cNvPr id="13" name="Text 9"/>
          <p:cNvSpPr txBox="1"/>
          <p:nvPr/>
        </p:nvSpPr>
        <p:spPr>
          <a:xfrm>
            <a:off x="1325880" y="1892808"/>
            <a:ext cx="6080760" cy="27279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Your repository now has week01 and week02.</a:t>
            </a:r>
            <a:endParaRPr lang="en-US" sz="1550" dirty="0"/>
          </a:p>
        </p:txBody>
      </p:sp>
      <p:sp>
        <p:nvSpPr>
          <p:cNvPr id="14" name="Shape 10"/>
          <p:cNvSpPr/>
          <p:nvPr/>
        </p:nvSpPr>
        <p:spPr>
          <a:xfrm>
            <a:off x="548640" y="2540508"/>
            <a:ext cx="566928" cy="365760"/>
          </a:xfrm>
          <a:prstGeom prst="roundRect">
            <a:avLst>
              <a:gd name="adj" fmla="val 20000"/>
            </a:avLst>
          </a:prstGeom>
          <a:solidFill>
            <a:srgbClr val="262B33"/>
          </a:solidFill>
          <a:ln w="12700">
            <a:solidFill>
              <a:srgbClr val="262B33"/>
            </a:solidFill>
            <a:prstDash val="solid"/>
          </a:ln>
        </p:spPr>
      </p:sp>
      <p:sp>
        <p:nvSpPr>
          <p:cNvPr id="15" name="Text 11"/>
          <p:cNvSpPr txBox="1"/>
          <p:nvPr/>
        </p:nvSpPr>
        <p:spPr>
          <a:xfrm>
            <a:off x="548640" y="2540508"/>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2"/>
          <p:cNvSpPr txBox="1"/>
          <p:nvPr/>
        </p:nvSpPr>
        <p:spPr>
          <a:xfrm>
            <a:off x="1325880" y="2540508"/>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In IntelliJ IDEA: File, Open, choose the folder week02</a:t>
            </a:r>
            <a:endParaRPr lang="en-US" sz="1750" dirty="0"/>
          </a:p>
        </p:txBody>
      </p:sp>
      <p:sp>
        <p:nvSpPr>
          <p:cNvPr id="17" name="Text 13"/>
          <p:cNvSpPr txBox="1"/>
          <p:nvPr/>
        </p:nvSpPr>
        <p:spPr>
          <a:xfrm>
            <a:off x="1325880" y="2924556"/>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It contains the file pom.xml. IntelliJ reads it, sets up the project and downloads JUnit.</a:t>
            </a:r>
            <a:endParaRPr lang="en-US" sz="1550" dirty="0"/>
          </a:p>
        </p:txBody>
      </p:sp>
      <p:sp>
        <p:nvSpPr>
          <p:cNvPr id="18" name="Shape 14"/>
          <p:cNvSpPr/>
          <p:nvPr/>
        </p:nvSpPr>
        <p:spPr>
          <a:xfrm>
            <a:off x="548640" y="3808476"/>
            <a:ext cx="566928" cy="365760"/>
          </a:xfrm>
          <a:prstGeom prst="roundRect">
            <a:avLst>
              <a:gd name="adj" fmla="val 20000"/>
            </a:avLst>
          </a:prstGeom>
          <a:solidFill>
            <a:srgbClr val="262B33"/>
          </a:solidFill>
          <a:ln w="12700">
            <a:solidFill>
              <a:srgbClr val="262B33"/>
            </a:solidFill>
            <a:prstDash val="solid"/>
          </a:ln>
        </p:spPr>
      </p:sp>
      <p:sp>
        <p:nvSpPr>
          <p:cNvPr id="19" name="Text 15"/>
          <p:cNvSpPr txBox="1"/>
          <p:nvPr/>
        </p:nvSpPr>
        <p:spPr>
          <a:xfrm>
            <a:off x="548640" y="3808476"/>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6"/>
          <p:cNvSpPr txBox="1"/>
          <p:nvPr/>
        </p:nvSpPr>
        <p:spPr>
          <a:xfrm>
            <a:off x="1325880" y="3808476"/>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Open src/test/java/ExercisesTest, right click, Run</a:t>
            </a:r>
            <a:endParaRPr lang="en-US" sz="1750" dirty="0"/>
          </a:p>
        </p:txBody>
      </p:sp>
      <p:sp>
        <p:nvSpPr>
          <p:cNvPr id="21" name="Text 17"/>
          <p:cNvSpPr txBox="1"/>
          <p:nvPr/>
        </p:nvSpPr>
        <p:spPr>
          <a:xfrm>
            <a:off x="1325880" y="4192524"/>
            <a:ext cx="6080760" cy="27279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All twelve tests are red. That is correct. Nothing is solved yet.</a:t>
            </a:r>
            <a:endParaRPr lang="en-US" sz="1550" dirty="0"/>
          </a:p>
        </p:txBody>
      </p:sp>
      <p:sp>
        <p:nvSpPr>
          <p:cNvPr id="22" name="Shape 18"/>
          <p:cNvSpPr/>
          <p:nvPr/>
        </p:nvSpPr>
        <p:spPr>
          <a:xfrm>
            <a:off x="548640" y="4840224"/>
            <a:ext cx="566928" cy="365760"/>
          </a:xfrm>
          <a:prstGeom prst="roundRect">
            <a:avLst>
              <a:gd name="adj" fmla="val 20000"/>
            </a:avLst>
          </a:prstGeom>
          <a:solidFill>
            <a:srgbClr val="262B33"/>
          </a:solidFill>
          <a:ln w="12700">
            <a:solidFill>
              <a:srgbClr val="262B33"/>
            </a:solidFill>
            <a:prstDash val="solid"/>
          </a:ln>
        </p:spPr>
      </p:sp>
      <p:sp>
        <p:nvSpPr>
          <p:cNvPr id="23" name="Text 19"/>
          <p:cNvSpPr txBox="1"/>
          <p:nvPr/>
        </p:nvSpPr>
        <p:spPr>
          <a:xfrm>
            <a:off x="548640" y="4840224"/>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0"/>
          <p:cNvSpPr txBox="1"/>
          <p:nvPr/>
        </p:nvSpPr>
        <p:spPr>
          <a:xfrm>
            <a:off x="1325880" y="4840224"/>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Click one red test and read the message</a:t>
            </a:r>
            <a:endParaRPr lang="en-US" sz="1750" dirty="0"/>
          </a:p>
        </p:txBody>
      </p:sp>
      <p:sp>
        <p:nvSpPr>
          <p:cNvPr id="25" name="Text 21"/>
          <p:cNvSpPr txBox="1"/>
          <p:nvPr/>
        </p:nvSpPr>
        <p:spPr>
          <a:xfrm>
            <a:off x="1325880" y="5224272"/>
            <a:ext cx="6080760" cy="27279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It shows what was expected and what your method returned.</a:t>
            </a:r>
            <a:endParaRPr lang="en-US" sz="1550" dirty="0"/>
          </a:p>
        </p:txBody>
      </p:sp>
      <p:sp>
        <p:nvSpPr>
          <p:cNvPr id="26" name="Shape 22"/>
          <p:cNvSpPr/>
          <p:nvPr/>
        </p:nvSpPr>
        <p:spPr>
          <a:xfrm>
            <a:off x="7863840" y="1490472"/>
            <a:ext cx="3779215" cy="3566160"/>
          </a:xfrm>
          <a:prstGeom prst="roundRect">
            <a:avLst>
              <a:gd name="adj" fmla="val 3077"/>
            </a:avLst>
          </a:prstGeom>
          <a:solidFill>
            <a:srgbClr val="FBECED"/>
          </a:solidFill>
          <a:ln w="12700">
            <a:solidFill>
              <a:srgbClr val="FBECED"/>
            </a:solidFill>
            <a:prstDash val="solid"/>
          </a:ln>
        </p:spPr>
      </p:sp>
      <p:sp>
        <p:nvSpPr>
          <p:cNvPr id="27" name="Shape 23"/>
          <p:cNvSpPr/>
          <p:nvPr/>
        </p:nvSpPr>
        <p:spPr>
          <a:xfrm>
            <a:off x="8138160" y="1764792"/>
            <a:ext cx="502920" cy="502920"/>
          </a:xfrm>
          <a:prstGeom prst="ellipse">
            <a:avLst/>
          </a:prstGeom>
          <a:solidFill>
            <a:srgbClr val="C6333B"/>
          </a:solidFill>
          <a:ln w="12700">
            <a:solidFill>
              <a:srgbClr val="C6333B"/>
            </a:solidFill>
            <a:prstDash val="solid"/>
          </a:ln>
        </p:spPr>
      </p:sp>
      <p:sp>
        <p:nvSpPr>
          <p:cNvPr id="28" name="Text 24"/>
          <p:cNvSpPr txBox="1"/>
          <p:nvPr/>
        </p:nvSpPr>
        <p:spPr>
          <a:xfrm>
            <a:off x="8778240" y="1764792"/>
            <a:ext cx="259049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What is pom.xml?</a:t>
            </a:r>
            <a:endParaRPr lang="en-US" sz="1700" dirty="0"/>
          </a:p>
        </p:txBody>
      </p:sp>
      <p:sp>
        <p:nvSpPr>
          <p:cNvPr id="29" name="Text 25"/>
          <p:cNvSpPr txBox="1"/>
          <p:nvPr/>
        </p:nvSpPr>
        <p:spPr>
          <a:xfrm>
            <a:off x="8138160" y="2450592"/>
            <a:ext cx="3230575" cy="233172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The project description for Maven, a build tool.</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It says: this is Java 25, and the tests need the JUnit library.</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You do not edit it in this course.</a:t>
            </a:r>
            <a:endParaRPr lang="en-US" sz="1800" dirty="0"/>
          </a:p>
        </p:txBody>
      </p:sp>
      <p:pic>
        <p:nvPicPr>
          <p:cNvPr id="30" name="Image 1" descr="preencoded.png">    </p:cNvPr>
          <p:cNvPicPr>
            <a:picLocks noChangeAspect="1"/>
          </p:cNvPicPr>
          <p:nvPr/>
        </p:nvPicPr>
        <p:blipFill>
          <a:blip r:embed="rId2"/>
          <a:stretch>
            <a:fillRect/>
          </a:stretch>
        </p:blipFill>
        <p:spPr>
          <a:xfrm>
            <a:off x="8258861" y="1885493"/>
            <a:ext cx="261518" cy="2615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62B33"/>
        </a:solidFill>
      </p:bgPr>
    </p:bg>
    <p:spTree>
      <p:nvGrpSpPr>
        <p:cNvPr id="1" name=""/>
        <p:cNvGrpSpPr/>
        <p:nvPr/>
      </p:nvGrpSpPr>
      <p:grpSpPr>
        <a:xfrm>
          <a:off x="0" y="0"/>
          <a:ext cx="0" cy="0"/>
          <a:chOff x="0" y="0"/>
          <a:chExt cx="0" cy="0"/>
        </a:xfrm>
      </p:grpSpPr>
      <p:sp>
        <p:nvSpPr>
          <p:cNvPr id="2" name="Text 0"/>
          <p:cNvSpPr txBox="1"/>
          <p:nvPr/>
        </p:nvSpPr>
        <p:spPr>
          <a:xfrm>
            <a:off x="731520" y="1371600"/>
            <a:ext cx="2743200" cy="1463040"/>
          </a:xfrm>
          <a:prstGeom prst="rect">
            <a:avLst/>
          </a:prstGeom>
          <a:noFill/>
          <a:ln/>
        </p:spPr>
        <p:txBody>
          <a:bodyPr wrap="square" lIns="0" tIns="0" rIns="0" bIns="0" rtlCol="0" anchor="ctr"/>
          <a:lstStyle/>
          <a:p>
            <a:pPr indent="0" marL="0">
              <a:buNone/>
            </a:pPr>
            <a:r>
              <a:rPr lang="en-US" sz="9600" b="1" dirty="0">
                <a:solidFill>
                  <a:srgbClr val="8A919C"/>
                </a:solidFill>
                <a:latin typeface="Calibri" pitchFamily="34" charset="0"/>
                <a:ea typeface="Calibri" pitchFamily="34" charset="-122"/>
                <a:cs typeface="Calibri" pitchFamily="34" charset="-120"/>
              </a:rPr>
              <a:t>02</a:t>
            </a:r>
            <a:endParaRPr lang="en-US" sz="9600" dirty="0"/>
          </a:p>
        </p:txBody>
      </p:sp>
      <p:sp>
        <p:nvSpPr>
          <p:cNvPr id="3" name="Text 1"/>
          <p:cNvSpPr txBox="1"/>
          <p:nvPr/>
        </p:nvSpPr>
        <p:spPr>
          <a:xfrm>
            <a:off x="731520" y="2880360"/>
            <a:ext cx="9601200" cy="118872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libri" pitchFamily="34" charset="0"/>
                <a:ea typeface="Calibri" pitchFamily="34" charset="-122"/>
                <a:cs typeface="Calibri" pitchFamily="34" charset="-120"/>
              </a:rPr>
              <a:t>Tasks</a:t>
            </a:r>
            <a:endParaRPr lang="en-US" sz="4000" dirty="0"/>
          </a:p>
        </p:txBody>
      </p:sp>
      <p:sp>
        <p:nvSpPr>
          <p:cNvPr id="4" name="Text 2"/>
          <p:cNvSpPr txBox="1"/>
          <p:nvPr/>
        </p:nvSpPr>
        <p:spPr>
          <a:xfrm>
            <a:off x="731520" y="4114800"/>
            <a:ext cx="8686800" cy="91440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Work in order. Run the tests after every method.</a:t>
            </a:r>
            <a:endParaRPr lang="en-US" sz="2000" dirty="0"/>
          </a:p>
        </p:txBody>
      </p:sp>
      <p:sp>
        <p:nvSpPr>
          <p:cNvPr id="5" name="Shape 3"/>
          <p:cNvSpPr/>
          <p:nvPr/>
        </p:nvSpPr>
        <p:spPr>
          <a:xfrm>
            <a:off x="731520" y="5257800"/>
            <a:ext cx="1737360" cy="384048"/>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731520" y="5257800"/>
            <a:ext cx="1737360" cy="384048"/>
          </a:xfrm>
          <a:prstGeom prst="rect">
            <a:avLst/>
          </a:prstGeom>
          <a:noFill/>
          <a:ln/>
        </p:spPr>
        <p:txBody>
          <a:bodyPr wrap="square" lIns="0" tIns="0" rIns="0" bIns="0" rtlCol="0" anchor="ctr"/>
          <a:lstStyle/>
          <a:p>
            <a:pPr algn="ctr" indent="0" marL="0">
              <a:buNone/>
            </a:pPr>
            <a:r>
              <a:rPr lang="en-US" sz="1300" b="1" dirty="0">
                <a:solidFill>
                  <a:srgbClr val="262B33"/>
                </a:solidFill>
                <a:latin typeface="Calibri" pitchFamily="34" charset="0"/>
                <a:ea typeface="Calibri" pitchFamily="34" charset="-122"/>
                <a:cs typeface="Calibri" pitchFamily="34" charset="-120"/>
              </a:rPr>
              <a:t>about 75 min</a:t>
            </a:r>
            <a:endParaRPr lang="en-US" sz="1300" dirty="0"/>
          </a:p>
        </p:txBody>
      </p:sp>
      <p:sp>
        <p:nvSpPr>
          <p:cNvPr id="7" name="Text 5"/>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CSCI 2430 Programming Languages  ·  Week 2  ·  Lab</a:t>
            </a:r>
            <a:endParaRPr lang="en-US" sz="1050" dirty="0"/>
          </a:p>
        </p:txBody>
      </p:sp>
      <p:sp>
        <p:nvSpPr>
          <p:cNvPr id="8" name="Text 6"/>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FFFFFF"/>
                </a:solidFill>
                <a:latin typeface="Calibri" pitchFamily="34" charset="0"/>
                <a:ea typeface="Calibri" pitchFamily="34" charset="-122"/>
                <a:cs typeface="Calibri" pitchFamily="34" charset="-120"/>
              </a:rPr>
              <a:t>6</a:t>
            </a:r>
            <a:endParaRPr lang="en-US" sz="1050" dirty="0"/>
          </a:p>
        </p:txBody>
      </p:sp>
      <p:pic>
        <p:nvPicPr>
          <p:cNvPr id="9" name="Image 0" descr="/home/claude/decks/assets/logo-white-small.png">    </p:cNvPr>
          <p:cNvPicPr>
            <a:picLocks noChangeAspect="1"/>
          </p:cNvPicPr>
          <p:nvPr/>
        </p:nvPicPr>
        <p:blipFill>
          <a:blip r:embed="rId1"/>
          <a:stretch>
            <a:fillRect/>
          </a:stretch>
        </p:blipFill>
        <p:spPr>
          <a:xfrm>
            <a:off x="10518343" y="6291172"/>
            <a:ext cx="1124712" cy="4113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1  ·  WARM UP</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isEven</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7</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10180015" y="411480"/>
            <a:ext cx="1463040" cy="329184"/>
          </a:xfrm>
          <a:prstGeom prst="roundRect">
            <a:avLst>
              <a:gd name="adj" fmla="val 50000"/>
            </a:avLst>
          </a:prstGeom>
          <a:solidFill>
            <a:srgbClr val="1E7F4F"/>
          </a:solidFill>
          <a:ln w="12700">
            <a:solidFill>
              <a:srgbClr val="1E7F4F"/>
            </a:solidFill>
            <a:prstDash val="solid"/>
          </a:ln>
        </p:spPr>
      </p:sp>
      <p:sp>
        <p:nvSpPr>
          <p:cNvPr id="9" name="Text 5"/>
          <p:cNvSpPr txBox="1"/>
          <p:nvPr/>
        </p:nvSpPr>
        <p:spPr>
          <a:xfrm>
            <a:off x="10180015" y="411480"/>
            <a:ext cx="14630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 min</a:t>
            </a:r>
            <a:endParaRPr lang="en-US" sz="1250" dirty="0"/>
          </a:p>
        </p:txBody>
      </p:sp>
      <p:sp>
        <p:nvSpPr>
          <p:cNvPr id="10" name="Shape 6"/>
          <p:cNvSpPr/>
          <p:nvPr/>
        </p:nvSpPr>
        <p:spPr>
          <a:xfrm>
            <a:off x="548640" y="1508760"/>
            <a:ext cx="5760720" cy="807720"/>
          </a:xfrm>
          <a:prstGeom prst="roundRect">
            <a:avLst>
              <a:gd name="adj" fmla="val 13585"/>
            </a:avLst>
          </a:prstGeom>
          <a:solidFill>
            <a:srgbClr val="FBECED"/>
          </a:solidFill>
          <a:ln w="12700">
            <a:solidFill>
              <a:srgbClr val="FBECED"/>
            </a:solidFill>
            <a:prstDash val="solid"/>
          </a:ln>
        </p:spPr>
      </p:sp>
      <p:sp>
        <p:nvSpPr>
          <p:cNvPr id="11" name="Text 7"/>
          <p:cNvSpPr txBox="1"/>
          <p:nvPr/>
        </p:nvSpPr>
        <p:spPr>
          <a:xfrm>
            <a:off x="822960" y="1600200"/>
            <a:ext cx="5212080" cy="624840"/>
          </a:xfrm>
          <a:prstGeom prst="rect">
            <a:avLst/>
          </a:prstGeom>
          <a:noFill/>
          <a:ln/>
        </p:spPr>
        <p:txBody>
          <a:bodyPr wrap="square" lIns="0" tIns="0" rIns="0" bIns="0" rtlCol="0" anchor="t"/>
          <a:lstStyle/>
          <a:p>
            <a:pPr indent="0" marL="0">
              <a:buNone/>
            </a:pPr>
            <a:r>
              <a:rPr lang="en-US" sz="1200" b="1" spc="200" kern="0" dirty="0">
                <a:solidFill>
                  <a:srgbClr val="C6333B"/>
                </a:solidFill>
                <a:latin typeface="Calibri" pitchFamily="34" charset="0"/>
                <a:ea typeface="Calibri" pitchFamily="34" charset="-122"/>
                <a:cs typeface="Calibri" pitchFamily="34" charset="-120"/>
              </a:rPr>
              <a:t>GOAL  </a:t>
            </a:r>
            <a:endParaRPr lang="en-US" sz="1200" dirty="0"/>
          </a:p>
          <a:p>
            <a:pPr indent="0" marL="0">
              <a:buNone/>
            </a:pPr>
            <a:r>
              <a:rPr lang="en-US" sz="1700" dirty="0">
                <a:solidFill>
                  <a:srgbClr val="1F2328"/>
                </a:solidFill>
                <a:latin typeface="Calibri" pitchFamily="34" charset="0"/>
                <a:ea typeface="Calibri" pitchFamily="34" charset="-122"/>
                <a:cs typeface="Calibri" pitchFamily="34" charset="-120"/>
              </a:rPr>
              <a:t>Make the first test green. One line is enough.</a:t>
            </a:r>
            <a:endParaRPr lang="en-US" sz="1200" dirty="0"/>
          </a:p>
        </p:txBody>
      </p:sp>
      <p:sp>
        <p:nvSpPr>
          <p:cNvPr id="12" name="Text 8"/>
          <p:cNvSpPr txBox="1"/>
          <p:nvPr/>
        </p:nvSpPr>
        <p:spPr>
          <a:xfrm>
            <a:off x="548640" y="2499360"/>
            <a:ext cx="5760720" cy="274320"/>
          </a:xfrm>
          <a:prstGeom prst="rect">
            <a:avLst/>
          </a:prstGeom>
          <a:noFill/>
          <a:ln/>
        </p:spPr>
        <p:txBody>
          <a:bodyPr wrap="square" lIns="0" tIns="0" rIns="0" bIns="0" rtlCol="0" anchor="ctr"/>
          <a:lstStyle/>
          <a:p>
            <a:pPr indent="0" marL="0">
              <a:buNone/>
            </a:pPr>
            <a:r>
              <a:rPr lang="en-US" sz="1200" b="1" spc="200" kern="0" dirty="0">
                <a:solidFill>
                  <a:srgbClr val="5B6470"/>
                </a:solidFill>
                <a:latin typeface="Calibri" pitchFamily="34" charset="0"/>
                <a:ea typeface="Calibri" pitchFamily="34" charset="-122"/>
                <a:cs typeface="Calibri" pitchFamily="34" charset="-120"/>
              </a:rPr>
              <a:t>WHAT TO DO</a:t>
            </a:r>
            <a:endParaRPr lang="en-US" sz="1200" dirty="0"/>
          </a:p>
        </p:txBody>
      </p:sp>
      <p:sp>
        <p:nvSpPr>
          <p:cNvPr id="13" name="Text 9"/>
          <p:cNvSpPr txBox="1"/>
          <p:nvPr/>
        </p:nvSpPr>
        <p:spPr>
          <a:xfrm>
            <a:off x="548640" y="2819400"/>
            <a:ext cx="5760720" cy="33070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Open src/main/java/Exercises.java.</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Ignore the words public class and public static. They are explained next week.</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Replace the line return false; with the right expression.</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Run ExercisesTest again. One test is green now.</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Commit: "Solve task 1, isEven".</a:t>
            </a:r>
            <a:endParaRPr lang="en-US" sz="1800" dirty="0"/>
          </a:p>
        </p:txBody>
      </p:sp>
      <p:sp>
        <p:nvSpPr>
          <p:cNvPr id="14" name="Shape 10"/>
          <p:cNvSpPr/>
          <p:nvPr/>
        </p:nvSpPr>
        <p:spPr>
          <a:xfrm>
            <a:off x="6675120" y="1508760"/>
            <a:ext cx="4967935" cy="1581912"/>
          </a:xfrm>
          <a:prstGeom prst="roundRect">
            <a:avLst>
              <a:gd name="adj" fmla="val 5780"/>
            </a:avLst>
          </a:prstGeom>
          <a:solidFill>
            <a:srgbClr val="1B2029"/>
          </a:solidFill>
          <a:ln w="12700">
            <a:solidFill>
              <a:srgbClr val="1B2029"/>
            </a:solidFill>
            <a:prstDash val="solid"/>
          </a:ln>
        </p:spPr>
      </p:sp>
      <p:sp>
        <p:nvSpPr>
          <p:cNvPr id="15" name="Text 11"/>
          <p:cNvSpPr txBox="1"/>
          <p:nvPr/>
        </p:nvSpPr>
        <p:spPr>
          <a:xfrm>
            <a:off x="6931152" y="1618488"/>
            <a:ext cx="445587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Exercises.java</a:t>
            </a:r>
            <a:endParaRPr lang="en-US" sz="1100" dirty="0"/>
          </a:p>
        </p:txBody>
      </p:sp>
      <p:sp>
        <p:nvSpPr>
          <p:cNvPr id="16" name="Text 12"/>
          <p:cNvSpPr txBox="1"/>
          <p:nvPr/>
        </p:nvSpPr>
        <p:spPr>
          <a:xfrm>
            <a:off x="6931152" y="1965960"/>
            <a:ext cx="4455871" cy="941832"/>
          </a:xfrm>
          <a:prstGeom prst="rect">
            <a:avLst/>
          </a:prstGeom>
          <a:noFill/>
          <a:ln/>
        </p:spPr>
        <p:txBody>
          <a:bodyPr wrap="none" lIns="0" tIns="0" rIns="0" bIns="0" rtlCol="0" anchor="t"/>
          <a:lstStyle/>
          <a:p>
            <a:pPr indent="0" marL="0">
              <a:lnSpc>
                <a:spcPct val="105000"/>
              </a:lnSpc>
              <a:buNone/>
            </a:pPr>
            <a:r>
              <a:rPr lang="en-US" sz="1400" dirty="0">
                <a:solidFill>
                  <a:srgbClr val="8B97A6"/>
                </a:solidFill>
                <a:latin typeface="Consolas" pitchFamily="34" charset="0"/>
                <a:ea typeface="Consolas" pitchFamily="34" charset="-122"/>
                <a:cs typeface="Consolas" pitchFamily="34" charset="-120"/>
              </a:rPr>
              <a:t>// Task 1 (warm up). true when n is even.</a:t>
            </a:r>
            <a:endParaRPr lang="en-US" sz="1400" dirty="0"/>
          </a:p>
          <a:p>
            <a:pPr indent="0" marL="0">
              <a:lnSpc>
                <a:spcPct val="105000"/>
              </a:lnSpc>
              <a:buNone/>
            </a:pPr>
            <a:r>
              <a:rPr lang="en-US" sz="1400" dirty="0">
                <a:solidFill>
                  <a:srgbClr val="FF8A93"/>
                </a:solidFill>
                <a:latin typeface="Consolas" pitchFamily="34" charset="0"/>
                <a:ea typeface="Consolas" pitchFamily="34" charset="-122"/>
                <a:cs typeface="Consolas" pitchFamily="34" charset="-120"/>
              </a:rPr>
              <a:t>public</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FF8A93"/>
                </a:solidFill>
                <a:latin typeface="Consolas" pitchFamily="34" charset="0"/>
                <a:ea typeface="Consolas" pitchFamily="34" charset="-122"/>
                <a:cs typeface="Consolas" pitchFamily="34" charset="-120"/>
              </a:rPr>
              <a:t>static</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FF8A93"/>
                </a:solidFill>
                <a:latin typeface="Consolas" pitchFamily="34" charset="0"/>
                <a:ea typeface="Consolas" pitchFamily="34" charset="-122"/>
                <a:cs typeface="Consolas" pitchFamily="34" charset="-120"/>
              </a:rPr>
              <a:t>boolean</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isEven(</a:t>
            </a:r>
            <a:pPr indent="0" marL="0">
              <a:lnSpc>
                <a:spcPct val="105000"/>
              </a:lnSpc>
              <a:buNone/>
            </a:pPr>
            <a:r>
              <a:rPr lang="en-US" sz="140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n)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FF8A93"/>
                </a:solidFill>
                <a:latin typeface="Consolas" pitchFamily="34" charset="0"/>
                <a:ea typeface="Consolas" pitchFamily="34" charset="-122"/>
                <a:cs typeface="Consolas" pitchFamily="34" charset="-120"/>
              </a:rPr>
              <a:t>return</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FF8A93"/>
                </a:solidFill>
                <a:latin typeface="Consolas" pitchFamily="34" charset="0"/>
                <a:ea typeface="Consolas" pitchFamily="34" charset="-122"/>
                <a:cs typeface="Consolas" pitchFamily="34" charset="-120"/>
              </a:rPr>
              <a:t>false</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8B97A6"/>
                </a:solidFill>
                <a:latin typeface="Consolas" pitchFamily="34" charset="0"/>
                <a:ea typeface="Consolas" pitchFamily="34" charset="-122"/>
                <a:cs typeface="Consolas" pitchFamily="34" charset="-120"/>
              </a:rPr>
              <a:t>// TODO</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17" name="Shape 13"/>
          <p:cNvSpPr/>
          <p:nvPr/>
        </p:nvSpPr>
        <p:spPr>
          <a:xfrm>
            <a:off x="6675120" y="3273552"/>
            <a:ext cx="4967935" cy="2852928"/>
          </a:xfrm>
          <a:prstGeom prst="roundRect">
            <a:avLst>
              <a:gd name="adj" fmla="val 3846"/>
            </a:avLst>
          </a:prstGeom>
          <a:solidFill>
            <a:srgbClr val="E7F5EC"/>
          </a:solidFill>
          <a:ln w="12700">
            <a:solidFill>
              <a:srgbClr val="E7F5EC"/>
            </a:solidFill>
            <a:prstDash val="solid"/>
          </a:ln>
        </p:spPr>
      </p:sp>
      <p:sp>
        <p:nvSpPr>
          <p:cNvPr id="18" name="Text 14"/>
          <p:cNvSpPr txBox="1"/>
          <p:nvPr/>
        </p:nvSpPr>
        <p:spPr>
          <a:xfrm>
            <a:off x="6949440" y="3410712"/>
            <a:ext cx="4419295" cy="274320"/>
          </a:xfrm>
          <a:prstGeom prst="rect">
            <a:avLst/>
          </a:prstGeom>
          <a:noFill/>
          <a:ln/>
        </p:spPr>
        <p:txBody>
          <a:bodyPr wrap="square" lIns="0" tIns="0" rIns="0" bIns="0" rtlCol="0" anchor="ctr"/>
          <a:lstStyle/>
          <a:p>
            <a:pPr indent="0" marL="0">
              <a:buNone/>
            </a:pPr>
            <a:r>
              <a:rPr lang="en-US" sz="1200" b="1" spc="200" kern="0" dirty="0">
                <a:solidFill>
                  <a:srgbClr val="1E7F4F"/>
                </a:solidFill>
                <a:latin typeface="Calibri" pitchFamily="34" charset="0"/>
                <a:ea typeface="Calibri" pitchFamily="34" charset="-122"/>
                <a:cs typeface="Calibri" pitchFamily="34" charset="-120"/>
              </a:rPr>
              <a:t>DONE WHEN</a:t>
            </a:r>
            <a:endParaRPr lang="en-US" sz="1200" dirty="0"/>
          </a:p>
        </p:txBody>
      </p:sp>
      <p:sp>
        <p:nvSpPr>
          <p:cNvPr id="19" name="Text 15"/>
          <p:cNvSpPr txBox="1"/>
          <p:nvPr/>
        </p:nvSpPr>
        <p:spPr>
          <a:xfrm>
            <a:off x="6949440" y="3749040"/>
            <a:ext cx="4419295" cy="2258568"/>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task01_isEven is green</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You tried isEven with a negative number and can say why it still works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TASKS 2 TO 5  ·  CORE  ·  20 MIN</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Decisions and loops</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8</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792458"/>
                <a:gridCol w="2465426"/>
                <a:gridCol w="4050342"/>
                <a:gridCol w="3786189"/>
              </a:tblGrid>
              <a:tr h="77724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Task</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it returns</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Think about</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r>
              <a:tr h="77724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max3(a, b, c)</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the largest of three numbers</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all three equal, all negative</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r>
              <a:tr h="77724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dayType(day)</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"working day", "weekend" or "invalid"</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use a switch expression with arrows</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77724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sumTo(n)</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 + 2 + ... + n</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 smaller than 1 gives 0</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r>
              <a:tr h="77724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countDigits(n)</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how many digits n has</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countDigits(0) is 1</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548640" y="5623560"/>
            <a:ext cx="11094415" cy="822960"/>
          </a:xfrm>
          <a:prstGeom prst="rect">
            <a:avLst/>
          </a:prstGeom>
          <a:noFill/>
          <a:ln/>
        </p:spPr>
        <p:txBody>
          <a:bodyPr wrap="square" lIns="0" tIns="0" rIns="0" bIns="0" rtlCol="0" anchor="t"/>
          <a:lstStyle/>
          <a:p>
            <a:pPr indent="0" marL="0">
              <a:buNone/>
            </a:pPr>
            <a:r>
              <a:rPr lang="en-US" sz="1500" dirty="0">
                <a:solidFill>
                  <a:srgbClr val="5B6470"/>
                </a:solidFill>
                <a:latin typeface="Calibri" pitchFamily="34" charset="0"/>
                <a:ea typeface="Calibri" pitchFamily="34" charset="-122"/>
                <a:cs typeface="Calibri" pitchFamily="34" charset="-120"/>
              </a:rPr>
              <a:t>One method at a time: write it, run the tests, commit when its test is green. The exact rules are in the comments above each method and in the tests.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TASKS 6 TO 10  ·  CORE  ·  30 MIN</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Arrays and text</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9</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792458"/>
                <a:gridCol w="2729578"/>
                <a:gridCol w="3786189"/>
                <a:gridCol w="3786189"/>
              </a:tblGrid>
              <a:tr h="6400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Task</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it returns</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Think about</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r>
              <a:tr h="6400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sum(values)</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the sum of all elements</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an empty array gives 0</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r>
              <a:tr h="6400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7</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max(values)</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the largest element</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all values negative: do not start at 0</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6400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countEvens(values)</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how many elements are even</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reuse the idea of task 1</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r>
              <a:tr h="6400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9</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reverse(values)</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NEW array in reverse order</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the original must stay unchanged</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6400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isPalindrome(text)</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 for "level" and "abba"</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text.length() and text.charAt(i)</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r>
            </a:tbl>
          </a:graphicData>
        </a:graphic>
      </p:graphicFrame>
      <p:sp>
        <p:nvSpPr>
          <p:cNvPr id="9" name="Text 4"/>
          <p:cNvSpPr txBox="1"/>
          <p:nvPr/>
        </p:nvSpPr>
        <p:spPr>
          <a:xfrm>
            <a:off x="548640" y="5577840"/>
            <a:ext cx="11094415" cy="822960"/>
          </a:xfrm>
          <a:prstGeom prst="rect">
            <a:avLst/>
          </a:prstGeom>
          <a:noFill/>
          <a:ln/>
        </p:spPr>
        <p:txBody>
          <a:bodyPr wrap="square" lIns="0" tIns="0" rIns="0" bIns="0" rtlCol="0" anchor="t"/>
          <a:lstStyle/>
          <a:p>
            <a:pPr indent="0" marL="0">
              <a:buNone/>
            </a:pPr>
            <a:r>
              <a:rPr lang="en-US" sz="1500" dirty="0">
                <a:solidFill>
                  <a:srgbClr val="5B6470"/>
                </a:solidFill>
                <a:latin typeface="Calibri" pitchFamily="34" charset="0"/>
                <a:ea typeface="Calibri" pitchFamily="34" charset="-122"/>
                <a:cs typeface="Calibri" pitchFamily="34" charset="-120"/>
              </a:rPr>
              <a:t>Use the enhanced for loop where you only read. Use the classic for loop where you need the index.</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9  ·  A SOLUTION THAT LOOKS RIGHT</a:t>
            </a:r>
            <a:endParaRPr lang="en-US" sz="1200" dirty="0"/>
          </a:p>
        </p:txBody>
      </p:sp>
      <p:sp>
        <p:nvSpPr>
          <p:cNvPr id="3" name="Text 1"/>
          <p:cNvSpPr txBox="1"/>
          <p:nvPr/>
        </p:nvSpPr>
        <p:spPr>
          <a:xfrm>
            <a:off x="548640" y="640080"/>
            <a:ext cx="941832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This reverse changes the array of the caller</a:t>
            </a:r>
            <a:endParaRPr lang="en-US" sz="3200" dirty="0"/>
          </a:p>
        </p:txBody>
      </p:sp>
      <p:sp>
        <p:nvSpPr>
          <p:cNvPr id="4" name="Shape 2"/>
          <p:cNvSpPr/>
          <p:nvPr/>
        </p:nvSpPr>
        <p:spPr>
          <a:xfrm>
            <a:off x="10042855" y="411480"/>
            <a:ext cx="1600200" cy="310896"/>
          </a:xfrm>
          <a:prstGeom prst="roundRect">
            <a:avLst>
              <a:gd name="adj" fmla="val 50000"/>
            </a:avLst>
          </a:prstGeom>
          <a:solidFill>
            <a:srgbClr val="C6333B"/>
          </a:solidFill>
          <a:ln w="12700">
            <a:solidFill>
              <a:srgbClr val="C6333B"/>
            </a:solidFill>
            <a:prstDash val="solid"/>
          </a:ln>
        </p:spPr>
      </p:sp>
      <p:sp>
        <p:nvSpPr>
          <p:cNvPr id="5" name="Text 3"/>
          <p:cNvSpPr txBox="1"/>
          <p:nvPr/>
        </p:nvSpPr>
        <p:spPr>
          <a:xfrm>
            <a:off x="10042855" y="411480"/>
            <a:ext cx="1600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LAB NEEDS THIS</a:t>
            </a:r>
            <a:endParaRPr lang="en-US" sz="105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7" name="Text 5"/>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10</a:t>
            </a:r>
            <a:endParaRPr lang="en-US" sz="1050" dirty="0"/>
          </a:p>
        </p:txBody>
      </p:sp>
      <p:pic>
        <p:nvPicPr>
          <p:cNvPr id="8"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10" name="Shape 6"/>
          <p:cNvSpPr/>
          <p:nvPr/>
        </p:nvSpPr>
        <p:spPr>
          <a:xfrm>
            <a:off x="548640" y="1508760"/>
            <a:ext cx="7498080" cy="4617720"/>
          </a:xfrm>
          <a:prstGeom prst="roundRect">
            <a:avLst>
              <a:gd name="adj" fmla="val 1980"/>
            </a:avLst>
          </a:prstGeom>
          <a:solidFill>
            <a:srgbClr val="1B2029"/>
          </a:solidFill>
          <a:ln w="12700">
            <a:solidFill>
              <a:srgbClr val="1B2029"/>
            </a:solidFill>
            <a:prstDash val="solid"/>
          </a:ln>
        </p:spPr>
      </p:sp>
      <p:sp>
        <p:nvSpPr>
          <p:cNvPr id="11" name="Text 7"/>
          <p:cNvSpPr txBox="1"/>
          <p:nvPr/>
        </p:nvSpPr>
        <p:spPr>
          <a:xfrm>
            <a:off x="804672" y="1618488"/>
            <a:ext cx="6986016"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ReverseTrap.java</a:t>
            </a:r>
            <a:endParaRPr lang="en-US" sz="1100" dirty="0"/>
          </a:p>
        </p:txBody>
      </p:sp>
      <p:sp>
        <p:nvSpPr>
          <p:cNvPr id="12" name="Text 8"/>
          <p:cNvSpPr txBox="1"/>
          <p:nvPr/>
        </p:nvSpPr>
        <p:spPr>
          <a:xfrm>
            <a:off x="804672" y="1965960"/>
            <a:ext cx="6986016" cy="3977640"/>
          </a:xfrm>
          <a:prstGeom prst="rect">
            <a:avLst/>
          </a:prstGeom>
          <a:noFill/>
          <a:ln/>
        </p:spPr>
        <p:txBody>
          <a:bodyPr wrap="none" lIns="0" tIns="0" rIns="0" bIns="0" rtlCol="0" anchor="t"/>
          <a:lstStyle/>
          <a:p>
            <a:pPr indent="0" marL="0">
              <a:lnSpc>
                <a:spcPct val="105000"/>
              </a:lnSpc>
              <a:buNone/>
            </a:pPr>
            <a:r>
              <a:rPr lang="en-US" sz="155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reverse(</a:t>
            </a:r>
            <a:pPr indent="0" marL="0">
              <a:lnSpc>
                <a:spcPct val="105000"/>
              </a:lnSpc>
              <a:buNone/>
            </a:pPr>
            <a:r>
              <a:rPr lang="en-US" sz="155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values) {</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550" dirty="0">
                <a:solidFill>
                  <a:srgbClr val="FF8A93"/>
                </a:solidFill>
                <a:latin typeface="Consolas" pitchFamily="34" charset="0"/>
                <a:ea typeface="Consolas" pitchFamily="34" charset="-122"/>
                <a:cs typeface="Consolas" pitchFamily="34" charset="-120"/>
              </a:rPr>
              <a:t>for</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55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i = </a:t>
            </a:r>
            <a:pPr indent="0" marL="0">
              <a:lnSpc>
                <a:spcPct val="105000"/>
              </a:lnSpc>
              <a:buNone/>
            </a:pPr>
            <a:r>
              <a:rPr lang="en-US" sz="1550" dirty="0">
                <a:solidFill>
                  <a:srgbClr val="F2CC60"/>
                </a:solidFill>
                <a:latin typeface="Consolas" pitchFamily="34" charset="0"/>
                <a:ea typeface="Consolas" pitchFamily="34" charset="-122"/>
                <a:cs typeface="Consolas" pitchFamily="34" charset="-120"/>
              </a:rPr>
              <a:t>0</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i &lt; values.length / </a:t>
            </a:r>
            <a:pPr indent="0" marL="0">
              <a:lnSpc>
                <a:spcPct val="105000"/>
              </a:lnSpc>
              <a:buNone/>
            </a:pPr>
            <a:r>
              <a:rPr lang="en-US" sz="1550" dirty="0">
                <a:solidFill>
                  <a:srgbClr val="F2CC60"/>
                </a:solidFill>
                <a:latin typeface="Consolas" pitchFamily="34" charset="0"/>
                <a:ea typeface="Consolas" pitchFamily="34" charset="-122"/>
                <a:cs typeface="Consolas" pitchFamily="34" charset="-120"/>
              </a:rPr>
              <a:t>2</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i++) {</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55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other = values.length - </a:t>
            </a:r>
            <a:pPr indent="0" marL="0">
              <a:lnSpc>
                <a:spcPct val="105000"/>
              </a:lnSpc>
              <a:buNone/>
            </a:pPr>
            <a:r>
              <a:rPr lang="en-US" sz="1550" dirty="0">
                <a:solidFill>
                  <a:srgbClr val="F2CC60"/>
                </a:solidFill>
                <a:latin typeface="Consolas" pitchFamily="34" charset="0"/>
                <a:ea typeface="Consolas" pitchFamily="34" charset="-122"/>
                <a:cs typeface="Consolas" pitchFamily="34" charset="-120"/>
              </a:rPr>
              <a:t>1</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 i;</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55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keep = values[i];</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values[i] = values[other];</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values[other] = keep;</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550" dirty="0">
                <a:solidFill>
                  <a:srgbClr val="FF8A93"/>
                </a:solidFill>
                <a:latin typeface="Consolas" pitchFamily="34" charset="0"/>
                <a:ea typeface="Consolas" pitchFamily="34" charset="-122"/>
                <a:cs typeface="Consolas" pitchFamily="34" charset="-120"/>
              </a:rPr>
              <a:t>return</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values;</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endParaRPr lang="en-US" sz="1550" dirty="0"/>
          </a:p>
          <a:p>
            <a:pPr indent="0" marL="0">
              <a:lnSpc>
                <a:spcPct val="105000"/>
              </a:lnSpc>
              <a:buNone/>
            </a:pPr>
            <a:r>
              <a:rPr lang="en-US" sz="1550" dirty="0">
                <a:solidFill>
                  <a:srgbClr val="FF8A93"/>
                </a:solidFill>
                <a:latin typeface="Consolas" pitchFamily="34" charset="0"/>
                <a:ea typeface="Consolas" pitchFamily="34" charset="-122"/>
                <a:cs typeface="Consolas" pitchFamily="34" charset="-120"/>
              </a:rPr>
              <a:t>void</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main() {</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55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original = {</a:t>
            </a:r>
            <a:pPr indent="0" marL="0">
              <a:lnSpc>
                <a:spcPct val="105000"/>
              </a:lnSpc>
              <a:buNone/>
            </a:pPr>
            <a:r>
              <a:rPr lang="en-US" sz="1550" dirty="0">
                <a:solidFill>
                  <a:srgbClr val="F2CC60"/>
                </a:solidFill>
                <a:latin typeface="Consolas" pitchFamily="34" charset="0"/>
                <a:ea typeface="Consolas" pitchFamily="34" charset="-122"/>
                <a:cs typeface="Consolas" pitchFamily="34" charset="-120"/>
              </a:rPr>
              <a:t>1</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550" dirty="0">
                <a:solidFill>
                  <a:srgbClr val="F2CC60"/>
                </a:solidFill>
                <a:latin typeface="Consolas" pitchFamily="34" charset="0"/>
                <a:ea typeface="Consolas" pitchFamily="34" charset="-122"/>
                <a:cs typeface="Consolas" pitchFamily="34" charset="-120"/>
              </a:rPr>
              <a:t>2</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550" dirty="0">
                <a:solidFill>
                  <a:srgbClr val="F2CC60"/>
                </a:solidFill>
                <a:latin typeface="Consolas" pitchFamily="34" charset="0"/>
                <a:ea typeface="Consolas" pitchFamily="34" charset="-122"/>
                <a:cs typeface="Consolas" pitchFamily="34" charset="-120"/>
              </a:rPr>
              <a:t>3</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550" dirty="0">
                <a:solidFill>
                  <a:srgbClr val="F2CC60"/>
                </a:solidFill>
                <a:latin typeface="Consolas" pitchFamily="34" charset="0"/>
                <a:ea typeface="Consolas" pitchFamily="34" charset="-122"/>
                <a:cs typeface="Consolas" pitchFamily="34" charset="-120"/>
              </a:rPr>
              <a:t>4</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55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result = reverse(original);</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IO.println(</a:t>
            </a:r>
            <a:pPr indent="0" marL="0">
              <a:lnSpc>
                <a:spcPct val="105000"/>
              </a:lnSpc>
              <a:buNone/>
            </a:pPr>
            <a:r>
              <a:rPr lang="en-US" sz="1550" dirty="0">
                <a:solidFill>
                  <a:srgbClr val="A8DB8F"/>
                </a:solidFill>
                <a:latin typeface="Consolas" pitchFamily="34" charset="0"/>
                <a:ea typeface="Consolas" pitchFamily="34" charset="-122"/>
                <a:cs typeface="Consolas" pitchFamily="34" charset="-120"/>
              </a:rPr>
              <a:t>"result:   "</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 Arrays.toString(result));</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IO.println(</a:t>
            </a:r>
            <a:pPr indent="0" marL="0">
              <a:lnSpc>
                <a:spcPct val="105000"/>
              </a:lnSpc>
              <a:buNone/>
            </a:pPr>
            <a:r>
              <a:rPr lang="en-US" sz="1550" dirty="0">
                <a:solidFill>
                  <a:srgbClr val="A8DB8F"/>
                </a:solidFill>
                <a:latin typeface="Consolas" pitchFamily="34" charset="0"/>
                <a:ea typeface="Consolas" pitchFamily="34" charset="-122"/>
                <a:cs typeface="Consolas" pitchFamily="34" charset="-120"/>
              </a:rPr>
              <a:t>"original: "</a:t>
            </a:r>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 + Arrays.toString(original));</a:t>
            </a:r>
            <a:endParaRPr lang="en-US" sz="1550" dirty="0"/>
          </a:p>
          <a:p>
            <a:pPr indent="0" marL="0">
              <a:lnSpc>
                <a:spcPct val="105000"/>
              </a:lnSpc>
              <a:buNone/>
            </a:pPr>
            <a:r>
              <a:rPr lang="en-US" sz="1550" dirty="0">
                <a:solidFill>
                  <a:srgbClr val="E6EDF3"/>
                </a:solidFill>
                <a:latin typeface="Consolas" pitchFamily="34" charset="0"/>
                <a:ea typeface="Consolas" pitchFamily="34" charset="-122"/>
                <a:cs typeface="Consolas" pitchFamily="34" charset="-120"/>
              </a:rPr>
              <a:t>}</a:t>
            </a:r>
            <a:endParaRPr lang="en-US" sz="1550" dirty="0"/>
          </a:p>
        </p:txBody>
      </p:sp>
      <p:sp>
        <p:nvSpPr>
          <p:cNvPr id="13" name="Shape 9"/>
          <p:cNvSpPr/>
          <p:nvPr/>
        </p:nvSpPr>
        <p:spPr>
          <a:xfrm>
            <a:off x="8412480" y="1508760"/>
            <a:ext cx="3230575" cy="1371600"/>
          </a:xfrm>
          <a:prstGeom prst="roundRect">
            <a:avLst>
              <a:gd name="adj" fmla="val 6667"/>
            </a:avLst>
          </a:prstGeom>
          <a:solidFill>
            <a:srgbClr val="E7F5EC"/>
          </a:solidFill>
          <a:ln w="12700">
            <a:solidFill>
              <a:srgbClr val="E7F5EC"/>
            </a:solidFill>
            <a:prstDash val="solid"/>
          </a:ln>
        </p:spPr>
      </p:sp>
      <p:sp>
        <p:nvSpPr>
          <p:cNvPr id="14" name="Text 10"/>
          <p:cNvSpPr txBox="1"/>
          <p:nvPr/>
        </p:nvSpPr>
        <p:spPr>
          <a:xfrm>
            <a:off x="8641080" y="1618488"/>
            <a:ext cx="2773375" cy="256032"/>
          </a:xfrm>
          <a:prstGeom prst="rect">
            <a:avLst/>
          </a:prstGeom>
          <a:noFill/>
          <a:ln/>
        </p:spPr>
        <p:txBody>
          <a:bodyPr wrap="square" lIns="0" tIns="0" rIns="0" bIns="0" rtlCol="0" anchor="ctr"/>
          <a:lstStyle/>
          <a:p>
            <a:pPr indent="0" marL="0">
              <a:buNone/>
            </a:pPr>
            <a:r>
              <a:rPr lang="en-US" sz="1100" b="1" spc="100" kern="0" dirty="0">
                <a:solidFill>
                  <a:srgbClr val="1E7F4F"/>
                </a:solidFill>
                <a:latin typeface="Calibri" pitchFamily="34" charset="0"/>
                <a:ea typeface="Calibri" pitchFamily="34" charset="-122"/>
                <a:cs typeface="Calibri" pitchFamily="34" charset="-120"/>
              </a:rPr>
              <a:t>OUTPUT</a:t>
            </a:r>
            <a:endParaRPr lang="en-US" sz="1100" dirty="0"/>
          </a:p>
        </p:txBody>
      </p:sp>
      <p:sp>
        <p:nvSpPr>
          <p:cNvPr id="15" name="Text 11"/>
          <p:cNvSpPr txBox="1"/>
          <p:nvPr/>
        </p:nvSpPr>
        <p:spPr>
          <a:xfrm>
            <a:off x="8641080" y="1920240"/>
            <a:ext cx="2773375" cy="822960"/>
          </a:xfrm>
          <a:prstGeom prst="rect">
            <a:avLst/>
          </a:prstGeom>
          <a:noFill/>
          <a:ln/>
        </p:spPr>
        <p:txBody>
          <a:bodyPr wrap="none" lIns="0" tIns="0" rIns="0" bIns="0" rtlCol="0" anchor="t"/>
          <a:lstStyle/>
          <a:p>
            <a:pPr indent="0" marL="0">
              <a:buNone/>
            </a:pPr>
            <a:r>
              <a:rPr lang="en-US" sz="1600" dirty="0">
                <a:solidFill>
                  <a:srgbClr val="1F2328"/>
                </a:solidFill>
                <a:latin typeface="Consolas" pitchFamily="34" charset="0"/>
                <a:ea typeface="Consolas" pitchFamily="34" charset="-122"/>
                <a:cs typeface="Consolas" pitchFamily="34" charset="-120"/>
              </a:rPr>
              <a:t>result:   [4, 3, 2, 1]</a:t>
            </a:r>
            <a:endParaRPr lang="en-US" sz="1600" dirty="0"/>
          </a:p>
          <a:p>
            <a:pPr indent="0" marL="0">
              <a:buNone/>
            </a:pPr>
            <a:r>
              <a:rPr lang="en-US" sz="1600" dirty="0">
                <a:solidFill>
                  <a:srgbClr val="1F2328"/>
                </a:solidFill>
                <a:latin typeface="Consolas" pitchFamily="34" charset="0"/>
                <a:ea typeface="Consolas" pitchFamily="34" charset="-122"/>
                <a:cs typeface="Consolas" pitchFamily="34" charset="-120"/>
              </a:rPr>
              <a:t>original: [4, 3, 2,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9  ·  THE FIX</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Build a new array and fill it from the back</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11</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7" name="Shape 4"/>
          <p:cNvSpPr/>
          <p:nvPr/>
        </p:nvSpPr>
        <p:spPr>
          <a:xfrm>
            <a:off x="548640" y="1508760"/>
            <a:ext cx="11094415" cy="2926080"/>
          </a:xfrm>
          <a:prstGeom prst="roundRect">
            <a:avLst>
              <a:gd name="adj" fmla="val 3125"/>
            </a:avLst>
          </a:prstGeom>
          <a:solidFill>
            <a:srgbClr val="1B2029"/>
          </a:solidFill>
          <a:ln w="12700">
            <a:solidFill>
              <a:srgbClr val="1B2029"/>
            </a:solidFill>
            <a:prstDash val="solid"/>
          </a:ln>
        </p:spPr>
      </p:sp>
      <p:sp>
        <p:nvSpPr>
          <p:cNvPr id="8" name="Text 5"/>
          <p:cNvSpPr txBox="1"/>
          <p:nvPr/>
        </p:nvSpPr>
        <p:spPr>
          <a:xfrm>
            <a:off x="804672" y="1618488"/>
            <a:ext cx="1058235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Exercises.java</a:t>
            </a:r>
            <a:endParaRPr lang="en-US" sz="1100" dirty="0"/>
          </a:p>
        </p:txBody>
      </p:sp>
      <p:sp>
        <p:nvSpPr>
          <p:cNvPr id="9" name="Text 6"/>
          <p:cNvSpPr txBox="1"/>
          <p:nvPr/>
        </p:nvSpPr>
        <p:spPr>
          <a:xfrm>
            <a:off x="804672" y="1965960"/>
            <a:ext cx="10582351" cy="2286000"/>
          </a:xfrm>
          <a:prstGeom prst="rect">
            <a:avLst/>
          </a:prstGeom>
          <a:noFill/>
          <a:ln/>
        </p:spPr>
        <p:txBody>
          <a:bodyPr wrap="none" lIns="0" tIns="0" rIns="0" bIns="0" rtlCol="0" anchor="t"/>
          <a:lstStyle/>
          <a:p>
            <a:pPr indent="0" marL="0">
              <a:lnSpc>
                <a:spcPct val="105000"/>
              </a:lnSpc>
              <a:buNone/>
            </a:pPr>
            <a:r>
              <a:rPr lang="en-US" sz="2000" dirty="0">
                <a:solidFill>
                  <a:srgbClr val="FF8A93"/>
                </a:solidFill>
                <a:latin typeface="Consolas" pitchFamily="34" charset="0"/>
                <a:ea typeface="Consolas" pitchFamily="34" charset="-122"/>
                <a:cs typeface="Consolas" pitchFamily="34" charset="-120"/>
              </a:rPr>
              <a:t>public</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2000" dirty="0">
                <a:solidFill>
                  <a:srgbClr val="FF8A93"/>
                </a:solidFill>
                <a:latin typeface="Consolas" pitchFamily="34" charset="0"/>
                <a:ea typeface="Consolas" pitchFamily="34" charset="-122"/>
                <a:cs typeface="Consolas" pitchFamily="34" charset="-120"/>
              </a:rPr>
              <a:t>static</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200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reverse(</a:t>
            </a:r>
            <a:pPr indent="0" marL="0">
              <a:lnSpc>
                <a:spcPct val="105000"/>
              </a:lnSpc>
              <a:buNone/>
            </a:pPr>
            <a:r>
              <a:rPr lang="en-US" sz="200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values) {</a:t>
            </a:r>
            <a:endParaRPr lang="en-US" sz="2000" dirty="0"/>
          </a:p>
          <a:p>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200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result = </a:t>
            </a:r>
            <a:pPr indent="0" marL="0">
              <a:lnSpc>
                <a:spcPct val="105000"/>
              </a:lnSpc>
              <a:buNone/>
            </a:pPr>
            <a:r>
              <a:rPr lang="en-US" sz="2000" dirty="0">
                <a:solidFill>
                  <a:srgbClr val="FF8A93"/>
                </a:solidFill>
                <a:latin typeface="Consolas" pitchFamily="34" charset="0"/>
                <a:ea typeface="Consolas" pitchFamily="34" charset="-122"/>
                <a:cs typeface="Consolas" pitchFamily="34" charset="-120"/>
              </a:rPr>
              <a:t>new</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200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[values.length];</a:t>
            </a:r>
            <a:endParaRPr lang="en-US" sz="2000" dirty="0"/>
          </a:p>
          <a:p>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2000" dirty="0">
                <a:solidFill>
                  <a:srgbClr val="FF8A93"/>
                </a:solidFill>
                <a:latin typeface="Consolas" pitchFamily="34" charset="0"/>
                <a:ea typeface="Consolas" pitchFamily="34" charset="-122"/>
                <a:cs typeface="Consolas" pitchFamily="34" charset="-120"/>
              </a:rPr>
              <a:t>for</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200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i = </a:t>
            </a:r>
            <a:pPr indent="0" marL="0">
              <a:lnSpc>
                <a:spcPct val="105000"/>
              </a:lnSpc>
              <a:buNone/>
            </a:pPr>
            <a:r>
              <a:rPr lang="en-US" sz="2000" dirty="0">
                <a:solidFill>
                  <a:srgbClr val="F2CC60"/>
                </a:solidFill>
                <a:latin typeface="Consolas" pitchFamily="34" charset="0"/>
                <a:ea typeface="Consolas" pitchFamily="34" charset="-122"/>
                <a:cs typeface="Consolas" pitchFamily="34" charset="-120"/>
              </a:rPr>
              <a:t>0</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i &lt; values.length; i++) {</a:t>
            </a:r>
            <a:endParaRPr lang="en-US" sz="2000" dirty="0"/>
          </a:p>
          <a:p>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result[values.length - </a:t>
            </a:r>
            <a:pPr indent="0" marL="0">
              <a:lnSpc>
                <a:spcPct val="105000"/>
              </a:lnSpc>
              <a:buNone/>
            </a:pPr>
            <a:r>
              <a:rPr lang="en-US" sz="2000" dirty="0">
                <a:solidFill>
                  <a:srgbClr val="F2CC60"/>
                </a:solidFill>
                <a:latin typeface="Consolas" pitchFamily="34" charset="0"/>
                <a:ea typeface="Consolas" pitchFamily="34" charset="-122"/>
                <a:cs typeface="Consolas" pitchFamily="34" charset="-120"/>
              </a:rPr>
              <a:t>1</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 i] = values[i];</a:t>
            </a:r>
            <a:endParaRPr lang="en-US" sz="2000" dirty="0"/>
          </a:p>
          <a:p>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a:t>
            </a:r>
            <a:endParaRPr lang="en-US" sz="2000" dirty="0"/>
          </a:p>
          <a:p>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2000" dirty="0">
                <a:solidFill>
                  <a:srgbClr val="FF8A93"/>
                </a:solidFill>
                <a:latin typeface="Consolas" pitchFamily="34" charset="0"/>
                <a:ea typeface="Consolas" pitchFamily="34" charset="-122"/>
                <a:cs typeface="Consolas" pitchFamily="34" charset="-120"/>
              </a:rPr>
              <a:t>return</a:t>
            </a:r>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 result;</a:t>
            </a:r>
            <a:endParaRPr lang="en-US" sz="2000" dirty="0"/>
          </a:p>
          <a:p>
            <a:pPr indent="0" marL="0">
              <a:lnSpc>
                <a:spcPct val="105000"/>
              </a:lnSpc>
              <a:buNone/>
            </a:pPr>
            <a:r>
              <a:rPr lang="en-US" sz="2000" dirty="0">
                <a:solidFill>
                  <a:srgbClr val="E6EDF3"/>
                </a:solidFill>
                <a:latin typeface="Consolas" pitchFamily="34" charset="0"/>
                <a:ea typeface="Consolas" pitchFamily="34" charset="-122"/>
                <a:cs typeface="Consolas" pitchFamily="34" charset="-120"/>
              </a:rPr>
              <a:t>}</a:t>
            </a:r>
            <a:endParaRPr lang="en-US" sz="2000" dirty="0"/>
          </a:p>
        </p:txBody>
      </p:sp>
      <p:sp>
        <p:nvSpPr>
          <p:cNvPr id="10" name="Shape 7"/>
          <p:cNvSpPr/>
          <p:nvPr/>
        </p:nvSpPr>
        <p:spPr>
          <a:xfrm>
            <a:off x="548640" y="4617720"/>
            <a:ext cx="5455768" cy="1184910"/>
          </a:xfrm>
          <a:prstGeom prst="roundRect">
            <a:avLst>
              <a:gd name="adj" fmla="val 6174"/>
            </a:avLst>
          </a:prstGeom>
          <a:solidFill>
            <a:srgbClr val="F3F4F6"/>
          </a:solidFill>
          <a:ln w="12700">
            <a:solidFill>
              <a:srgbClr val="F3F4F6"/>
            </a:solidFill>
            <a:prstDash val="solid"/>
          </a:ln>
        </p:spPr>
      </p:sp>
      <p:sp>
        <p:nvSpPr>
          <p:cNvPr id="11" name="Text 8"/>
          <p:cNvSpPr txBox="1"/>
          <p:nvPr/>
        </p:nvSpPr>
        <p:spPr>
          <a:xfrm>
            <a:off x="777240" y="4736592"/>
            <a:ext cx="4998568" cy="1002030"/>
          </a:xfrm>
          <a:prstGeom prst="rect">
            <a:avLst/>
          </a:prstGeom>
          <a:noFill/>
          <a:ln/>
        </p:spPr>
        <p:txBody>
          <a:bodyPr wrap="square" lIns="0" tIns="0" rIns="0" bIns="0" rtlCol="0" anchor="t"/>
          <a:lstStyle/>
          <a:p>
            <a:pPr indent="0" marL="0">
              <a:buNone/>
            </a:pPr>
            <a:r>
              <a:rPr lang="en-US" sz="1800" b="1" dirty="0">
                <a:solidFill>
                  <a:srgbClr val="9C2630"/>
                </a:solidFill>
                <a:latin typeface="Calibri" pitchFamily="34" charset="0"/>
                <a:ea typeface="Calibri" pitchFamily="34" charset="-122"/>
                <a:cs typeface="Calibri" pitchFamily="34" charset="-120"/>
              </a:rPr>
              <a:t>new int[values.length]</a:t>
            </a:r>
            <a:endParaRPr lang="en-US" sz="1800" dirty="0"/>
          </a:p>
          <a:p>
            <a:pPr indent="0" marL="0">
              <a:buNone/>
            </a:pPr>
            <a:r>
              <a:rPr lang="en-US" sz="1600" dirty="0">
                <a:solidFill>
                  <a:srgbClr val="1F2328"/>
                </a:solidFill>
                <a:latin typeface="Calibri" pitchFamily="34" charset="0"/>
                <a:ea typeface="Calibri" pitchFamily="34" charset="-122"/>
                <a:cs typeface="Calibri" pitchFamily="34" charset="-120"/>
              </a:rPr>
              <a:t>A second array of the same length. The original is only read.</a:t>
            </a:r>
            <a:endParaRPr lang="en-US" sz="1800" dirty="0"/>
          </a:p>
        </p:txBody>
      </p:sp>
      <p:sp>
        <p:nvSpPr>
          <p:cNvPr id="12" name="Shape 9"/>
          <p:cNvSpPr/>
          <p:nvPr/>
        </p:nvSpPr>
        <p:spPr>
          <a:xfrm>
            <a:off x="6187288" y="4617720"/>
            <a:ext cx="5455768" cy="1184910"/>
          </a:xfrm>
          <a:prstGeom prst="roundRect">
            <a:avLst>
              <a:gd name="adj" fmla="val 6174"/>
            </a:avLst>
          </a:prstGeom>
          <a:solidFill>
            <a:srgbClr val="F3F4F6"/>
          </a:solidFill>
          <a:ln w="12700">
            <a:solidFill>
              <a:srgbClr val="F3F4F6"/>
            </a:solidFill>
            <a:prstDash val="solid"/>
          </a:ln>
        </p:spPr>
      </p:sp>
      <p:sp>
        <p:nvSpPr>
          <p:cNvPr id="13" name="Text 10"/>
          <p:cNvSpPr txBox="1"/>
          <p:nvPr/>
        </p:nvSpPr>
        <p:spPr>
          <a:xfrm>
            <a:off x="6415888" y="4736592"/>
            <a:ext cx="4998568" cy="1002030"/>
          </a:xfrm>
          <a:prstGeom prst="rect">
            <a:avLst/>
          </a:prstGeom>
          <a:noFill/>
          <a:ln/>
        </p:spPr>
        <p:txBody>
          <a:bodyPr wrap="square" lIns="0" tIns="0" rIns="0" bIns="0" rtlCol="0" anchor="t"/>
          <a:lstStyle/>
          <a:p>
            <a:pPr indent="0" marL="0">
              <a:buNone/>
            </a:pPr>
            <a:r>
              <a:rPr lang="en-US" sz="1800" b="1" dirty="0">
                <a:solidFill>
                  <a:srgbClr val="9C2630"/>
                </a:solidFill>
                <a:latin typeface="Calibri" pitchFamily="34" charset="0"/>
                <a:ea typeface="Calibri" pitchFamily="34" charset="-122"/>
                <a:cs typeface="Calibri" pitchFamily="34" charset="-120"/>
              </a:rPr>
              <a:t>values.length - 1 - i</a:t>
            </a:r>
            <a:endParaRPr lang="en-US" sz="1800" dirty="0"/>
          </a:p>
          <a:p>
            <a:pPr indent="0" marL="0">
              <a:buNone/>
            </a:pPr>
            <a:r>
              <a:rPr lang="en-US" sz="1600" dirty="0">
                <a:solidFill>
                  <a:srgbClr val="1F2328"/>
                </a:solidFill>
                <a:latin typeface="Calibri" pitchFamily="34" charset="0"/>
                <a:ea typeface="Calibri" pitchFamily="34" charset="-122"/>
                <a:cs typeface="Calibri" pitchFamily="34" charset="-120"/>
              </a:rPr>
              <a:t>The mirror position of i. Check it for i = 0 and for the last i.</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11  ·  CORE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NumberStats: a program with keyboard input</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12</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10180015" y="411480"/>
            <a:ext cx="1463040" cy="329184"/>
          </a:xfrm>
          <a:prstGeom prst="roundRect">
            <a:avLst>
              <a:gd name="adj" fmla="val 50000"/>
            </a:avLst>
          </a:prstGeom>
          <a:solidFill>
            <a:srgbClr val="C6333B"/>
          </a:solidFill>
          <a:ln w="12700">
            <a:solidFill>
              <a:srgbClr val="C6333B"/>
            </a:solidFill>
            <a:prstDash val="solid"/>
          </a:ln>
        </p:spPr>
      </p:sp>
      <p:sp>
        <p:nvSpPr>
          <p:cNvPr id="9" name="Text 5"/>
          <p:cNvSpPr txBox="1"/>
          <p:nvPr/>
        </p:nvSpPr>
        <p:spPr>
          <a:xfrm>
            <a:off x="10180015" y="411480"/>
            <a:ext cx="14630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13 min</a:t>
            </a:r>
            <a:endParaRPr lang="en-US" sz="1250" dirty="0"/>
          </a:p>
        </p:txBody>
      </p:sp>
      <p:sp>
        <p:nvSpPr>
          <p:cNvPr id="10" name="Shape 6"/>
          <p:cNvSpPr/>
          <p:nvPr/>
        </p:nvSpPr>
        <p:spPr>
          <a:xfrm>
            <a:off x="548640" y="1508760"/>
            <a:ext cx="5760720" cy="1066800"/>
          </a:xfrm>
          <a:prstGeom prst="roundRect">
            <a:avLst>
              <a:gd name="adj" fmla="val 10286"/>
            </a:avLst>
          </a:prstGeom>
          <a:solidFill>
            <a:srgbClr val="FBECED"/>
          </a:solidFill>
          <a:ln w="12700">
            <a:solidFill>
              <a:srgbClr val="FBECED"/>
            </a:solidFill>
            <a:prstDash val="solid"/>
          </a:ln>
        </p:spPr>
      </p:sp>
      <p:sp>
        <p:nvSpPr>
          <p:cNvPr id="11" name="Text 7"/>
          <p:cNvSpPr txBox="1"/>
          <p:nvPr/>
        </p:nvSpPr>
        <p:spPr>
          <a:xfrm>
            <a:off x="822960" y="1600200"/>
            <a:ext cx="5212080" cy="883920"/>
          </a:xfrm>
          <a:prstGeom prst="rect">
            <a:avLst/>
          </a:prstGeom>
          <a:noFill/>
          <a:ln/>
        </p:spPr>
        <p:txBody>
          <a:bodyPr wrap="square" lIns="0" tIns="0" rIns="0" bIns="0" rtlCol="0" anchor="t"/>
          <a:lstStyle/>
          <a:p>
            <a:pPr indent="0" marL="0">
              <a:buNone/>
            </a:pPr>
            <a:r>
              <a:rPr lang="en-US" sz="1200" b="1" spc="200" kern="0" dirty="0">
                <a:solidFill>
                  <a:srgbClr val="C6333B"/>
                </a:solidFill>
                <a:latin typeface="Calibri" pitchFamily="34" charset="0"/>
                <a:ea typeface="Calibri" pitchFamily="34" charset="-122"/>
                <a:cs typeface="Calibri" pitchFamily="34" charset="-120"/>
              </a:rPr>
              <a:t>GOAL  </a:t>
            </a:r>
            <a:endParaRPr lang="en-US" sz="1200" dirty="0"/>
          </a:p>
          <a:p>
            <a:pPr indent="0" marL="0">
              <a:buNone/>
            </a:pPr>
            <a:r>
              <a:rPr lang="en-US" sz="1700" dirty="0">
                <a:solidFill>
                  <a:srgbClr val="1F2328"/>
                </a:solidFill>
                <a:latin typeface="Calibri" pitchFamily="34" charset="0"/>
                <a:ea typeface="Calibri" pitchFamily="34" charset="-122"/>
                <a:cs typeface="Calibri" pitchFamily="34" charset="-120"/>
              </a:rPr>
              <a:t>Read some numbers from the keyboard into an array. Print the smallest, the largest and the average.</a:t>
            </a:r>
            <a:endParaRPr lang="en-US" sz="1200" dirty="0"/>
          </a:p>
        </p:txBody>
      </p:sp>
      <p:sp>
        <p:nvSpPr>
          <p:cNvPr id="12" name="Text 8"/>
          <p:cNvSpPr txBox="1"/>
          <p:nvPr/>
        </p:nvSpPr>
        <p:spPr>
          <a:xfrm>
            <a:off x="548640" y="2758440"/>
            <a:ext cx="5760720" cy="274320"/>
          </a:xfrm>
          <a:prstGeom prst="rect">
            <a:avLst/>
          </a:prstGeom>
          <a:noFill/>
          <a:ln/>
        </p:spPr>
        <p:txBody>
          <a:bodyPr wrap="square" lIns="0" tIns="0" rIns="0" bIns="0" rtlCol="0" anchor="ctr"/>
          <a:lstStyle/>
          <a:p>
            <a:pPr indent="0" marL="0">
              <a:buNone/>
            </a:pPr>
            <a:r>
              <a:rPr lang="en-US" sz="1200" b="1" spc="200" kern="0" dirty="0">
                <a:solidFill>
                  <a:srgbClr val="5B6470"/>
                </a:solidFill>
                <a:latin typeface="Calibri" pitchFamily="34" charset="0"/>
                <a:ea typeface="Calibri" pitchFamily="34" charset="-122"/>
                <a:cs typeface="Calibri" pitchFamily="34" charset="-120"/>
              </a:rPr>
              <a:t>WHAT TO DO</a:t>
            </a:r>
            <a:endParaRPr lang="en-US" sz="1200" dirty="0"/>
          </a:p>
        </p:txBody>
      </p:sp>
      <p:sp>
        <p:nvSpPr>
          <p:cNvPr id="13" name="Text 9"/>
          <p:cNvSpPr txBox="1"/>
          <p:nvPr/>
        </p:nvSpPr>
        <p:spPr>
          <a:xfrm>
            <a:off x="548640" y="3078480"/>
            <a:ext cx="5760720" cy="30480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Open src/main/java/NumberStats.java. The Scanner lines are already there.</a:t>
            </a:r>
            <a:endParaRPr lang="en-US" sz="1700" dirty="0"/>
          </a:p>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Create an int array with the length the user typed.</a:t>
            </a:r>
            <a:endParaRPr lang="en-US" sz="1700" dirty="0"/>
          </a:p>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Fill it in a loop with in.nextInt().</a:t>
            </a:r>
            <a:endParaRPr lang="en-US" sz="1700" dirty="0"/>
          </a:p>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Find smallest and largest in ONE loop. Start both with the first element.</a:t>
            </a:r>
            <a:endParaRPr lang="en-US" sz="1700" dirty="0"/>
          </a:p>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Print the three results as in the example. Watch the average: int division.</a:t>
            </a:r>
            <a:endParaRPr lang="en-US" sz="1700" dirty="0"/>
          </a:p>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Run it with the green arrow next to main. Commit.</a:t>
            </a:r>
            <a:endParaRPr lang="en-US" sz="1700" dirty="0"/>
          </a:p>
        </p:txBody>
      </p:sp>
      <p:sp>
        <p:nvSpPr>
          <p:cNvPr id="14" name="Shape 10"/>
          <p:cNvSpPr/>
          <p:nvPr/>
        </p:nvSpPr>
        <p:spPr>
          <a:xfrm>
            <a:off x="6675120" y="1508760"/>
            <a:ext cx="4967935" cy="1965960"/>
          </a:xfrm>
          <a:prstGeom prst="roundRect">
            <a:avLst>
              <a:gd name="adj" fmla="val 4651"/>
            </a:avLst>
          </a:prstGeom>
          <a:solidFill>
            <a:srgbClr val="1B2029"/>
          </a:solidFill>
          <a:ln w="12700">
            <a:solidFill>
              <a:srgbClr val="1B2029"/>
            </a:solidFill>
            <a:prstDash val="solid"/>
          </a:ln>
        </p:spPr>
      </p:sp>
      <p:sp>
        <p:nvSpPr>
          <p:cNvPr id="15" name="Text 11"/>
          <p:cNvSpPr txBox="1"/>
          <p:nvPr/>
        </p:nvSpPr>
        <p:spPr>
          <a:xfrm>
            <a:off x="6931152" y="1618488"/>
            <a:ext cx="445587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EXPECTED CONSOLE SESSION</a:t>
            </a:r>
            <a:endParaRPr lang="en-US" sz="1100" dirty="0"/>
          </a:p>
        </p:txBody>
      </p:sp>
      <p:sp>
        <p:nvSpPr>
          <p:cNvPr id="16" name="Text 12"/>
          <p:cNvSpPr txBox="1"/>
          <p:nvPr/>
        </p:nvSpPr>
        <p:spPr>
          <a:xfrm>
            <a:off x="6931152" y="1965960"/>
            <a:ext cx="4455871" cy="1325880"/>
          </a:xfrm>
          <a:prstGeom prst="rect">
            <a:avLst/>
          </a:prstGeom>
          <a:noFill/>
          <a:ln/>
        </p:spPr>
        <p:txBody>
          <a:bodyPr wrap="none" lIns="0" tIns="0" rIns="0" bIns="0" rtlCol="0" anchor="t"/>
          <a:lstStyle/>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How many numbers? 4</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Enter 4 numbers: 8 10 7 9</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Smallest: 7</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Largest: 10</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Average: 8.5</a:t>
            </a:r>
            <a:endParaRPr lang="en-US" sz="1600" dirty="0"/>
          </a:p>
        </p:txBody>
      </p:sp>
      <p:sp>
        <p:nvSpPr>
          <p:cNvPr id="17" name="Shape 13"/>
          <p:cNvSpPr/>
          <p:nvPr/>
        </p:nvSpPr>
        <p:spPr>
          <a:xfrm>
            <a:off x="6675120" y="3657600"/>
            <a:ext cx="4967935" cy="2468880"/>
          </a:xfrm>
          <a:prstGeom prst="roundRect">
            <a:avLst>
              <a:gd name="adj" fmla="val 4444"/>
            </a:avLst>
          </a:prstGeom>
          <a:solidFill>
            <a:srgbClr val="E7F5EC"/>
          </a:solidFill>
          <a:ln w="12700">
            <a:solidFill>
              <a:srgbClr val="E7F5EC"/>
            </a:solidFill>
            <a:prstDash val="solid"/>
          </a:ln>
        </p:spPr>
      </p:sp>
      <p:sp>
        <p:nvSpPr>
          <p:cNvPr id="18" name="Text 14"/>
          <p:cNvSpPr txBox="1"/>
          <p:nvPr/>
        </p:nvSpPr>
        <p:spPr>
          <a:xfrm>
            <a:off x="6949440" y="3794760"/>
            <a:ext cx="4419295" cy="274320"/>
          </a:xfrm>
          <a:prstGeom prst="rect">
            <a:avLst/>
          </a:prstGeom>
          <a:noFill/>
          <a:ln/>
        </p:spPr>
        <p:txBody>
          <a:bodyPr wrap="square" lIns="0" tIns="0" rIns="0" bIns="0" rtlCol="0" anchor="ctr"/>
          <a:lstStyle/>
          <a:p>
            <a:pPr indent="0" marL="0">
              <a:buNone/>
            </a:pPr>
            <a:r>
              <a:rPr lang="en-US" sz="1200" b="1" spc="200" kern="0" dirty="0">
                <a:solidFill>
                  <a:srgbClr val="1E7F4F"/>
                </a:solidFill>
                <a:latin typeface="Calibri" pitchFamily="34" charset="0"/>
                <a:ea typeface="Calibri" pitchFamily="34" charset="-122"/>
                <a:cs typeface="Calibri" pitchFamily="34" charset="-120"/>
              </a:rPr>
              <a:t>DONE WHEN</a:t>
            </a:r>
            <a:endParaRPr lang="en-US" sz="1200" dirty="0"/>
          </a:p>
        </p:txBody>
      </p:sp>
      <p:sp>
        <p:nvSpPr>
          <p:cNvPr id="19" name="Text 15"/>
          <p:cNvSpPr txBox="1"/>
          <p:nvPr/>
        </p:nvSpPr>
        <p:spPr>
          <a:xfrm>
            <a:off x="6949440" y="4133088"/>
            <a:ext cx="4419295" cy="18745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The example gives exactly this output</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One number only also works</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You can say why (double) is needed for the average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STRETCH TASKS</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For those who are done early</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13</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792458"/>
                <a:gridCol w="2905680"/>
                <a:gridCol w="4666698"/>
                <a:gridCol w="2729578"/>
              </a:tblGrid>
              <a:tr h="9144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Task</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it returns</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Example</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62B33"/>
                    </a:solidFill>
                  </a:tcPr>
                </a:tc>
              </a:tr>
              <a:tr h="91440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secondLargest(values)</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the second largest value</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 9, 9, 7} gives 7</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r>
              <a:tr h="91440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1F2328"/>
                          </a:solidFill>
                          <a:latin typeface="Consolas" pitchFamily="34" charset="0"/>
                          <a:ea typeface="Consolas" pitchFamily="34" charset="-122"/>
                          <a:cs typeface="Consolas" pitchFamily="34" charset="-120"/>
                        </a:rPr>
                        <a:t>pascal(n)</a:t>
                      </a:r>
                      <a:endParaRPr lang="en-US" sz="1700" dirty="0">
                        <a:latin typeface="Consolas" charset="0"/>
                        <a:ea typeface="Consolas" charset="0"/>
                        <a:cs typeface="Consolas"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the first n rows of Pascal's triangle as a jagged array</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row 3 is {1, 3, 3, 1}</a:t>
                      </a:r>
                      <a:endParaRPr lang="en-US" sz="1800" dirty="0">
                        <a:latin typeface="Calibri" charset="0"/>
                        <a:ea typeface="Calibri" charset="0"/>
                        <a:cs typeface="Calibri" charset="0"/>
                      </a:endParaRPr>
                    </a:p>
                  </a:txBody>
                  <a:tcPr marL="109728" marR="109728"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548640" y="5120640"/>
            <a:ext cx="11094415" cy="822960"/>
          </a:xfrm>
          <a:prstGeom prst="rect">
            <a:avLst/>
          </a:prstGeom>
          <a:noFill/>
          <a:ln/>
        </p:spPr>
        <p:txBody>
          <a:bodyPr wrap="square" lIns="0" tIns="0" rIns="0" bIns="0" rtlCol="0" anchor="t"/>
          <a:lstStyle/>
          <a:p>
            <a:pPr indent="0" marL="0">
              <a:buNone/>
            </a:pPr>
            <a:r>
              <a:rPr lang="en-US" sz="1500" dirty="0">
                <a:solidFill>
                  <a:srgbClr val="5B6470"/>
                </a:solidFill>
                <a:latin typeface="Calibri" pitchFamily="34" charset="0"/>
                <a:ea typeface="Calibri" pitchFamily="34" charset="-122"/>
                <a:cs typeface="Calibri" pitchFamily="34" charset="-120"/>
              </a:rPr>
              <a:t>Their tests are in StretchTest. In task B every row has its own length: row number plus one. Create each row with new int[row + 1].</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WHEN A TEST STAYS RED</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The four usual suspects</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14</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7" name="Shape 4"/>
          <p:cNvSpPr/>
          <p:nvPr/>
        </p:nvSpPr>
        <p:spPr>
          <a:xfrm>
            <a:off x="548640" y="1572768"/>
            <a:ext cx="457200" cy="457200"/>
          </a:xfrm>
          <a:prstGeom prst="ellipse">
            <a:avLst/>
          </a:prstGeom>
          <a:solidFill>
            <a:srgbClr val="262B33"/>
          </a:solidFill>
          <a:ln w="12700">
            <a:solidFill>
              <a:srgbClr val="262B33"/>
            </a:solidFill>
            <a:prstDash val="solid"/>
          </a:ln>
        </p:spPr>
      </p:sp>
      <p:sp>
        <p:nvSpPr>
          <p:cNvPr id="8" name="Text 5"/>
          <p:cNvSpPr txBox="1"/>
          <p:nvPr/>
        </p:nvSpPr>
        <p:spPr>
          <a:xfrm>
            <a:off x="548640" y="1572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234440" y="1554480"/>
            <a:ext cx="5989320" cy="971042"/>
          </a:xfrm>
          <a:prstGeom prst="rect">
            <a:avLst/>
          </a:prstGeom>
          <a:noFill/>
          <a:ln/>
        </p:spPr>
        <p:txBody>
          <a:bodyPr wrap="square" lIns="0" tIns="0" rIns="0" bIns="0" rtlCol="0" anchor="t"/>
          <a:lstStyle/>
          <a:p>
            <a:pPr indent="0" marL="0">
              <a:buNone/>
            </a:pPr>
            <a:r>
              <a:rPr lang="en-US" sz="2200" b="1" dirty="0">
                <a:solidFill>
                  <a:srgbClr val="1F2328"/>
                </a:solidFill>
                <a:latin typeface="Calibri" pitchFamily="34" charset="0"/>
                <a:ea typeface="Calibri" pitchFamily="34" charset="-122"/>
                <a:cs typeface="Calibri" pitchFamily="34" charset="-120"/>
              </a:rPr>
              <a:t>Off by one</a:t>
            </a:r>
            <a:endParaRPr lang="en-US" sz="2200" dirty="0"/>
          </a:p>
          <a:p>
            <a:pPr indent="0" marL="0">
              <a:buNone/>
            </a:pPr>
            <a:r>
              <a:rPr lang="en-US" sz="1800" dirty="0">
                <a:solidFill>
                  <a:srgbClr val="5B6470"/>
                </a:solidFill>
                <a:latin typeface="Calibri" pitchFamily="34" charset="0"/>
                <a:ea typeface="Calibri" pitchFamily="34" charset="-122"/>
                <a:cs typeface="Calibri" pitchFamily="34" charset="-120"/>
              </a:rPr>
              <a:t>i &lt;= values.length runs one step too far. The exception names the bad index.</a:t>
            </a:r>
            <a:endParaRPr lang="en-US" sz="2200" dirty="0"/>
          </a:p>
        </p:txBody>
      </p:sp>
      <p:sp>
        <p:nvSpPr>
          <p:cNvPr id="10" name="Shape 7"/>
          <p:cNvSpPr/>
          <p:nvPr/>
        </p:nvSpPr>
        <p:spPr>
          <a:xfrm>
            <a:off x="548640" y="2772918"/>
            <a:ext cx="457200" cy="457200"/>
          </a:xfrm>
          <a:prstGeom prst="ellipse">
            <a:avLst/>
          </a:prstGeom>
          <a:solidFill>
            <a:srgbClr val="262B33"/>
          </a:solidFill>
          <a:ln w="12700">
            <a:solidFill>
              <a:srgbClr val="262B33"/>
            </a:solidFill>
            <a:prstDash val="solid"/>
          </a:ln>
        </p:spPr>
      </p:sp>
      <p:sp>
        <p:nvSpPr>
          <p:cNvPr id="11" name="Text 8"/>
          <p:cNvSpPr txBox="1"/>
          <p:nvPr/>
        </p:nvSpPr>
        <p:spPr>
          <a:xfrm>
            <a:off x="548640" y="277291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234440" y="2754630"/>
            <a:ext cx="5989320" cy="971042"/>
          </a:xfrm>
          <a:prstGeom prst="rect">
            <a:avLst/>
          </a:prstGeom>
          <a:noFill/>
          <a:ln/>
        </p:spPr>
        <p:txBody>
          <a:bodyPr wrap="square" lIns="0" tIns="0" rIns="0" bIns="0" rtlCol="0" anchor="t"/>
          <a:lstStyle/>
          <a:p>
            <a:pPr indent="0" marL="0">
              <a:buNone/>
            </a:pPr>
            <a:r>
              <a:rPr lang="en-US" sz="2200" b="1" dirty="0">
                <a:solidFill>
                  <a:srgbClr val="1F2328"/>
                </a:solidFill>
                <a:latin typeface="Calibri" pitchFamily="34" charset="0"/>
                <a:ea typeface="Calibri" pitchFamily="34" charset="-122"/>
                <a:cs typeface="Calibri" pitchFamily="34" charset="-120"/>
              </a:rPr>
              <a:t>Wrong start value</a:t>
            </a:r>
            <a:endParaRPr lang="en-US" sz="2200" dirty="0"/>
          </a:p>
          <a:p>
            <a:pPr indent="0" marL="0">
              <a:buNone/>
            </a:pPr>
            <a:r>
              <a:rPr lang="en-US" sz="1800" dirty="0">
                <a:solidFill>
                  <a:srgbClr val="5B6470"/>
                </a:solidFill>
                <a:latin typeface="Calibri" pitchFamily="34" charset="0"/>
                <a:ea typeface="Calibri" pitchFamily="34" charset="-122"/>
                <a:cs typeface="Calibri" pitchFamily="34" charset="-120"/>
              </a:rPr>
              <a:t>A maximum that starts at 0 fails for negative numbers. Start with the first element.</a:t>
            </a:r>
            <a:endParaRPr lang="en-US" sz="2200" dirty="0"/>
          </a:p>
        </p:txBody>
      </p:sp>
      <p:sp>
        <p:nvSpPr>
          <p:cNvPr id="13" name="Shape 10"/>
          <p:cNvSpPr/>
          <p:nvPr/>
        </p:nvSpPr>
        <p:spPr>
          <a:xfrm>
            <a:off x="548640" y="3973068"/>
            <a:ext cx="457200" cy="457200"/>
          </a:xfrm>
          <a:prstGeom prst="ellipse">
            <a:avLst/>
          </a:prstGeom>
          <a:solidFill>
            <a:srgbClr val="262B33"/>
          </a:solidFill>
          <a:ln w="12700">
            <a:solidFill>
              <a:srgbClr val="262B33"/>
            </a:solidFill>
            <a:prstDash val="solid"/>
          </a:ln>
        </p:spPr>
      </p:sp>
      <p:sp>
        <p:nvSpPr>
          <p:cNvPr id="14" name="Text 11"/>
          <p:cNvSpPr txBox="1"/>
          <p:nvPr/>
        </p:nvSpPr>
        <p:spPr>
          <a:xfrm>
            <a:off x="548640" y="39730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954780"/>
            <a:ext cx="5989320" cy="696722"/>
          </a:xfrm>
          <a:prstGeom prst="rect">
            <a:avLst/>
          </a:prstGeom>
          <a:noFill/>
          <a:ln/>
        </p:spPr>
        <p:txBody>
          <a:bodyPr wrap="square" lIns="0" tIns="0" rIns="0" bIns="0" rtlCol="0" anchor="t"/>
          <a:lstStyle/>
          <a:p>
            <a:pPr indent="0" marL="0">
              <a:buNone/>
            </a:pPr>
            <a:r>
              <a:rPr lang="en-US" sz="2200" b="1" dirty="0">
                <a:solidFill>
                  <a:srgbClr val="1F2328"/>
                </a:solidFill>
                <a:latin typeface="Calibri" pitchFamily="34" charset="0"/>
                <a:ea typeface="Calibri" pitchFamily="34" charset="-122"/>
                <a:cs typeface="Calibri" pitchFamily="34" charset="-120"/>
              </a:rPr>
              <a:t>int division</a:t>
            </a:r>
            <a:endParaRPr lang="en-US" sz="2200" dirty="0"/>
          </a:p>
          <a:p>
            <a:pPr indent="0" marL="0">
              <a:buNone/>
            </a:pPr>
            <a:r>
              <a:rPr lang="en-US" sz="1800" dirty="0">
                <a:solidFill>
                  <a:srgbClr val="5B6470"/>
                </a:solidFill>
                <a:latin typeface="Calibri" pitchFamily="34" charset="0"/>
                <a:ea typeface="Calibri" pitchFamily="34" charset="-122"/>
                <a:cs typeface="Calibri" pitchFamily="34" charset="-120"/>
              </a:rPr>
              <a:t>sum / count cuts the decimals. Cast one side to double.</a:t>
            </a:r>
            <a:endParaRPr lang="en-US" sz="2200" dirty="0"/>
          </a:p>
        </p:txBody>
      </p:sp>
      <p:sp>
        <p:nvSpPr>
          <p:cNvPr id="16" name="Shape 13"/>
          <p:cNvSpPr/>
          <p:nvPr/>
        </p:nvSpPr>
        <p:spPr>
          <a:xfrm>
            <a:off x="548640" y="4898898"/>
            <a:ext cx="457200" cy="457200"/>
          </a:xfrm>
          <a:prstGeom prst="ellipse">
            <a:avLst/>
          </a:prstGeom>
          <a:solidFill>
            <a:srgbClr val="262B33"/>
          </a:solidFill>
          <a:ln w="12700">
            <a:solidFill>
              <a:srgbClr val="262B33"/>
            </a:solidFill>
            <a:prstDash val="solid"/>
          </a:ln>
        </p:spPr>
      </p:sp>
      <p:sp>
        <p:nvSpPr>
          <p:cNvPr id="17" name="Text 14"/>
          <p:cNvSpPr txBox="1"/>
          <p:nvPr/>
        </p:nvSpPr>
        <p:spPr>
          <a:xfrm>
            <a:off x="548640" y="489889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5"/>
          <p:cNvSpPr txBox="1"/>
          <p:nvPr/>
        </p:nvSpPr>
        <p:spPr>
          <a:xfrm>
            <a:off x="1234440" y="4880610"/>
            <a:ext cx="5989320" cy="971042"/>
          </a:xfrm>
          <a:prstGeom prst="rect">
            <a:avLst/>
          </a:prstGeom>
          <a:noFill/>
          <a:ln/>
        </p:spPr>
        <p:txBody>
          <a:bodyPr wrap="square" lIns="0" tIns="0" rIns="0" bIns="0" rtlCol="0" anchor="t"/>
          <a:lstStyle/>
          <a:p>
            <a:pPr indent="0" marL="0">
              <a:buNone/>
            </a:pPr>
            <a:r>
              <a:rPr lang="en-US" sz="2200" b="1" dirty="0">
                <a:solidFill>
                  <a:srgbClr val="1F2328"/>
                </a:solidFill>
                <a:latin typeface="Calibri" pitchFamily="34" charset="0"/>
                <a:ea typeface="Calibri" pitchFamily="34" charset="-122"/>
                <a:cs typeface="Calibri" pitchFamily="34" charset="-120"/>
              </a:rPr>
              <a:t>Changing what you were given</a:t>
            </a:r>
            <a:endParaRPr lang="en-US" sz="2200" dirty="0"/>
          </a:p>
          <a:p>
            <a:pPr indent="0" marL="0">
              <a:buNone/>
            </a:pPr>
            <a:r>
              <a:rPr lang="en-US" sz="1800" dirty="0">
                <a:solidFill>
                  <a:srgbClr val="5B6470"/>
                </a:solidFill>
                <a:latin typeface="Calibri" pitchFamily="34" charset="0"/>
                <a:ea typeface="Calibri" pitchFamily="34" charset="-122"/>
                <a:cs typeface="Calibri" pitchFamily="34" charset="-120"/>
              </a:rPr>
              <a:t>A method that must return a new array must not write into its parameter.</a:t>
            </a:r>
            <a:endParaRPr lang="en-US" sz="2200" dirty="0"/>
          </a:p>
        </p:txBody>
      </p:sp>
      <p:sp>
        <p:nvSpPr>
          <p:cNvPr id="19" name="Shape 16"/>
          <p:cNvSpPr/>
          <p:nvPr/>
        </p:nvSpPr>
        <p:spPr>
          <a:xfrm>
            <a:off x="7680960" y="1508760"/>
            <a:ext cx="3962095" cy="4480560"/>
          </a:xfrm>
          <a:prstGeom prst="roundRect">
            <a:avLst>
              <a:gd name="adj" fmla="val 2769"/>
            </a:avLst>
          </a:prstGeom>
          <a:solidFill>
            <a:srgbClr val="FBECED"/>
          </a:solidFill>
          <a:ln w="12700">
            <a:solidFill>
              <a:srgbClr val="FBECED"/>
            </a:solidFill>
            <a:prstDash val="solid"/>
          </a:ln>
        </p:spPr>
      </p:sp>
      <p:sp>
        <p:nvSpPr>
          <p:cNvPr id="20" name="Shape 17"/>
          <p:cNvSpPr/>
          <p:nvPr/>
        </p:nvSpPr>
        <p:spPr>
          <a:xfrm>
            <a:off x="7955280" y="1783080"/>
            <a:ext cx="502920" cy="502920"/>
          </a:xfrm>
          <a:prstGeom prst="ellipse">
            <a:avLst/>
          </a:prstGeom>
          <a:solidFill>
            <a:srgbClr val="C6333B"/>
          </a:solidFill>
          <a:ln w="12700">
            <a:solidFill>
              <a:srgbClr val="C6333B"/>
            </a:solidFill>
            <a:prstDash val="solid"/>
          </a:ln>
        </p:spPr>
      </p:sp>
      <p:sp>
        <p:nvSpPr>
          <p:cNvPr id="21" name="Text 18"/>
          <p:cNvSpPr txBox="1"/>
          <p:nvPr/>
        </p:nvSpPr>
        <p:spPr>
          <a:xfrm>
            <a:off x="8595360" y="1783080"/>
            <a:ext cx="277337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Use the debugger</a:t>
            </a:r>
            <a:endParaRPr lang="en-US" sz="1700" dirty="0"/>
          </a:p>
        </p:txBody>
      </p:sp>
      <p:sp>
        <p:nvSpPr>
          <p:cNvPr id="22" name="Text 19"/>
          <p:cNvSpPr txBox="1"/>
          <p:nvPr/>
        </p:nvSpPr>
        <p:spPr>
          <a:xfrm>
            <a:off x="7955280" y="2468880"/>
            <a:ext cx="3413455" cy="324612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Right click a single test and choose Debug.</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Set a breakpoint inside your method and watch the loop run, one round at a time.</a:t>
            </a:r>
            <a:endParaRPr lang="en-US" sz="1800" dirty="0"/>
          </a:p>
        </p:txBody>
      </p:sp>
      <p:pic>
        <p:nvPicPr>
          <p:cNvPr id="23" name="Image 1" descr="preencoded.png">    </p:cNvPr>
          <p:cNvPicPr>
            <a:picLocks noChangeAspect="1"/>
          </p:cNvPicPr>
          <p:nvPr/>
        </p:nvPicPr>
        <p:blipFill>
          <a:blip r:embed="rId2"/>
          <a:stretch>
            <a:fillRect/>
          </a:stretch>
        </p:blipFill>
        <p:spPr>
          <a:xfrm>
            <a:off x="8075981" y="1903781"/>
            <a:ext cx="261518" cy="2615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BEFORE YOU LEAVE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Done for today when all of this is true</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2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15</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548640" y="1600200"/>
            <a:ext cx="5364328" cy="740664"/>
          </a:xfrm>
          <a:prstGeom prst="roundRect">
            <a:avLst>
              <a:gd name="adj" fmla="val 14815"/>
            </a:avLst>
          </a:prstGeom>
          <a:solidFill>
            <a:srgbClr val="F3F4F6"/>
          </a:solidFill>
          <a:ln w="12700">
            <a:solidFill>
              <a:srgbClr val="F3F4F6"/>
            </a:solidFill>
            <a:prstDash val="solid"/>
          </a:ln>
        </p:spPr>
      </p:sp>
      <p:sp>
        <p:nvSpPr>
          <p:cNvPr id="9" name="Shape 5"/>
          <p:cNvSpPr/>
          <p:nvPr/>
        </p:nvSpPr>
        <p:spPr>
          <a:xfrm>
            <a:off x="777240" y="1815084"/>
            <a:ext cx="310896" cy="310896"/>
          </a:xfrm>
          <a:prstGeom prst="roundRect">
            <a:avLst>
              <a:gd name="adj" fmla="val 14706"/>
            </a:avLst>
          </a:prstGeom>
          <a:solidFill>
            <a:srgbClr val="FFFFFF"/>
          </a:solidFill>
          <a:ln w="19050">
            <a:solidFill>
              <a:srgbClr val="5B6470"/>
            </a:solidFill>
            <a:prstDash val="solid"/>
          </a:ln>
        </p:spPr>
      </p:sp>
      <p:sp>
        <p:nvSpPr>
          <p:cNvPr id="10" name="Text 6"/>
          <p:cNvSpPr txBox="1"/>
          <p:nvPr/>
        </p:nvSpPr>
        <p:spPr>
          <a:xfrm>
            <a:off x="1325880" y="160020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Tests task01 to task10 are green</a:t>
            </a:r>
            <a:endParaRPr lang="en-US" sz="1600" dirty="0"/>
          </a:p>
        </p:txBody>
      </p:sp>
      <p:sp>
        <p:nvSpPr>
          <p:cNvPr id="11" name="Shape 7"/>
          <p:cNvSpPr/>
          <p:nvPr/>
        </p:nvSpPr>
        <p:spPr>
          <a:xfrm>
            <a:off x="548640" y="2468880"/>
            <a:ext cx="5364328" cy="740664"/>
          </a:xfrm>
          <a:prstGeom prst="roundRect">
            <a:avLst>
              <a:gd name="adj" fmla="val 14815"/>
            </a:avLst>
          </a:prstGeom>
          <a:solidFill>
            <a:srgbClr val="F3F4F6"/>
          </a:solidFill>
          <a:ln w="12700">
            <a:solidFill>
              <a:srgbClr val="F3F4F6"/>
            </a:solidFill>
            <a:prstDash val="solid"/>
          </a:ln>
        </p:spPr>
      </p:sp>
      <p:sp>
        <p:nvSpPr>
          <p:cNvPr id="12" name="Shape 8"/>
          <p:cNvSpPr/>
          <p:nvPr/>
        </p:nvSpPr>
        <p:spPr>
          <a:xfrm>
            <a:off x="777240" y="2683764"/>
            <a:ext cx="310896" cy="310896"/>
          </a:xfrm>
          <a:prstGeom prst="roundRect">
            <a:avLst>
              <a:gd name="adj" fmla="val 14706"/>
            </a:avLst>
          </a:prstGeom>
          <a:solidFill>
            <a:srgbClr val="FFFFFF"/>
          </a:solidFill>
          <a:ln w="19050">
            <a:solidFill>
              <a:srgbClr val="5B6470"/>
            </a:solidFill>
            <a:prstDash val="solid"/>
          </a:ln>
        </p:spPr>
      </p:sp>
      <p:sp>
        <p:nvSpPr>
          <p:cNvPr id="13" name="Text 9"/>
          <p:cNvSpPr txBox="1"/>
          <p:nvPr/>
        </p:nvSpPr>
        <p:spPr>
          <a:xfrm>
            <a:off x="1325880" y="246888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NumberStats prints the example output</a:t>
            </a:r>
            <a:endParaRPr lang="en-US" sz="1600" dirty="0"/>
          </a:p>
        </p:txBody>
      </p:sp>
      <p:sp>
        <p:nvSpPr>
          <p:cNvPr id="14" name="Shape 10"/>
          <p:cNvSpPr/>
          <p:nvPr/>
        </p:nvSpPr>
        <p:spPr>
          <a:xfrm>
            <a:off x="548640" y="3337560"/>
            <a:ext cx="5364328" cy="740664"/>
          </a:xfrm>
          <a:prstGeom prst="roundRect">
            <a:avLst>
              <a:gd name="adj" fmla="val 14815"/>
            </a:avLst>
          </a:prstGeom>
          <a:solidFill>
            <a:srgbClr val="F3F4F6"/>
          </a:solidFill>
          <a:ln w="12700">
            <a:solidFill>
              <a:srgbClr val="F3F4F6"/>
            </a:solidFill>
            <a:prstDash val="solid"/>
          </a:ln>
        </p:spPr>
      </p:sp>
      <p:sp>
        <p:nvSpPr>
          <p:cNvPr id="15" name="Shape 11"/>
          <p:cNvSpPr/>
          <p:nvPr/>
        </p:nvSpPr>
        <p:spPr>
          <a:xfrm>
            <a:off x="777240" y="3552444"/>
            <a:ext cx="310896" cy="310896"/>
          </a:xfrm>
          <a:prstGeom prst="roundRect">
            <a:avLst>
              <a:gd name="adj" fmla="val 14706"/>
            </a:avLst>
          </a:prstGeom>
          <a:solidFill>
            <a:srgbClr val="FFFFFF"/>
          </a:solidFill>
          <a:ln w="19050">
            <a:solidFill>
              <a:srgbClr val="5B6470"/>
            </a:solidFill>
            <a:prstDash val="solid"/>
          </a:ln>
        </p:spPr>
      </p:sp>
      <p:sp>
        <p:nvSpPr>
          <p:cNvPr id="16" name="Text 12"/>
          <p:cNvSpPr txBox="1"/>
          <p:nvPr/>
        </p:nvSpPr>
        <p:spPr>
          <a:xfrm>
            <a:off x="1325880" y="333756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Every solved task has its own commit</a:t>
            </a:r>
            <a:endParaRPr lang="en-US" sz="1600" dirty="0"/>
          </a:p>
        </p:txBody>
      </p:sp>
      <p:sp>
        <p:nvSpPr>
          <p:cNvPr id="17" name="Shape 13"/>
          <p:cNvSpPr/>
          <p:nvPr/>
        </p:nvSpPr>
        <p:spPr>
          <a:xfrm>
            <a:off x="6278728" y="1600200"/>
            <a:ext cx="5364328" cy="740664"/>
          </a:xfrm>
          <a:prstGeom prst="roundRect">
            <a:avLst>
              <a:gd name="adj" fmla="val 14815"/>
            </a:avLst>
          </a:prstGeom>
          <a:solidFill>
            <a:srgbClr val="F3F4F6"/>
          </a:solidFill>
          <a:ln w="12700">
            <a:solidFill>
              <a:srgbClr val="F3F4F6"/>
            </a:solidFill>
            <a:prstDash val="solid"/>
          </a:ln>
        </p:spPr>
      </p:sp>
      <p:sp>
        <p:nvSpPr>
          <p:cNvPr id="18" name="Shape 14"/>
          <p:cNvSpPr/>
          <p:nvPr/>
        </p:nvSpPr>
        <p:spPr>
          <a:xfrm>
            <a:off x="6507328" y="1815084"/>
            <a:ext cx="310896" cy="310896"/>
          </a:xfrm>
          <a:prstGeom prst="roundRect">
            <a:avLst>
              <a:gd name="adj" fmla="val 14706"/>
            </a:avLst>
          </a:prstGeom>
          <a:solidFill>
            <a:srgbClr val="FFFFFF"/>
          </a:solidFill>
          <a:ln w="19050">
            <a:solidFill>
              <a:srgbClr val="5B6470"/>
            </a:solidFill>
            <a:prstDash val="solid"/>
          </a:ln>
        </p:spPr>
      </p:sp>
      <p:sp>
        <p:nvSpPr>
          <p:cNvPr id="19" name="Text 15"/>
          <p:cNvSpPr txBox="1"/>
          <p:nvPr/>
        </p:nvSpPr>
        <p:spPr>
          <a:xfrm>
            <a:off x="7055968" y="160020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git push is done, and you checked it on github.com</a:t>
            </a:r>
            <a:endParaRPr lang="en-US" sz="1600" dirty="0"/>
          </a:p>
        </p:txBody>
      </p:sp>
      <p:sp>
        <p:nvSpPr>
          <p:cNvPr id="20" name="Shape 16"/>
          <p:cNvSpPr/>
          <p:nvPr/>
        </p:nvSpPr>
        <p:spPr>
          <a:xfrm>
            <a:off x="6278728" y="2468880"/>
            <a:ext cx="5364328" cy="740664"/>
          </a:xfrm>
          <a:prstGeom prst="roundRect">
            <a:avLst>
              <a:gd name="adj" fmla="val 14815"/>
            </a:avLst>
          </a:prstGeom>
          <a:solidFill>
            <a:srgbClr val="F3F4F6"/>
          </a:solidFill>
          <a:ln w="12700">
            <a:solidFill>
              <a:srgbClr val="F3F4F6"/>
            </a:solidFill>
            <a:prstDash val="solid"/>
          </a:ln>
        </p:spPr>
      </p:sp>
      <p:sp>
        <p:nvSpPr>
          <p:cNvPr id="21" name="Shape 17"/>
          <p:cNvSpPr/>
          <p:nvPr/>
        </p:nvSpPr>
        <p:spPr>
          <a:xfrm>
            <a:off x="6507328" y="2683764"/>
            <a:ext cx="310896" cy="310896"/>
          </a:xfrm>
          <a:prstGeom prst="roundRect">
            <a:avLst>
              <a:gd name="adj" fmla="val 14706"/>
            </a:avLst>
          </a:prstGeom>
          <a:solidFill>
            <a:srgbClr val="FFFFFF"/>
          </a:solidFill>
          <a:ln w="19050">
            <a:solidFill>
              <a:srgbClr val="5B6470"/>
            </a:solidFill>
            <a:prstDash val="solid"/>
          </a:ln>
        </p:spPr>
      </p:sp>
      <p:sp>
        <p:nvSpPr>
          <p:cNvPr id="22" name="Text 18"/>
          <p:cNvSpPr txBox="1"/>
          <p:nvPr/>
        </p:nvSpPr>
        <p:spPr>
          <a:xfrm>
            <a:off x="7055968" y="246888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The folder week02 is in your repository next to week01</a:t>
            </a:r>
            <a:endParaRPr lang="en-US" sz="1600" dirty="0"/>
          </a:p>
        </p:txBody>
      </p:sp>
      <p:sp>
        <p:nvSpPr>
          <p:cNvPr id="23" name="Shape 19"/>
          <p:cNvSpPr/>
          <p:nvPr/>
        </p:nvSpPr>
        <p:spPr>
          <a:xfrm>
            <a:off x="6278728" y="3337560"/>
            <a:ext cx="5364328" cy="740664"/>
          </a:xfrm>
          <a:prstGeom prst="roundRect">
            <a:avLst>
              <a:gd name="adj" fmla="val 14815"/>
            </a:avLst>
          </a:prstGeom>
          <a:solidFill>
            <a:srgbClr val="F3F4F6"/>
          </a:solidFill>
          <a:ln w="12700">
            <a:solidFill>
              <a:srgbClr val="F3F4F6"/>
            </a:solidFill>
            <a:prstDash val="solid"/>
          </a:ln>
        </p:spPr>
      </p:sp>
      <p:sp>
        <p:nvSpPr>
          <p:cNvPr id="24" name="Shape 20"/>
          <p:cNvSpPr/>
          <p:nvPr/>
        </p:nvSpPr>
        <p:spPr>
          <a:xfrm>
            <a:off x="6507328" y="3552444"/>
            <a:ext cx="310896" cy="310896"/>
          </a:xfrm>
          <a:prstGeom prst="roundRect">
            <a:avLst>
              <a:gd name="adj" fmla="val 14706"/>
            </a:avLst>
          </a:prstGeom>
          <a:solidFill>
            <a:srgbClr val="FFFFFF"/>
          </a:solidFill>
          <a:ln w="19050">
            <a:solidFill>
              <a:srgbClr val="5B6470"/>
            </a:solidFill>
            <a:prstDash val="solid"/>
          </a:ln>
        </p:spPr>
      </p:sp>
      <p:sp>
        <p:nvSpPr>
          <p:cNvPr id="25" name="Text 21"/>
          <p:cNvSpPr txBox="1"/>
          <p:nvPr/>
        </p:nvSpPr>
        <p:spPr>
          <a:xfrm>
            <a:off x="7055968" y="333756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You did not change the test files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62B33"/>
        </a:solidFill>
      </p:bgPr>
    </p:bg>
    <p:spTree>
      <p:nvGrpSpPr>
        <p:cNvPr id="1" name=""/>
        <p:cNvGrpSpPr/>
        <p:nvPr/>
      </p:nvGrpSpPr>
      <p:grpSpPr>
        <a:xfrm>
          <a:off x="0" y="0"/>
          <a:ext cx="0" cy="0"/>
          <a:chOff x="0" y="0"/>
          <a:chExt cx="0" cy="0"/>
        </a:xfrm>
      </p:grpSpPr>
      <p:sp>
        <p:nvSpPr>
          <p:cNvPr id="2" name="Text 0"/>
          <p:cNvSpPr txBox="1"/>
          <p:nvPr/>
        </p:nvSpPr>
        <p:spPr>
          <a:xfrm>
            <a:off x="731520" y="685800"/>
            <a:ext cx="7315200" cy="320040"/>
          </a:xfrm>
          <a:prstGeom prst="rect">
            <a:avLst/>
          </a:prstGeom>
          <a:noFill/>
          <a:ln/>
        </p:spPr>
        <p:txBody>
          <a:bodyPr wrap="square" lIns="0" tIns="0" rIns="0" bIns="0"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WRAP UP</a:t>
            </a:r>
            <a:endParaRPr lang="en-US" sz="1400" dirty="0"/>
          </a:p>
        </p:txBody>
      </p:sp>
      <p:sp>
        <p:nvSpPr>
          <p:cNvPr id="3" name="Text 1"/>
          <p:cNvSpPr txBox="1"/>
          <p:nvPr/>
        </p:nvSpPr>
        <p:spPr>
          <a:xfrm>
            <a:off x="731520" y="105156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What you can do now</a:t>
            </a:r>
            <a:endParaRPr lang="en-US" sz="3400" dirty="0"/>
          </a:p>
        </p:txBody>
      </p:sp>
      <p:sp>
        <p:nvSpPr>
          <p:cNvPr id="4" name="Shape 2"/>
          <p:cNvSpPr/>
          <p:nvPr/>
        </p:nvSpPr>
        <p:spPr>
          <a:xfrm>
            <a:off x="731520" y="2093976"/>
            <a:ext cx="420624" cy="420624"/>
          </a:xfrm>
          <a:prstGeom prst="ellipse">
            <a:avLst/>
          </a:prstGeom>
          <a:solidFill>
            <a:srgbClr val="FFFFFF"/>
          </a:solidFill>
          <a:ln w="12700">
            <a:solidFill>
              <a:srgbClr val="FFFFFF"/>
            </a:solidFill>
            <a:prstDash val="solid"/>
          </a:ln>
        </p:spPr>
      </p:sp>
      <p:sp>
        <p:nvSpPr>
          <p:cNvPr id="5" name="Text 3"/>
          <p:cNvSpPr txBox="1"/>
          <p:nvPr/>
        </p:nvSpPr>
        <p:spPr>
          <a:xfrm>
            <a:off x="731520" y="2093976"/>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71600" y="2057400"/>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Read a JUnit test and say what the method must return.</a:t>
            </a:r>
            <a:endParaRPr lang="en-US" sz="1900" dirty="0"/>
          </a:p>
        </p:txBody>
      </p:sp>
      <p:sp>
        <p:nvSpPr>
          <p:cNvPr id="7" name="Shape 5"/>
          <p:cNvSpPr/>
          <p:nvPr/>
        </p:nvSpPr>
        <p:spPr>
          <a:xfrm>
            <a:off x="731520" y="2752344"/>
            <a:ext cx="420624" cy="420624"/>
          </a:xfrm>
          <a:prstGeom prst="ellipse">
            <a:avLst/>
          </a:prstGeom>
          <a:solidFill>
            <a:srgbClr val="FFFFFF"/>
          </a:solidFill>
          <a:ln w="12700">
            <a:solidFill>
              <a:srgbClr val="FFFFFF"/>
            </a:solidFill>
            <a:prstDash val="solid"/>
          </a:ln>
        </p:spPr>
      </p:sp>
      <p:sp>
        <p:nvSpPr>
          <p:cNvPr id="8" name="Text 6"/>
          <p:cNvSpPr txBox="1"/>
          <p:nvPr/>
        </p:nvSpPr>
        <p:spPr>
          <a:xfrm>
            <a:off x="731520" y="2752344"/>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371600" y="2715768"/>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Write methods with parameters and a return value.</a:t>
            </a:r>
            <a:endParaRPr lang="en-US" sz="1900" dirty="0"/>
          </a:p>
        </p:txBody>
      </p:sp>
      <p:sp>
        <p:nvSpPr>
          <p:cNvPr id="10" name="Shape 8"/>
          <p:cNvSpPr/>
          <p:nvPr/>
        </p:nvSpPr>
        <p:spPr>
          <a:xfrm>
            <a:off x="731520" y="3410712"/>
            <a:ext cx="420624" cy="420624"/>
          </a:xfrm>
          <a:prstGeom prst="ellipse">
            <a:avLst/>
          </a:prstGeom>
          <a:solidFill>
            <a:srgbClr val="FFFFFF"/>
          </a:solidFill>
          <a:ln w="12700">
            <a:solidFill>
              <a:srgbClr val="FFFFFF"/>
            </a:solidFill>
            <a:prstDash val="solid"/>
          </a:ln>
        </p:spPr>
      </p:sp>
      <p:sp>
        <p:nvSpPr>
          <p:cNvPr id="11" name="Text 9"/>
          <p:cNvSpPr txBox="1"/>
          <p:nvPr/>
        </p:nvSpPr>
        <p:spPr>
          <a:xfrm>
            <a:off x="731520" y="3410712"/>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371600" y="3374136"/>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Choose between the enhanced for loop and the classic for loop.</a:t>
            </a:r>
            <a:endParaRPr lang="en-US" sz="1900" dirty="0"/>
          </a:p>
        </p:txBody>
      </p:sp>
      <p:sp>
        <p:nvSpPr>
          <p:cNvPr id="13" name="Shape 11"/>
          <p:cNvSpPr/>
          <p:nvPr/>
        </p:nvSpPr>
        <p:spPr>
          <a:xfrm>
            <a:off x="731520" y="4069080"/>
            <a:ext cx="420624" cy="420624"/>
          </a:xfrm>
          <a:prstGeom prst="ellipse">
            <a:avLst/>
          </a:prstGeom>
          <a:solidFill>
            <a:srgbClr val="FFFFFF"/>
          </a:solidFill>
          <a:ln w="12700">
            <a:solidFill>
              <a:srgbClr val="FFFFFF"/>
            </a:solidFill>
            <a:prstDash val="solid"/>
          </a:ln>
        </p:spPr>
      </p:sp>
      <p:sp>
        <p:nvSpPr>
          <p:cNvPr id="14" name="Text 12"/>
          <p:cNvSpPr txBox="1"/>
          <p:nvPr/>
        </p:nvSpPr>
        <p:spPr>
          <a:xfrm>
            <a:off x="731520" y="4069080"/>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371600" y="4032504"/>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Work with arrays without running past the end.</a:t>
            </a:r>
            <a:endParaRPr lang="en-US" sz="1900" dirty="0"/>
          </a:p>
        </p:txBody>
      </p:sp>
      <p:sp>
        <p:nvSpPr>
          <p:cNvPr id="16" name="Shape 14"/>
          <p:cNvSpPr/>
          <p:nvPr/>
        </p:nvSpPr>
        <p:spPr>
          <a:xfrm>
            <a:off x="731520" y="4727448"/>
            <a:ext cx="420624" cy="420624"/>
          </a:xfrm>
          <a:prstGeom prst="ellipse">
            <a:avLst/>
          </a:prstGeom>
          <a:solidFill>
            <a:srgbClr val="FFFFFF"/>
          </a:solidFill>
          <a:ln w="12700">
            <a:solidFill>
              <a:srgbClr val="FFFFFF"/>
            </a:solidFill>
            <a:prstDash val="solid"/>
          </a:ln>
        </p:spPr>
      </p:sp>
      <p:sp>
        <p:nvSpPr>
          <p:cNvPr id="17" name="Text 15"/>
          <p:cNvSpPr txBox="1"/>
          <p:nvPr/>
        </p:nvSpPr>
        <p:spPr>
          <a:xfrm>
            <a:off x="731520" y="4727448"/>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371600" y="4690872"/>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Return a new array and leave the one you received unchanged.</a:t>
            </a:r>
            <a:endParaRPr lang="en-US" sz="1900" dirty="0"/>
          </a:p>
        </p:txBody>
      </p:sp>
      <p:sp>
        <p:nvSpPr>
          <p:cNvPr id="19" name="Shape 17"/>
          <p:cNvSpPr/>
          <p:nvPr/>
        </p:nvSpPr>
        <p:spPr>
          <a:xfrm>
            <a:off x="731520" y="5486400"/>
            <a:ext cx="10728655" cy="640080"/>
          </a:xfrm>
          <a:prstGeom prst="roundRect">
            <a:avLst>
              <a:gd name="adj" fmla="val 17143"/>
            </a:avLst>
          </a:prstGeom>
          <a:solidFill>
            <a:srgbClr val="FFFFFF"/>
          </a:solidFill>
          <a:ln w="12700">
            <a:solidFill>
              <a:srgbClr val="FFFFFF"/>
            </a:solidFill>
            <a:prstDash val="solid"/>
          </a:ln>
        </p:spPr>
      </p:sp>
      <p:sp>
        <p:nvSpPr>
          <p:cNvPr id="20" name="Text 18"/>
          <p:cNvSpPr txBox="1"/>
          <p:nvPr/>
        </p:nvSpPr>
        <p:spPr>
          <a:xfrm>
            <a:off x="960120" y="5486400"/>
            <a:ext cx="10271455" cy="640080"/>
          </a:xfrm>
          <a:prstGeom prst="rect">
            <a:avLst/>
          </a:prstGeom>
          <a:noFill/>
          <a:ln/>
        </p:spPr>
        <p:txBody>
          <a:bodyPr wrap="square" lIns="0" tIns="0" rIns="0" bIns="0" rtlCol="0" anchor="ctr">
            <a:normAutofit/>
          </a:bodyPr>
          <a:lstStyle/>
          <a:p>
            <a:pPr indent="0" marL="0">
              <a:buNone/>
            </a:pPr>
            <a:r>
              <a:rPr lang="en-US" sz="1600" b="1" dirty="0">
                <a:solidFill>
                  <a:srgbClr val="262B33"/>
                </a:solidFill>
                <a:latin typeface="Calibri" pitchFamily="34" charset="0"/>
                <a:ea typeface="Calibri" pitchFamily="34" charset="-122"/>
                <a:cs typeface="Calibri" pitchFamily="34" charset="-120"/>
              </a:rPr>
              <a:t>Next week:  </a:t>
            </a:r>
            <a:pPr indent="0" marL="0">
              <a:buNone/>
            </a:pPr>
            <a:r>
              <a:rPr lang="en-US" sz="1600" dirty="0">
                <a:solidFill>
                  <a:srgbClr val="1F2328"/>
                </a:solidFill>
                <a:latin typeface="Calibri" pitchFamily="34" charset="0"/>
                <a:ea typeface="Calibri" pitchFamily="34" charset="-122"/>
                <a:cs typeface="Calibri" pitchFamily="34" charset="-120"/>
              </a:rPr>
              <a:t>The Book Review Platform starts. You write your first own classes: Book and User.</a:t>
            </a:r>
            <a:endParaRPr lang="en-US" sz="1600" dirty="0"/>
          </a:p>
        </p:txBody>
      </p:sp>
      <p:sp>
        <p:nvSpPr>
          <p:cNvPr id="21" name="Text 19"/>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CSCI 2430 Programming Languages  ·  Week 2  ·  Lab</a:t>
            </a:r>
            <a:endParaRPr lang="en-US" sz="1050" dirty="0"/>
          </a:p>
        </p:txBody>
      </p:sp>
      <p:sp>
        <p:nvSpPr>
          <p:cNvPr id="22" name="Text 20"/>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FFFFFF"/>
                </a:solidFill>
                <a:latin typeface="Calibri" pitchFamily="34" charset="0"/>
                <a:ea typeface="Calibri" pitchFamily="34" charset="-122"/>
                <a:cs typeface="Calibri" pitchFamily="34" charset="-120"/>
              </a:rPr>
              <a:t>16</a:t>
            </a:r>
            <a:endParaRPr lang="en-US" sz="1050" dirty="0"/>
          </a:p>
        </p:txBody>
      </p:sp>
      <p:pic>
        <p:nvPicPr>
          <p:cNvPr id="23" name="Image 0" descr="/home/claude/decks/assets/logo-white-small.png">    </p:cNvPr>
          <p:cNvPicPr>
            <a:picLocks noChangeAspect="1"/>
          </p:cNvPicPr>
          <p:nvPr/>
        </p:nvPicPr>
        <p:blipFill>
          <a:blip r:embed="rId1"/>
          <a:stretch>
            <a:fillRect/>
          </a:stretch>
        </p:blipFill>
        <p:spPr>
          <a:xfrm>
            <a:off x="10518343" y="6291172"/>
            <a:ext cx="1124712" cy="4113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American College Skopje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Lab: Ten tests to green</dc:title>
  <dc:subject>PptxGenJS Presentation</dc:subject>
  <dc:creator>Dejan Mitov</dc:creator>
  <cp:lastModifiedBy>Dejan Mitov</cp:lastModifiedBy>
  <cp:revision>1</cp:revision>
  <dcterms:created xsi:type="dcterms:W3CDTF">2026-09-20T20:05:42Z</dcterms:created>
  <dcterms:modified xsi:type="dcterms:W3CDTF">2026-09-20T20:05:42Z</dcterms:modified>
</cp:coreProperties>
</file>