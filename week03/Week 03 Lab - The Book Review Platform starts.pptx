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Ivana. The starter does NOT compile at the beginning. That is on purpose: UserTest refers to a class User that the students must create first. With the reference solution 17 of 17 tests are green. With the starter plus a correct User class, 4 tests are green and 13 are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week has its own starter folder that already contains a working version of the weeks before. A student who falls behind can always continue from the new starter.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COVER: the lab of this week depends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member must be public here, because the tests live in another class. In the lecture the examples had no modifier, which also works inside one file. Typical mistakes: forgetting this in the constructor (the ShadowTrap from the lecture), and writing the email rule twice, in the constructor and in the setter.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title == null BEFORE calling title.isBlank(). The other order throws a NullPointerException for the null title, and the test shows it. This is the short circuit &amp;&amp; or || from week 2 used for safety. A year that is refused in the constructor leaves the field at its default 0. In week 9 this becomes an exception.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only when students ask whether other.year is legal. Many expect that they must call other.getYear().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closing question to the room: what happens when nextId is not static? Every book would get its own counter that starts at 1, so every id would be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prediction "Three places on the shelf, two books" from the lecture, now in their own code. For oldest: start with null, and replace it when you find a book and either nothing was found before or the book is 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ids in the output are 1 to 4 only when the program creates exactly these four books and nothing else first. args is never null. Without arguments its length is 0, so the check args.length &gt; 0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89520" cy="6858000"/>
          </a:xfrm>
          <a:prstGeom prst="rect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Review Platform starts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4728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own classes: User and Book, a static id counter, a shelf with empty places, and a program with arguments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064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exercises: Ivana Filkova</a:t>
            </a:r>
            <a:endParaRPr lang="en-US" sz="1500" dirty="0"/>
          </a:p>
        </p:txBody>
      </p:sp>
      <p:pic>
        <p:nvPicPr>
          <p:cNvPr id="7" name="Image 0" descr="/home/claude/decks/assets/logo-color-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7528" y="1554480"/>
            <a:ext cx="3566160" cy="13043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55280" y="3291840"/>
            <a:ext cx="3870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Information Technology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97764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 ·  CSCI 2430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38912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2026/27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THE LAB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in these 90 minutes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508760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150876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 to 0:07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560320" y="150876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and the starter</a:t>
            </a:r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what we build this semester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10408615" y="160934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408615" y="16093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07568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0:07 to 0:22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560320" y="207568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Warm up: class User, from an empty file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10408615" y="21762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408615" y="21762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2642616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7240" y="264261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0:22 to 0:47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2560320" y="2642616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Class Book</a:t>
            </a:r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private fields, constructor, rules in setters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0408615" y="27432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0408615" y="27432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77240" y="320954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0:47 to 0:59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2560320" y="3209544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Ids and toString</a:t>
            </a:r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static counter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10408615" y="331012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10408615" y="33101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48640" y="3776472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77240" y="377647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0:59 to 1:14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2560320" y="377647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CatalogTools</a:t>
            </a:r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 shelf with empty places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0408615" y="3877056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10408615" y="38770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777240" y="434340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1:14 to 1:25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2560320" y="4343400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 The program Catalog</a:t>
            </a:r>
            <a:pPr indent="0" marL="0">
              <a:buNone/>
            </a:pPr>
            <a:r>
              <a:rPr lang="en-US" sz="18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classic main, program arguments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10408615" y="444398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10408615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548640" y="4910328"/>
            <a:ext cx="11094415" cy="512064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77240" y="491032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1:25 to 1:30</a:t>
            </a:r>
            <a:endParaRPr lang="en-US" sz="1400" dirty="0"/>
          </a:p>
        </p:txBody>
      </p:sp>
      <p:sp>
        <p:nvSpPr>
          <p:cNvPr id="37" name="Text 33"/>
          <p:cNvSpPr txBox="1"/>
          <p:nvPr/>
        </p:nvSpPr>
        <p:spPr>
          <a:xfrm>
            <a:off x="2560320" y="491032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Commit, push, wrap up</a:t>
            </a:r>
            <a:pPr indent="0" marL="0">
              <a:buNone/>
            </a:pP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>
            <a:off x="10408615" y="501091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0408615" y="50109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6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A9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program that grows with you until the end of the semester.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257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 min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pic>
        <p:nvPicPr>
          <p:cNvPr id="9" name="Image 0" descr="/home/claude/decks/assets/logo-white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REVIEW 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build, week by week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737360"/>
            <a:ext cx="2396414" cy="3017520"/>
          </a:xfrm>
          <a:prstGeom prst="roundRect">
            <a:avLst>
              <a:gd name="adj" fmla="val 4579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7724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423160"/>
            <a:ext cx="193921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883408"/>
            <a:ext cx="1939214" cy="168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Book. A shelf as an array. A program that prints the catalog.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036494" y="3090672"/>
            <a:ext cx="320040" cy="310896"/>
          </a:xfrm>
          <a:prstGeom prst="rightArrow">
            <a:avLst/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47974" y="1737360"/>
            <a:ext cx="2396414" cy="3017520"/>
          </a:xfrm>
          <a:prstGeom prst="roundRect">
            <a:avLst>
              <a:gd name="adj" fmla="val 45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676574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3676574" y="2423160"/>
            <a:ext cx="193921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 and 5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3676574" y="2883408"/>
            <a:ext cx="1939214" cy="168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maps, reviews with ratings, different kinds of books.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935828" y="3090672"/>
            <a:ext cx="320040" cy="310896"/>
          </a:xfrm>
          <a:prstGeom prst="rightArrow">
            <a:avLst/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347308" y="1737360"/>
            <a:ext cx="2396414" cy="3017520"/>
          </a:xfrm>
          <a:prstGeom prst="roundRect">
            <a:avLst>
              <a:gd name="adj" fmla="val 45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575908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6575908" y="2423160"/>
            <a:ext cx="193921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 to 10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6575908" y="2883408"/>
            <a:ext cx="1939214" cy="168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behind an interface, files, exceptions, search with streams.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8835161" y="3090672"/>
            <a:ext cx="320040" cy="310896"/>
          </a:xfrm>
          <a:prstGeom prst="rightArrow">
            <a:avLst/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246641" y="1737360"/>
            <a:ext cx="2396414" cy="3017520"/>
          </a:xfrm>
          <a:prstGeom prst="roundRect">
            <a:avLst>
              <a:gd name="adj" fmla="val 457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475241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1"/>
          <p:cNvSpPr txBox="1"/>
          <p:nvPr/>
        </p:nvSpPr>
        <p:spPr>
          <a:xfrm>
            <a:off x="9475241" y="2423160"/>
            <a:ext cx="193921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 to 13</a:t>
            </a:r>
            <a:endParaRPr lang="en-US" sz="2000" dirty="0"/>
          </a:p>
        </p:txBody>
      </p:sp>
      <p:sp>
        <p:nvSpPr>
          <p:cNvPr id="26" name="Text 22"/>
          <p:cNvSpPr txBox="1"/>
          <p:nvPr/>
        </p:nvSpPr>
        <p:spPr>
          <a:xfrm>
            <a:off x="9475241" y="2883408"/>
            <a:ext cx="1939214" cy="1688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tests, threads, and a tiny framework that wires it all together.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548640" y="50749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822960" y="50749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course Computer Interface Programming the same model gets a Spring Boot back end. What you write here is the core of it.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week03 and look at the red 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42855" y="4114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42855" y="41148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NEEDS THIS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pic>
        <p:nvPicPr>
          <p:cNvPr id="8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1508760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48640" y="150876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25880" y="15087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folder week03 from the starter into your repository folder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548640" y="2304288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48640" y="23042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25880" y="230428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Open, choose the folder week03</a:t>
            </a:r>
            <a:endParaRPr lang="en-US" sz="1750" dirty="0"/>
          </a:p>
        </p:txBody>
      </p:sp>
      <p:sp>
        <p:nvSpPr>
          <p:cNvPr id="16" name="Text 12"/>
          <p:cNvSpPr txBox="1"/>
          <p:nvPr/>
        </p:nvSpPr>
        <p:spPr>
          <a:xfrm>
            <a:off x="1325880" y="2688336"/>
            <a:ext cx="6080760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Maven project, like last week.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548640" y="3336036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48640" y="333603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325880" y="33360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src/test/java/UserTest</a:t>
            </a:r>
            <a:endParaRPr lang="en-US" sz="1750" dirty="0"/>
          </a:p>
        </p:txBody>
      </p:sp>
      <p:sp>
        <p:nvSpPr>
          <p:cNvPr id="20" name="Text 16"/>
          <p:cNvSpPr txBox="1"/>
          <p:nvPr/>
        </p:nvSpPr>
        <p:spPr>
          <a:xfrm>
            <a:off x="1325880" y="3720084"/>
            <a:ext cx="6080760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User is red everywhere. The class does not exist yet. Creating it is Task 1.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548640" y="4604004"/>
            <a:ext cx="566928" cy="365760"/>
          </a:xfrm>
          <a:prstGeom prst="roundRect">
            <a:avLst>
              <a:gd name="adj" fmla="val 20000"/>
            </a:avLst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48640" y="4604004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325880" y="460400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Task 1 is done, no test can run</a:t>
            </a:r>
            <a:endParaRPr lang="en-US" sz="1750" dirty="0"/>
          </a:p>
        </p:txBody>
      </p:sp>
      <p:sp>
        <p:nvSpPr>
          <p:cNvPr id="24" name="Text 20"/>
          <p:cNvSpPr txBox="1"/>
          <p:nvPr/>
        </p:nvSpPr>
        <p:spPr>
          <a:xfrm>
            <a:off x="1325880" y="4988052"/>
            <a:ext cx="6080760" cy="509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compiles all tests together. One missing class stops all of them.</a:t>
            </a:r>
            <a:endParaRPr lang="en-US" sz="1550" dirty="0"/>
          </a:p>
        </p:txBody>
      </p:sp>
      <p:sp>
        <p:nvSpPr>
          <p:cNvPr id="25" name="Shape 21"/>
          <p:cNvSpPr/>
          <p:nvPr/>
        </p:nvSpPr>
        <p:spPr>
          <a:xfrm>
            <a:off x="7863840" y="1490472"/>
            <a:ext cx="3779215" cy="3108960"/>
          </a:xfrm>
          <a:prstGeom prst="roundRect">
            <a:avLst>
              <a:gd name="adj" fmla="val 3529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138160" y="1764792"/>
            <a:ext cx="502920" cy="502920"/>
          </a:xfrm>
          <a:prstGeom prst="ellipse">
            <a:avLst/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778240" y="1764792"/>
            <a:ext cx="2590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test first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8138160" y="2450592"/>
            <a:ext cx="323057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UserTest tells you everything about User: the constructor, the methods, the rule for the email and the exact format of toString.</a:t>
            </a:r>
            <a:endParaRPr lang="en-US" sz="18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861" y="1885493"/>
            <a:ext cx="261518" cy="2615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6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A9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803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tasks. Run the tests after every step.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52578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257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83 min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pic>
        <p:nvPicPr>
          <p:cNvPr id="9" name="Image 0" descr="/home/claude/decks/assets/logo-white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 ·  WARM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User, from an empty file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180015" y="4114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7F4F"/>
          </a:solidFill>
          <a:ln w="12700">
            <a:solidFill>
              <a:srgbClr val="1E7F4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180015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508760"/>
            <a:ext cx="4754880" cy="1066800"/>
          </a:xfrm>
          <a:prstGeom prst="roundRect">
            <a:avLst>
              <a:gd name="adj" fmla="val 10286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600200"/>
            <a:ext cx="420624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first class completely by yourself, guided only by its test.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758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078480"/>
            <a:ext cx="475488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click src/main/java, New, Java Class, name: User.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private fields: username and email, both String.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constructor User(String username, String email).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getters getUsername() and getEmail().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setEmail accepts only text that contains "@". Other values are ignored. The constructor must use setEmail.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toString gives: ana (ana@example.com)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669280" y="1508760"/>
            <a:ext cx="5973775" cy="2141982"/>
          </a:xfrm>
          <a:prstGeom prst="roundRect">
            <a:avLst>
              <a:gd name="adj" fmla="val 4269"/>
            </a:avLst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925312" y="1618488"/>
            <a:ext cx="54617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UserTest.java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925312" y="1965960"/>
            <a:ext cx="5461711" cy="1501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setEmailAcceptsOnlyTextWithAnAtSign()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ana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"ana@example.com"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ana.setEmail(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 an email"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"ana@example.com"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ana.getEmail());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ana.setEmail(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"ana@uacs.example"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"ana@uacs.example"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ana.getEmail());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669280" y="3833622"/>
            <a:ext cx="5973775" cy="2292858"/>
          </a:xfrm>
          <a:prstGeom prst="roundRect">
            <a:avLst>
              <a:gd name="adj" fmla="val 4786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943600" y="3970782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943600" y="4309110"/>
            <a:ext cx="5425135" cy="169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tests in UserTest are green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"Add class User"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Book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180015" y="4114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180015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508760"/>
            <a:ext cx="6766560" cy="1066800"/>
          </a:xfrm>
          <a:prstGeom prst="roundRect">
            <a:avLst>
              <a:gd name="adj" fmla="val 10286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600200"/>
            <a:ext cx="6217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class Book. It must be impossible to create a book with an empty title or an impossible year.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758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078480"/>
            <a:ext cx="676656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Book.java. The method headers are there, the bodies are not.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private fields for title, author, genre and year.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Constructor: a title that is null or blank becomes "Untitled". Hint: title.isBlank().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setYear accepts only 1450 to 2100. The constructor calls setYear, so the rule exists once.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getters, setGenre and isOlderThan.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BookTest. All tests that start with task2 must be green.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680960" y="1508760"/>
            <a:ext cx="3962095" cy="4617720"/>
          </a:xfrm>
          <a:prstGeom prst="roundRect">
            <a:avLst>
              <a:gd name="adj" fmla="val 2769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955280" y="164592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1984248"/>
            <a:ext cx="3413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task2 tests are green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public field in Book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 ·  HINT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isOlderThan: one object looks into another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1508760"/>
            <a:ext cx="11094415" cy="1741932"/>
          </a:xfrm>
          <a:prstGeom prst="roundRect">
            <a:avLst>
              <a:gd name="adj" fmla="val 5249"/>
            </a:avLst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04672" y="1618488"/>
            <a:ext cx="105823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Book.java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04672" y="1965960"/>
            <a:ext cx="10582351" cy="1101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isOlderThan(Book other) {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.year &lt; other.year;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548640" y="3433572"/>
            <a:ext cx="5455768" cy="1184910"/>
          </a:xfrm>
          <a:prstGeom prst="roundRect">
            <a:avLst>
              <a:gd name="adj" fmla="val 617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3552444"/>
            <a:ext cx="4998568" cy="1002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this.year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of the book the method was called on: emma in emma.isOlderThan(dune).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6187288" y="3433572"/>
            <a:ext cx="5455768" cy="1184910"/>
          </a:xfrm>
          <a:prstGeom prst="roundRect">
            <a:avLst>
              <a:gd name="adj" fmla="val 617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15888" y="3552444"/>
            <a:ext cx="4998568" cy="1002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other.year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field of ANOTHER Book. Allowed: private means private to the class, not to the object.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 · 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 gets its own id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180015" y="4114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180015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508760"/>
            <a:ext cx="4754880" cy="1325880"/>
          </a:xfrm>
          <a:prstGeom prst="roundRect">
            <a:avLst>
              <a:gd name="adj" fmla="val 8276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600200"/>
            <a:ext cx="4206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book created gets id 1, the next one id 2, and so on. The class itself keeps count.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017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33756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private static int field nextId that starts at 1.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private int field id.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constructor: take nextId as the id of this book, then increase nextId.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getCreatedCount() is static and returns how many books exist so far.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toString in exactly this format:  #1 Dune by Frank Herbert (1965), Science fiction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669280" y="1508760"/>
            <a:ext cx="5973775" cy="2141982"/>
          </a:xfrm>
          <a:prstGeom prst="roundRect">
            <a:avLst>
              <a:gd name="adj" fmla="val 4269"/>
            </a:avLst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925312" y="1618488"/>
            <a:ext cx="54617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BookTest.java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925312" y="1965960"/>
            <a:ext cx="5461711" cy="1501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task3_everyBookGetsTheNextId()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 first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"Classic"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1900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 second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"Classic"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Book third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8A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A8DB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"Classic"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1902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assertEquals(first.getId() +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second.getId());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assertEquals(first.getId() +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CC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third.getId());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669280" y="3833622"/>
            <a:ext cx="5973775" cy="2292858"/>
          </a:xfrm>
          <a:prstGeom prst="roundRect">
            <a:avLst>
              <a:gd name="adj" fmla="val 4786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943600" y="3970782"/>
            <a:ext cx="5425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943600" y="4309110"/>
            <a:ext cx="5425135" cy="169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task3 tests are green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say why nextId must be static and id must not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 · 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CatalogTools: a shelf with empty places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180015" y="4114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180015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508760"/>
            <a:ext cx="6766560" cy="1066800"/>
          </a:xfrm>
          <a:prstGeom prst="roundRect">
            <a:avLst>
              <a:gd name="adj" fmla="val 10286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600200"/>
            <a:ext cx="6217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shelf is a Book[] in which some places are still null. Write three static helper methods that never crash on an empty place.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7584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078480"/>
            <a:ext cx="676656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countBooks(shelf): how many places hold a book.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oldest(shelf): the book with the smallest year, or null when the shelf has no book. Use isOlderThan.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countByGenre(shelf, genre): compare with equalsIgnoreCase, never with ==.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CatalogToolsTest.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7680960" y="1508760"/>
            <a:ext cx="3962095" cy="4617720"/>
          </a:xfrm>
          <a:prstGeom prst="roundRect">
            <a:avLst>
              <a:gd name="adj" fmla="val 2769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955280" y="164592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955280" y="1984248"/>
            <a:ext cx="3413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task4 tests are green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NullPointerException appears in any test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 ·  CORE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Catalog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180015" y="4114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10180015" y="4114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508760"/>
            <a:ext cx="4480560" cy="1584960"/>
          </a:xfrm>
          <a:prstGeom prst="roundRect">
            <a:avLst>
              <a:gd name="adj" fmla="val 6923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1600200"/>
            <a:ext cx="393192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runnable program with the classic main. It prints the catalog, and it reads a genre from the program arguments.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276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596640"/>
            <a:ext cx="4480560" cy="252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Catalog.java and follow TODO 1 to 5.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 the green arrow. There is no argument yet, so the last line is missing.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Edit Configurations, Program arguments: Classic. Run again.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 the argument classic, in lower case? Why?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394960" y="1508760"/>
            <a:ext cx="6248095" cy="2141982"/>
          </a:xfrm>
          <a:prstGeom prst="roundRect">
            <a:avLst>
              <a:gd name="adj" fmla="val 4269"/>
            </a:avLst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650992" y="1618488"/>
            <a:ext cx="5736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WITH THE ARGUMENT Classic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650992" y="1965960"/>
            <a:ext cx="5736031" cy="1501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 on the shelf: 4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 Dune by Frank Herbert (1965), Science fiction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 Emma by Jane Austen (1815), Classic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 Neuromancer by William Gibson (1984), Science fiction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 Jane Eyre by Charlotte Bronte (1847), Classic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Oldest: #2 Emma by Jane Austen (1815), Classic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Classic: 2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394960" y="3833622"/>
            <a:ext cx="6248095" cy="2292858"/>
          </a:xfrm>
          <a:prstGeom prst="roundRect">
            <a:avLst>
              <a:gd name="adj" fmla="val 4786"/>
            </a:avLst>
          </a:prstGeom>
          <a:solidFill>
            <a:srgbClr val="E7F5EC"/>
          </a:solidFill>
          <a:ln w="12700">
            <a:solidFill>
              <a:srgbClr val="E7F5E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669280" y="3970782"/>
            <a:ext cx="5699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7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WHEN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669280" y="4309110"/>
            <a:ext cx="5699455" cy="1698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matches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argument the program does not crash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TASK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sortedByYear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554480"/>
            <a:ext cx="5989320" cy="924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NEW array with all books of the shelf, without empty places, oldest first.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48640" y="270433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70433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686050"/>
            <a:ext cx="5989320" cy="924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result array with the length countBooks(shelf) and copy the books into it.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83590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8359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3817620"/>
            <a:ext cx="5989320" cy="924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it. Selection sort: for every position, find the oldest remaining book and swap it in.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48640" y="4967478"/>
            <a:ext cx="457200" cy="457200"/>
          </a:xfrm>
          <a:prstGeom prst="ellipse">
            <a:avLst/>
          </a:prstGeom>
          <a:solidFill>
            <a:srgbClr val="262B33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967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4949190"/>
            <a:ext cx="5989320" cy="924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2100" dirty="0"/>
          </a:p>
          <a:p>
            <a:pPr indent="0" marL="0">
              <a:buNone/>
            </a:pPr>
            <a:r>
              <a:rPr lang="en-US" sz="17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StretchTest must be green, and the shelf itself must be unchanged.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7680960" y="1508760"/>
            <a:ext cx="3962095" cy="4480560"/>
          </a:xfrm>
          <a:prstGeom prst="roundRect">
            <a:avLst>
              <a:gd name="adj" fmla="val 2769"/>
            </a:avLst>
          </a:prstGeom>
          <a:solidFill>
            <a:srgbClr val="FBECED"/>
          </a:solidFill>
          <a:ln w="12700">
            <a:solidFill>
              <a:srgbClr val="FBEC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955280" y="1783080"/>
            <a:ext cx="502920" cy="502920"/>
          </a:xfrm>
          <a:prstGeom prst="ellipse">
            <a:avLst/>
          </a:prstGeom>
          <a:solidFill>
            <a:srgbClr val="C6333B"/>
          </a:solidFill>
          <a:ln w="12700">
            <a:solidFill>
              <a:srgbClr val="C633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95360" y="1783080"/>
            <a:ext cx="2773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C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2468880"/>
            <a:ext cx="34134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next week a List and one line of code do this job.</a:t>
            </a:r>
            <a:endParaRPr lang="en-US" sz="18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it once by hand shows you what that line does for you.</a:t>
            </a:r>
            <a:endParaRPr lang="en-US" sz="18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981" y="1903781"/>
            <a:ext cx="261518" cy="26151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for today when all of this is true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pic>
        <p:nvPicPr>
          <p:cNvPr id="6" name="Image 0" descr="/home/claude/decks/assets/logo-red-transparen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600200"/>
            <a:ext cx="5364328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8150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25880" y="1600200"/>
            <a:ext cx="44042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UserTest, BookTest and CatalogToolsTest are green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5364328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6837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25880" y="2468880"/>
            <a:ext cx="44042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prints the expected output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337560"/>
            <a:ext cx="5364328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55244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325880" y="3337560"/>
            <a:ext cx="44042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 has a public field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78728" y="1600200"/>
            <a:ext cx="5364328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07328" y="18150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55968" y="1600200"/>
            <a:ext cx="44042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has its own commit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78728" y="2468880"/>
            <a:ext cx="5364328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07328" y="268376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055968" y="2468880"/>
            <a:ext cx="44042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is done and checked on github.com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278728" y="3337560"/>
            <a:ext cx="5364328" cy="740664"/>
          </a:xfrm>
          <a:prstGeom prst="roundRect">
            <a:avLst>
              <a:gd name="adj" fmla="val 1481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07328" y="355244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5B647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55968" y="3337560"/>
            <a:ext cx="44042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not change the test files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6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now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09397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093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057400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class from an empty file: private fields, constructor, getters, setters, toString.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75234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752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 rule into one setter and let the constructor use it.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41071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4107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374136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static field for something that belongs to the class, not to one object.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032504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an array of objects that contains null without crashing.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47274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727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69087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program with arguments and read them from args.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31520" y="5486400"/>
            <a:ext cx="10728655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48640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6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 </a:t>
            </a:r>
            <a:pPr indent="0" marL="0"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shelf becomes a List, users live in a Map, and reviews arrive as records.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2430 Programming Languages  ·  Week 3  ·  Lab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96770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pic>
        <p:nvPicPr>
          <p:cNvPr id="23" name="Image 0" descr="/home/claude/decks/assets/logo-white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8343" y="6291172"/>
            <a:ext cx="1124712" cy="411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University American College Skopje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Lab: The Book Review Platform starts</dc:title>
  <dc:subject>PptxGenJS Presentation</dc:subject>
  <dc:creator>Dejan Mitov</dc:creator>
  <cp:lastModifiedBy>Dejan Mitov</cp:lastModifiedBy>
  <cp:revision>1</cp:revision>
  <dcterms:created xsi:type="dcterms:W3CDTF">2026-09-20T20:05:25Z</dcterms:created>
  <dcterms:modified xsi:type="dcterms:W3CDTF">2026-09-20T20:05:25Z</dcterms:modified>
</cp:coreProperties>
</file>