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Ivana. If the lab computers are already set up, the first block shrinks to a five minute check and the saved time goes to Task 6. Menu names in this deck are from IntelliJ IDEA 2025. Please check them once on the lab computers before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JDK 25 distribution works. Temurin is named because its installer is simple and free. A JDK that IntelliJ downloads by itself is NOT on the PATH, so the terminal will not find it. That is why we install the JDK first.
MUST COVER: the lab of this week depends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 the single distribution: jetbrains.com/help/idea/intellij-idea-single-distribution.html. If the lab computers have an older Community Edition, it works as well, as long as it supports Java 25 (2025.2 or newer).
MUST COVER: the lab of this week depends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 COVER: the lab of this week depends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Marking week01 as Sources Root lets the green arrow work for files in that folder. Please try this once on a lab computer before the class. Let them type. Typing mistakes produce the first compiler errors, and reading those is a goal of this lab. Ask two students to explain the two steps: compile to bytecode in memory, then run on the JVM.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repository the students use all semester, one folder per week. It is private and shared with both instructors, as the syllabus requires for exam work.
MUST COVER: the lab of this week depends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command git branch -M main renames the branch to main, so the push works the same on every computer.
MUST COVER: the lab of this week depends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room and look at screens. A student who cannot push today will have the same problem in the midterm.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36.6 the program prints 97.88000000000001. This is the DoubleTrap from the lecture: doubles are stored in binary. Formatting output comes later. Do not fix it today, only explain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mistake: minutes = total / 60, which gives 123 for 7384. Ask: how many seconds are left after the full hours are taken out? That is total % 3600.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Cause: sum / 3 divides int by int, so the result is 8, and only then is it widened to 8.0. The students saw this one hour ago in the prediction IntDivision. Fix: sum /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idea as Task 4 repeated six times. Students who know loops may want to use one. That is fine, but loops are the topic of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week the starter code arrives as a Maven project with tests. Nothing needs to be installed for that, IntelliJ IDEA brings Maven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589520" cy="6858000"/>
          </a:xfrm>
          <a:prstGeom prst="rect">
            <a:avLst/>
          </a:prstGeom>
          <a:solidFill>
            <a:srgbClr val="262B33"/>
          </a:solidFill>
          <a:ln w="12700">
            <a:solidFill>
              <a:srgbClr val="262B33"/>
            </a:solidFill>
            <a:prstDash val="solid"/>
          </a:ln>
        </p:spPr>
      </p:sp>
      <p:sp>
        <p:nvSpPr>
          <p:cNvPr id="3" name="Text 1"/>
          <p:cNvSpPr txBox="1"/>
          <p:nvPr/>
        </p:nvSpPr>
        <p:spPr>
          <a:xfrm>
            <a:off x="731520" y="1188720"/>
            <a:ext cx="6309360" cy="365760"/>
          </a:xfrm>
          <a:prstGeom prst="rect">
            <a:avLst/>
          </a:prstGeom>
          <a:noFill/>
          <a:ln/>
        </p:spPr>
        <p:txBody>
          <a:bodyPr wrap="square" lIns="0" tIns="0" rIns="0" bIns="0" rtlCol="0" anchor="ctr"/>
          <a:lstStyle/>
          <a:p>
            <a:pPr indent="0" marL="0">
              <a:buNone/>
            </a:pPr>
            <a:r>
              <a:rPr lang="en-US" sz="1600" b="1" spc="300" kern="0" dirty="0">
                <a:solidFill>
                  <a:srgbClr val="FFFFFF"/>
                </a:solidFill>
                <a:latin typeface="Calibri" pitchFamily="34" charset="0"/>
                <a:ea typeface="Calibri" pitchFamily="34" charset="-122"/>
                <a:cs typeface="Calibri" pitchFamily="34" charset="-120"/>
              </a:rPr>
              <a:t>WEEK 1  ·  LAB</a:t>
            </a:r>
            <a:endParaRPr lang="en-US" sz="1600" dirty="0"/>
          </a:p>
        </p:txBody>
      </p:sp>
      <p:sp>
        <p:nvSpPr>
          <p:cNvPr id="4" name="Text 2"/>
          <p:cNvSpPr txBox="1"/>
          <p:nvPr/>
        </p:nvSpPr>
        <p:spPr>
          <a:xfrm>
            <a:off x="731520" y="1737360"/>
            <a:ext cx="6309360" cy="2377440"/>
          </a:xfrm>
          <a:prstGeom prst="rect">
            <a:avLst/>
          </a:prstGeom>
          <a:noFill/>
          <a:ln/>
        </p:spPr>
        <p:txBody>
          <a:bodyPr wrap="square" lIns="0" tIns="0" rIns="0" bIns="0" rtlCol="0" anchor="t">
            <a:normAutofit/>
          </a:bodyPr>
          <a:lstStyle/>
          <a:p>
            <a:pPr indent="0" marL="0">
              <a:buNone/>
            </a:pPr>
            <a:r>
              <a:rPr lang="en-US" sz="4400" b="1" dirty="0">
                <a:solidFill>
                  <a:srgbClr val="FFFFFF"/>
                </a:solidFill>
                <a:latin typeface="Calibri" pitchFamily="34" charset="0"/>
                <a:ea typeface="Calibri" pitchFamily="34" charset="-122"/>
                <a:cs typeface="Calibri" pitchFamily="34" charset="-120"/>
              </a:rPr>
              <a:t>First program, first push, first bug</a:t>
            </a:r>
            <a:endParaRPr lang="en-US" sz="4400" dirty="0"/>
          </a:p>
        </p:txBody>
      </p:sp>
      <p:sp>
        <p:nvSpPr>
          <p:cNvPr id="5" name="Text 3"/>
          <p:cNvSpPr txBox="1"/>
          <p:nvPr/>
        </p:nvSpPr>
        <p:spPr>
          <a:xfrm>
            <a:off x="731520" y="3447288"/>
            <a:ext cx="6309360" cy="10972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Set up your tools, run Java from the terminal and from IntelliJ IDEA, use Git and the debugger</a:t>
            </a:r>
            <a:endParaRPr lang="en-US" sz="2000" dirty="0"/>
          </a:p>
        </p:txBody>
      </p:sp>
      <p:sp>
        <p:nvSpPr>
          <p:cNvPr id="6" name="Text 4"/>
          <p:cNvSpPr txBox="1"/>
          <p:nvPr/>
        </p:nvSpPr>
        <p:spPr>
          <a:xfrm>
            <a:off x="731520" y="5806440"/>
            <a:ext cx="6309360" cy="3200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Laboratory exercises: Ivana Filkova</a:t>
            </a:r>
            <a:endParaRPr lang="en-US" sz="1500" dirty="0"/>
          </a:p>
        </p:txBody>
      </p:sp>
      <p:pic>
        <p:nvPicPr>
          <p:cNvPr id="7" name="Image 0" descr="/home/claude/decks/assets/logo-color-md.png">    </p:cNvPr>
          <p:cNvPicPr>
            <a:picLocks noChangeAspect="1"/>
          </p:cNvPicPr>
          <p:nvPr/>
        </p:nvPicPr>
        <p:blipFill>
          <a:blip r:embed="rId1"/>
          <a:stretch>
            <a:fillRect/>
          </a:stretch>
        </p:blipFill>
        <p:spPr>
          <a:xfrm>
            <a:off x="8107528" y="1554480"/>
            <a:ext cx="3566160" cy="1304375"/>
          </a:xfrm>
          <a:prstGeom prst="rect">
            <a:avLst/>
          </a:prstGeom>
        </p:spPr>
      </p:pic>
      <p:sp>
        <p:nvSpPr>
          <p:cNvPr id="8" name="Text 5"/>
          <p:cNvSpPr txBox="1"/>
          <p:nvPr/>
        </p:nvSpPr>
        <p:spPr>
          <a:xfrm>
            <a:off x="7955280" y="3291840"/>
            <a:ext cx="3870655" cy="640080"/>
          </a:xfrm>
          <a:prstGeom prst="rect">
            <a:avLst/>
          </a:prstGeom>
          <a:noFill/>
          <a:ln/>
        </p:spPr>
        <p:txBody>
          <a:bodyPr wrap="square" lIns="0" tIns="0" rIns="0" bIns="0" rtlCol="0" anchor="ctr"/>
          <a:lstStyle/>
          <a:p>
            <a:pPr algn="ctr" indent="0" marL="0">
              <a:buNone/>
            </a:pPr>
            <a:r>
              <a:rPr lang="en-US" sz="1500" dirty="0">
                <a:solidFill>
                  <a:srgbClr val="1F2328"/>
                </a:solidFill>
                <a:latin typeface="Calibri" pitchFamily="34" charset="0"/>
                <a:ea typeface="Calibri" pitchFamily="34" charset="-122"/>
                <a:cs typeface="Calibri" pitchFamily="34" charset="-120"/>
              </a:rPr>
              <a:t>School of Computer Science and Information Technology</a:t>
            </a:r>
            <a:endParaRPr lang="en-US" sz="1500" dirty="0"/>
          </a:p>
        </p:txBody>
      </p:sp>
      <p:sp>
        <p:nvSpPr>
          <p:cNvPr id="9" name="Text 6"/>
          <p:cNvSpPr txBox="1"/>
          <p:nvPr/>
        </p:nvSpPr>
        <p:spPr>
          <a:xfrm>
            <a:off x="7955280" y="3977640"/>
            <a:ext cx="3870655" cy="365760"/>
          </a:xfrm>
          <a:prstGeom prst="rect">
            <a:avLst/>
          </a:prstGeom>
          <a:noFill/>
          <a:ln/>
        </p:spPr>
        <p:txBody>
          <a:bodyPr wrap="square" lIns="0" tIns="0" rIns="0" bIns="0" rtlCol="0" anchor="ctr"/>
          <a:lstStyle/>
          <a:p>
            <a:pPr algn="ctr" indent="0" marL="0">
              <a:buNone/>
            </a:pPr>
            <a:r>
              <a:rPr lang="en-US" sz="1500" b="1" dirty="0">
                <a:solidFill>
                  <a:srgbClr val="C6333B"/>
                </a:solidFill>
                <a:latin typeface="Calibri" pitchFamily="34" charset="0"/>
                <a:ea typeface="Calibri" pitchFamily="34" charset="-122"/>
                <a:cs typeface="Calibri" pitchFamily="34" charset="-120"/>
              </a:rPr>
              <a:t>Programming Languages  ·  CSCI 2430</a:t>
            </a:r>
            <a:endParaRPr lang="en-US" sz="1500" dirty="0"/>
          </a:p>
        </p:txBody>
      </p:sp>
      <p:sp>
        <p:nvSpPr>
          <p:cNvPr id="10" name="Text 7"/>
          <p:cNvSpPr txBox="1"/>
          <p:nvPr/>
        </p:nvSpPr>
        <p:spPr>
          <a:xfrm>
            <a:off x="7955280" y="4389120"/>
            <a:ext cx="3870655" cy="365760"/>
          </a:xfrm>
          <a:prstGeom prst="rect">
            <a:avLst/>
          </a:prstGeom>
          <a:noFill/>
          <a:ln/>
        </p:spPr>
        <p:txBody>
          <a:bodyPr wrap="square" lIns="0" tIns="0" rIns="0" bIns="0" rtlCol="0" anchor="ctr"/>
          <a:lstStyle/>
          <a:p>
            <a:pPr algn="ctr" indent="0" marL="0">
              <a:buNone/>
            </a:pPr>
            <a:r>
              <a:rPr lang="en-US" sz="1400" dirty="0">
                <a:solidFill>
                  <a:srgbClr val="5B6470"/>
                </a:solidFill>
                <a:latin typeface="Calibri" pitchFamily="34" charset="0"/>
                <a:ea typeface="Calibri" pitchFamily="34" charset="-122"/>
                <a:cs typeface="Calibri" pitchFamily="34" charset="-120"/>
              </a:rPr>
              <a:t>Academic year 2026/27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PLAN FOR THE LAB</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What we do in these 90 minutes</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1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2</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8" name="Shape 4"/>
          <p:cNvSpPr/>
          <p:nvPr/>
        </p:nvSpPr>
        <p:spPr>
          <a:xfrm>
            <a:off x="548640" y="1508760"/>
            <a:ext cx="11094415" cy="512064"/>
          </a:xfrm>
          <a:prstGeom prst="roundRect">
            <a:avLst>
              <a:gd name="adj" fmla="val 14286"/>
            </a:avLst>
          </a:prstGeom>
          <a:solidFill>
            <a:srgbClr val="F3F4F6"/>
          </a:solidFill>
          <a:ln w="12700">
            <a:solidFill>
              <a:srgbClr val="F3F4F6"/>
            </a:solidFill>
            <a:prstDash val="solid"/>
          </a:ln>
        </p:spPr>
      </p:sp>
      <p:sp>
        <p:nvSpPr>
          <p:cNvPr id="9" name="Text 5"/>
          <p:cNvSpPr txBox="1"/>
          <p:nvPr/>
        </p:nvSpPr>
        <p:spPr>
          <a:xfrm>
            <a:off x="777240" y="1508760"/>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0:00 to 0:20</a:t>
            </a:r>
            <a:endParaRPr lang="en-US" sz="1400" dirty="0"/>
          </a:p>
        </p:txBody>
      </p:sp>
      <p:sp>
        <p:nvSpPr>
          <p:cNvPr id="10" name="Text 6"/>
          <p:cNvSpPr txBox="1"/>
          <p:nvPr/>
        </p:nvSpPr>
        <p:spPr>
          <a:xfrm>
            <a:off x="2560320" y="1508760"/>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Set up and check your tools</a:t>
            </a:r>
            <a:pPr indent="0" marL="0">
              <a:buNone/>
            </a:pPr>
            <a:r>
              <a:rPr lang="en-US" sz="1800" dirty="0">
                <a:solidFill>
                  <a:srgbClr val="5B6470"/>
                </a:solidFill>
                <a:latin typeface="Calibri" pitchFamily="34" charset="0"/>
                <a:ea typeface="Calibri" pitchFamily="34" charset="-122"/>
                <a:cs typeface="Calibri" pitchFamily="34" charset="-120"/>
              </a:rPr>
              <a:t>   JDK 25, IntelliJ IDEA, Git, GitHub account</a:t>
            </a:r>
            <a:endParaRPr lang="en-US" sz="1800" dirty="0"/>
          </a:p>
        </p:txBody>
      </p:sp>
      <p:sp>
        <p:nvSpPr>
          <p:cNvPr id="11" name="Shape 7"/>
          <p:cNvSpPr/>
          <p:nvPr/>
        </p:nvSpPr>
        <p:spPr>
          <a:xfrm>
            <a:off x="10408615" y="1609344"/>
            <a:ext cx="1005840" cy="310896"/>
          </a:xfrm>
          <a:prstGeom prst="roundRect">
            <a:avLst>
              <a:gd name="adj" fmla="val 50000"/>
            </a:avLst>
          </a:prstGeom>
          <a:solidFill>
            <a:srgbClr val="262B33"/>
          </a:solidFill>
          <a:ln w="12700">
            <a:solidFill>
              <a:srgbClr val="262B33"/>
            </a:solidFill>
            <a:prstDash val="solid"/>
          </a:ln>
        </p:spPr>
      </p:sp>
      <p:sp>
        <p:nvSpPr>
          <p:cNvPr id="12" name="Text 8"/>
          <p:cNvSpPr txBox="1"/>
          <p:nvPr/>
        </p:nvSpPr>
        <p:spPr>
          <a:xfrm>
            <a:off x="10408615" y="1609344"/>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 min</a:t>
            </a:r>
            <a:endParaRPr lang="en-US" sz="1200" dirty="0"/>
          </a:p>
        </p:txBody>
      </p:sp>
      <p:sp>
        <p:nvSpPr>
          <p:cNvPr id="13" name="Text 9"/>
          <p:cNvSpPr txBox="1"/>
          <p:nvPr/>
        </p:nvSpPr>
        <p:spPr>
          <a:xfrm>
            <a:off x="777240" y="2075688"/>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0:20 to 0:30</a:t>
            </a:r>
            <a:endParaRPr lang="en-US" sz="1400" dirty="0"/>
          </a:p>
        </p:txBody>
      </p:sp>
      <p:sp>
        <p:nvSpPr>
          <p:cNvPr id="14" name="Text 10"/>
          <p:cNvSpPr txBox="1"/>
          <p:nvPr/>
        </p:nvSpPr>
        <p:spPr>
          <a:xfrm>
            <a:off x="2560320" y="2075688"/>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Task 1  Warm up</a:t>
            </a:r>
            <a:pPr indent="0" marL="0">
              <a:buNone/>
            </a:pPr>
            <a:r>
              <a:rPr lang="en-US" sz="1800" dirty="0">
                <a:solidFill>
                  <a:srgbClr val="5B6470"/>
                </a:solidFill>
                <a:latin typeface="Calibri" pitchFamily="34" charset="0"/>
                <a:ea typeface="Calibri" pitchFamily="34" charset="-122"/>
                <a:cs typeface="Calibri" pitchFamily="34" charset="-120"/>
              </a:rPr>
              <a:t>   Hello, from the terminal and from the IDE</a:t>
            </a:r>
            <a:endParaRPr lang="en-US" sz="1800" dirty="0"/>
          </a:p>
        </p:txBody>
      </p:sp>
      <p:sp>
        <p:nvSpPr>
          <p:cNvPr id="15" name="Shape 11"/>
          <p:cNvSpPr/>
          <p:nvPr/>
        </p:nvSpPr>
        <p:spPr>
          <a:xfrm>
            <a:off x="10408615" y="2176272"/>
            <a:ext cx="1005840" cy="310896"/>
          </a:xfrm>
          <a:prstGeom prst="roundRect">
            <a:avLst>
              <a:gd name="adj" fmla="val 50000"/>
            </a:avLst>
          </a:prstGeom>
          <a:solidFill>
            <a:srgbClr val="262B33"/>
          </a:solidFill>
          <a:ln w="12700">
            <a:solidFill>
              <a:srgbClr val="262B33"/>
            </a:solidFill>
            <a:prstDash val="solid"/>
          </a:ln>
        </p:spPr>
      </p:sp>
      <p:sp>
        <p:nvSpPr>
          <p:cNvPr id="16" name="Text 12"/>
          <p:cNvSpPr txBox="1"/>
          <p:nvPr/>
        </p:nvSpPr>
        <p:spPr>
          <a:xfrm>
            <a:off x="10408615" y="2176272"/>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min</a:t>
            </a:r>
            <a:endParaRPr lang="en-US" sz="1200" dirty="0"/>
          </a:p>
        </p:txBody>
      </p:sp>
      <p:sp>
        <p:nvSpPr>
          <p:cNvPr id="17" name="Shape 13"/>
          <p:cNvSpPr/>
          <p:nvPr/>
        </p:nvSpPr>
        <p:spPr>
          <a:xfrm>
            <a:off x="548640" y="2642616"/>
            <a:ext cx="11094415" cy="512064"/>
          </a:xfrm>
          <a:prstGeom prst="roundRect">
            <a:avLst>
              <a:gd name="adj" fmla="val 14286"/>
            </a:avLst>
          </a:prstGeom>
          <a:solidFill>
            <a:srgbClr val="F3F4F6"/>
          </a:solidFill>
          <a:ln w="12700">
            <a:solidFill>
              <a:srgbClr val="F3F4F6"/>
            </a:solidFill>
            <a:prstDash val="solid"/>
          </a:ln>
        </p:spPr>
      </p:sp>
      <p:sp>
        <p:nvSpPr>
          <p:cNvPr id="18" name="Text 14"/>
          <p:cNvSpPr txBox="1"/>
          <p:nvPr/>
        </p:nvSpPr>
        <p:spPr>
          <a:xfrm>
            <a:off x="777240" y="2642616"/>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0:30 to 0:50</a:t>
            </a:r>
            <a:endParaRPr lang="en-US" sz="1400" dirty="0"/>
          </a:p>
        </p:txBody>
      </p:sp>
      <p:sp>
        <p:nvSpPr>
          <p:cNvPr id="19" name="Text 15"/>
          <p:cNvSpPr txBox="1"/>
          <p:nvPr/>
        </p:nvSpPr>
        <p:spPr>
          <a:xfrm>
            <a:off x="2560320" y="2642616"/>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Task 2  Your repository</a:t>
            </a:r>
            <a:pPr indent="0" marL="0">
              <a:buNone/>
            </a:pPr>
            <a:r>
              <a:rPr lang="en-US" sz="1800" dirty="0">
                <a:solidFill>
                  <a:srgbClr val="5B6470"/>
                </a:solidFill>
                <a:latin typeface="Calibri" pitchFamily="34" charset="0"/>
                <a:ea typeface="Calibri" pitchFamily="34" charset="-122"/>
                <a:cs typeface="Calibri" pitchFamily="34" charset="-120"/>
              </a:rPr>
              <a:t>   create, clone, commit, push</a:t>
            </a:r>
            <a:endParaRPr lang="en-US" sz="1800" dirty="0"/>
          </a:p>
        </p:txBody>
      </p:sp>
      <p:sp>
        <p:nvSpPr>
          <p:cNvPr id="20" name="Shape 16"/>
          <p:cNvSpPr/>
          <p:nvPr/>
        </p:nvSpPr>
        <p:spPr>
          <a:xfrm>
            <a:off x="10408615" y="2743200"/>
            <a:ext cx="1005840" cy="310896"/>
          </a:xfrm>
          <a:prstGeom prst="roundRect">
            <a:avLst>
              <a:gd name="adj" fmla="val 50000"/>
            </a:avLst>
          </a:prstGeom>
          <a:solidFill>
            <a:srgbClr val="262B33"/>
          </a:solidFill>
          <a:ln w="12700">
            <a:solidFill>
              <a:srgbClr val="262B33"/>
            </a:solidFill>
            <a:prstDash val="solid"/>
          </a:ln>
        </p:spPr>
      </p:sp>
      <p:sp>
        <p:nvSpPr>
          <p:cNvPr id="21" name="Text 17"/>
          <p:cNvSpPr txBox="1"/>
          <p:nvPr/>
        </p:nvSpPr>
        <p:spPr>
          <a:xfrm>
            <a:off x="10408615" y="2743200"/>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 min</a:t>
            </a:r>
            <a:endParaRPr lang="en-US" sz="1200" dirty="0"/>
          </a:p>
        </p:txBody>
      </p:sp>
      <p:sp>
        <p:nvSpPr>
          <p:cNvPr id="22" name="Text 18"/>
          <p:cNvSpPr txBox="1"/>
          <p:nvPr/>
        </p:nvSpPr>
        <p:spPr>
          <a:xfrm>
            <a:off x="777240" y="3209544"/>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0:50 to 1:02</a:t>
            </a:r>
            <a:endParaRPr lang="en-US" sz="1400" dirty="0"/>
          </a:p>
        </p:txBody>
      </p:sp>
      <p:sp>
        <p:nvSpPr>
          <p:cNvPr id="23" name="Text 19"/>
          <p:cNvSpPr txBox="1"/>
          <p:nvPr/>
        </p:nvSpPr>
        <p:spPr>
          <a:xfrm>
            <a:off x="2560320" y="3209544"/>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Task 3  Temperature converter</a:t>
            </a:r>
            <a:pPr indent="0" marL="0">
              <a:buNone/>
            </a:pPr>
            <a:r>
              <a:rPr lang="en-US" sz="1800" dirty="0">
                <a:solidFill>
                  <a:srgbClr val="5B6470"/>
                </a:solidFill>
                <a:latin typeface="Calibri" pitchFamily="34" charset="0"/>
                <a:ea typeface="Calibri" pitchFamily="34" charset="-122"/>
                <a:cs typeface="Calibri" pitchFamily="34" charset="-120"/>
              </a:rPr>
              <a:t>   input, double, arithmetic</a:t>
            </a:r>
            <a:endParaRPr lang="en-US" sz="1800" dirty="0"/>
          </a:p>
        </p:txBody>
      </p:sp>
      <p:sp>
        <p:nvSpPr>
          <p:cNvPr id="24" name="Shape 20"/>
          <p:cNvSpPr/>
          <p:nvPr/>
        </p:nvSpPr>
        <p:spPr>
          <a:xfrm>
            <a:off x="10408615" y="3310128"/>
            <a:ext cx="1005840" cy="310896"/>
          </a:xfrm>
          <a:prstGeom prst="roundRect">
            <a:avLst>
              <a:gd name="adj" fmla="val 50000"/>
            </a:avLst>
          </a:prstGeom>
          <a:solidFill>
            <a:srgbClr val="262B33"/>
          </a:solidFill>
          <a:ln w="12700">
            <a:solidFill>
              <a:srgbClr val="262B33"/>
            </a:solidFill>
            <a:prstDash val="solid"/>
          </a:ln>
        </p:spPr>
      </p:sp>
      <p:sp>
        <p:nvSpPr>
          <p:cNvPr id="25" name="Text 21"/>
          <p:cNvSpPr txBox="1"/>
          <p:nvPr/>
        </p:nvSpPr>
        <p:spPr>
          <a:xfrm>
            <a:off x="10408615" y="3310128"/>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 min</a:t>
            </a:r>
            <a:endParaRPr lang="en-US" sz="1200" dirty="0"/>
          </a:p>
        </p:txBody>
      </p:sp>
      <p:sp>
        <p:nvSpPr>
          <p:cNvPr id="26" name="Shape 22"/>
          <p:cNvSpPr/>
          <p:nvPr/>
        </p:nvSpPr>
        <p:spPr>
          <a:xfrm>
            <a:off x="548640" y="3776472"/>
            <a:ext cx="11094415" cy="512064"/>
          </a:xfrm>
          <a:prstGeom prst="roundRect">
            <a:avLst>
              <a:gd name="adj" fmla="val 14286"/>
            </a:avLst>
          </a:prstGeom>
          <a:solidFill>
            <a:srgbClr val="F3F4F6"/>
          </a:solidFill>
          <a:ln w="12700">
            <a:solidFill>
              <a:srgbClr val="F3F4F6"/>
            </a:solidFill>
            <a:prstDash val="solid"/>
          </a:ln>
        </p:spPr>
      </p:sp>
      <p:sp>
        <p:nvSpPr>
          <p:cNvPr id="27" name="Text 23"/>
          <p:cNvSpPr txBox="1"/>
          <p:nvPr/>
        </p:nvSpPr>
        <p:spPr>
          <a:xfrm>
            <a:off x="777240" y="3776472"/>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1:02 to 1:12</a:t>
            </a:r>
            <a:endParaRPr lang="en-US" sz="1400" dirty="0"/>
          </a:p>
        </p:txBody>
      </p:sp>
      <p:sp>
        <p:nvSpPr>
          <p:cNvPr id="28" name="Text 24"/>
          <p:cNvSpPr txBox="1"/>
          <p:nvPr/>
        </p:nvSpPr>
        <p:spPr>
          <a:xfrm>
            <a:off x="2560320" y="3776472"/>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Task 4  Time split</a:t>
            </a:r>
            <a:pPr indent="0" marL="0">
              <a:buNone/>
            </a:pPr>
            <a:r>
              <a:rPr lang="en-US" sz="1800" dirty="0">
                <a:solidFill>
                  <a:srgbClr val="5B6470"/>
                </a:solidFill>
                <a:latin typeface="Calibri" pitchFamily="34" charset="0"/>
                <a:ea typeface="Calibri" pitchFamily="34" charset="-122"/>
                <a:cs typeface="Calibri" pitchFamily="34" charset="-120"/>
              </a:rPr>
              <a:t>   int division and the % operator</a:t>
            </a:r>
            <a:endParaRPr lang="en-US" sz="1800" dirty="0"/>
          </a:p>
        </p:txBody>
      </p:sp>
      <p:sp>
        <p:nvSpPr>
          <p:cNvPr id="29" name="Shape 25"/>
          <p:cNvSpPr/>
          <p:nvPr/>
        </p:nvSpPr>
        <p:spPr>
          <a:xfrm>
            <a:off x="10408615" y="3877056"/>
            <a:ext cx="1005840" cy="310896"/>
          </a:xfrm>
          <a:prstGeom prst="roundRect">
            <a:avLst>
              <a:gd name="adj" fmla="val 50000"/>
            </a:avLst>
          </a:prstGeom>
          <a:solidFill>
            <a:srgbClr val="262B33"/>
          </a:solidFill>
          <a:ln w="12700">
            <a:solidFill>
              <a:srgbClr val="262B33"/>
            </a:solidFill>
            <a:prstDash val="solid"/>
          </a:ln>
        </p:spPr>
      </p:sp>
      <p:sp>
        <p:nvSpPr>
          <p:cNvPr id="30" name="Text 26"/>
          <p:cNvSpPr txBox="1"/>
          <p:nvPr/>
        </p:nvSpPr>
        <p:spPr>
          <a:xfrm>
            <a:off x="10408615" y="3877056"/>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min</a:t>
            </a:r>
            <a:endParaRPr lang="en-US" sz="1200" dirty="0"/>
          </a:p>
        </p:txBody>
      </p:sp>
      <p:sp>
        <p:nvSpPr>
          <p:cNvPr id="31" name="Text 27"/>
          <p:cNvSpPr txBox="1"/>
          <p:nvPr/>
        </p:nvSpPr>
        <p:spPr>
          <a:xfrm>
            <a:off x="777240" y="4343400"/>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1:12 to 1:25</a:t>
            </a:r>
            <a:endParaRPr lang="en-US" sz="1400" dirty="0"/>
          </a:p>
        </p:txBody>
      </p:sp>
      <p:sp>
        <p:nvSpPr>
          <p:cNvPr id="32" name="Text 28"/>
          <p:cNvSpPr txBox="1"/>
          <p:nvPr/>
        </p:nvSpPr>
        <p:spPr>
          <a:xfrm>
            <a:off x="2560320" y="4343400"/>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Task 5  Find the bug with the debugger</a:t>
            </a:r>
            <a:pPr indent="0" marL="0">
              <a:buNone/>
            </a:pPr>
            <a:endParaRPr lang="en-US" sz="1800" dirty="0"/>
          </a:p>
        </p:txBody>
      </p:sp>
      <p:sp>
        <p:nvSpPr>
          <p:cNvPr id="33" name="Shape 29"/>
          <p:cNvSpPr/>
          <p:nvPr/>
        </p:nvSpPr>
        <p:spPr>
          <a:xfrm>
            <a:off x="10408615" y="4443984"/>
            <a:ext cx="1005840" cy="310896"/>
          </a:xfrm>
          <a:prstGeom prst="roundRect">
            <a:avLst>
              <a:gd name="adj" fmla="val 50000"/>
            </a:avLst>
          </a:prstGeom>
          <a:solidFill>
            <a:srgbClr val="262B33"/>
          </a:solidFill>
          <a:ln w="12700">
            <a:solidFill>
              <a:srgbClr val="262B33"/>
            </a:solidFill>
            <a:prstDash val="solid"/>
          </a:ln>
        </p:spPr>
      </p:sp>
      <p:sp>
        <p:nvSpPr>
          <p:cNvPr id="34" name="Text 30"/>
          <p:cNvSpPr txBox="1"/>
          <p:nvPr/>
        </p:nvSpPr>
        <p:spPr>
          <a:xfrm>
            <a:off x="10408615" y="4443984"/>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13 min</a:t>
            </a:r>
            <a:endParaRPr lang="en-US" sz="1200" dirty="0"/>
          </a:p>
        </p:txBody>
      </p:sp>
      <p:sp>
        <p:nvSpPr>
          <p:cNvPr id="35" name="Shape 31"/>
          <p:cNvSpPr/>
          <p:nvPr/>
        </p:nvSpPr>
        <p:spPr>
          <a:xfrm>
            <a:off x="548640" y="4910328"/>
            <a:ext cx="11094415" cy="512064"/>
          </a:xfrm>
          <a:prstGeom prst="roundRect">
            <a:avLst>
              <a:gd name="adj" fmla="val 14286"/>
            </a:avLst>
          </a:prstGeom>
          <a:solidFill>
            <a:srgbClr val="F3F4F6"/>
          </a:solidFill>
          <a:ln w="12700">
            <a:solidFill>
              <a:srgbClr val="F3F4F6"/>
            </a:solidFill>
            <a:prstDash val="solid"/>
          </a:ln>
        </p:spPr>
      </p:sp>
      <p:sp>
        <p:nvSpPr>
          <p:cNvPr id="36" name="Text 32"/>
          <p:cNvSpPr txBox="1"/>
          <p:nvPr/>
        </p:nvSpPr>
        <p:spPr>
          <a:xfrm>
            <a:off x="777240" y="4910328"/>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1:25 to 1:30</a:t>
            </a:r>
            <a:endParaRPr lang="en-US" sz="1400" dirty="0"/>
          </a:p>
        </p:txBody>
      </p:sp>
      <p:sp>
        <p:nvSpPr>
          <p:cNvPr id="37" name="Text 33"/>
          <p:cNvSpPr txBox="1"/>
          <p:nvPr/>
        </p:nvSpPr>
        <p:spPr>
          <a:xfrm>
            <a:off x="2560320" y="4910328"/>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Push and check</a:t>
            </a:r>
            <a:pPr indent="0" marL="0">
              <a:buNone/>
            </a:pPr>
            <a:r>
              <a:rPr lang="en-US" sz="1800" dirty="0">
                <a:solidFill>
                  <a:srgbClr val="5B6470"/>
                </a:solidFill>
                <a:latin typeface="Calibri" pitchFamily="34" charset="0"/>
                <a:ea typeface="Calibri" pitchFamily="34" charset="-122"/>
                <a:cs typeface="Calibri" pitchFamily="34" charset="-120"/>
              </a:rPr>
              <a:t>   Task 6 is a stretch task for fast students</a:t>
            </a:r>
            <a:endParaRPr lang="en-US" sz="1800" dirty="0"/>
          </a:p>
        </p:txBody>
      </p:sp>
      <p:sp>
        <p:nvSpPr>
          <p:cNvPr id="38" name="Shape 34"/>
          <p:cNvSpPr/>
          <p:nvPr/>
        </p:nvSpPr>
        <p:spPr>
          <a:xfrm>
            <a:off x="10408615" y="5010912"/>
            <a:ext cx="1005840" cy="310896"/>
          </a:xfrm>
          <a:prstGeom prst="roundRect">
            <a:avLst>
              <a:gd name="adj" fmla="val 50000"/>
            </a:avLst>
          </a:prstGeom>
          <a:solidFill>
            <a:srgbClr val="262B33"/>
          </a:solidFill>
          <a:ln w="12700">
            <a:solidFill>
              <a:srgbClr val="262B33"/>
            </a:solidFill>
            <a:prstDash val="solid"/>
          </a:ln>
        </p:spPr>
      </p:sp>
      <p:sp>
        <p:nvSpPr>
          <p:cNvPr id="39" name="Text 35"/>
          <p:cNvSpPr txBox="1"/>
          <p:nvPr/>
        </p:nvSpPr>
        <p:spPr>
          <a:xfrm>
            <a:off x="10408615" y="5010912"/>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min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HOUSE RULES</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How every lab works</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1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3</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7" name="Shape 4"/>
          <p:cNvSpPr/>
          <p:nvPr/>
        </p:nvSpPr>
        <p:spPr>
          <a:xfrm>
            <a:off x="548640" y="1572768"/>
            <a:ext cx="457200" cy="457200"/>
          </a:xfrm>
          <a:prstGeom prst="ellipse">
            <a:avLst/>
          </a:prstGeom>
          <a:solidFill>
            <a:srgbClr val="262B33"/>
          </a:solidFill>
          <a:ln w="12700">
            <a:solidFill>
              <a:srgbClr val="262B33"/>
            </a:solidFill>
            <a:prstDash val="solid"/>
          </a:ln>
        </p:spPr>
      </p:sp>
      <p:sp>
        <p:nvSpPr>
          <p:cNvPr id="8" name="Text 5"/>
          <p:cNvSpPr txBox="1"/>
          <p:nvPr/>
        </p:nvSpPr>
        <p:spPr>
          <a:xfrm>
            <a:off x="548640" y="15727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1234440" y="1554480"/>
            <a:ext cx="5989320" cy="971042"/>
          </a:xfrm>
          <a:prstGeom prst="rect">
            <a:avLst/>
          </a:prstGeom>
          <a:noFill/>
          <a:ln/>
        </p:spPr>
        <p:txBody>
          <a:bodyPr wrap="square" lIns="0" tIns="0" rIns="0" bIns="0" rtlCol="0" anchor="t"/>
          <a:lstStyle/>
          <a:p>
            <a:pPr indent="0" marL="0">
              <a:buNone/>
            </a:pPr>
            <a:r>
              <a:rPr lang="en-US" sz="2200" b="1" dirty="0">
                <a:solidFill>
                  <a:srgbClr val="1F2328"/>
                </a:solidFill>
                <a:latin typeface="Calibri" pitchFamily="34" charset="0"/>
                <a:ea typeface="Calibri" pitchFamily="34" charset="-122"/>
                <a:cs typeface="Calibri" pitchFamily="34" charset="-120"/>
              </a:rPr>
              <a:t>Warm up first</a:t>
            </a:r>
            <a:endParaRPr lang="en-US" sz="2200" dirty="0"/>
          </a:p>
          <a:p>
            <a:pPr indent="0" marL="0">
              <a:buNone/>
            </a:pPr>
            <a:r>
              <a:rPr lang="en-US" sz="1800" dirty="0">
                <a:solidFill>
                  <a:srgbClr val="5B6470"/>
                </a:solidFill>
                <a:latin typeface="Calibri" pitchFamily="34" charset="0"/>
                <a:ea typeface="Calibri" pitchFamily="34" charset="-122"/>
                <a:cs typeface="Calibri" pitchFamily="34" charset="-120"/>
              </a:rPr>
              <a:t>A small task of about ten minutes that everyone can finish.</a:t>
            </a:r>
            <a:endParaRPr lang="en-US" sz="2200" dirty="0"/>
          </a:p>
        </p:txBody>
      </p:sp>
      <p:sp>
        <p:nvSpPr>
          <p:cNvPr id="10" name="Shape 7"/>
          <p:cNvSpPr/>
          <p:nvPr/>
        </p:nvSpPr>
        <p:spPr>
          <a:xfrm>
            <a:off x="548640" y="2910078"/>
            <a:ext cx="457200" cy="457200"/>
          </a:xfrm>
          <a:prstGeom prst="ellipse">
            <a:avLst/>
          </a:prstGeom>
          <a:solidFill>
            <a:srgbClr val="262B33"/>
          </a:solidFill>
          <a:ln w="12700">
            <a:solidFill>
              <a:srgbClr val="262B33"/>
            </a:solidFill>
            <a:prstDash val="solid"/>
          </a:ln>
        </p:spPr>
      </p:sp>
      <p:sp>
        <p:nvSpPr>
          <p:cNvPr id="11" name="Text 8"/>
          <p:cNvSpPr txBox="1"/>
          <p:nvPr/>
        </p:nvSpPr>
        <p:spPr>
          <a:xfrm>
            <a:off x="548640" y="291007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234440" y="2891790"/>
            <a:ext cx="5989320" cy="696722"/>
          </a:xfrm>
          <a:prstGeom prst="rect">
            <a:avLst/>
          </a:prstGeom>
          <a:noFill/>
          <a:ln/>
        </p:spPr>
        <p:txBody>
          <a:bodyPr wrap="square" lIns="0" tIns="0" rIns="0" bIns="0" rtlCol="0" anchor="t"/>
          <a:lstStyle/>
          <a:p>
            <a:pPr indent="0" marL="0">
              <a:buNone/>
            </a:pPr>
            <a:r>
              <a:rPr lang="en-US" sz="2200" b="1" dirty="0">
                <a:solidFill>
                  <a:srgbClr val="1F2328"/>
                </a:solidFill>
                <a:latin typeface="Calibri" pitchFamily="34" charset="0"/>
                <a:ea typeface="Calibri" pitchFamily="34" charset="-122"/>
                <a:cs typeface="Calibri" pitchFamily="34" charset="-120"/>
              </a:rPr>
              <a:t>Core tasks</a:t>
            </a:r>
            <a:endParaRPr lang="en-US" sz="2200" dirty="0"/>
          </a:p>
          <a:p>
            <a:pPr indent="0" marL="0">
              <a:buNone/>
            </a:pPr>
            <a:r>
              <a:rPr lang="en-US" sz="1800" dirty="0">
                <a:solidFill>
                  <a:srgbClr val="5B6470"/>
                </a:solidFill>
                <a:latin typeface="Calibri" pitchFamily="34" charset="0"/>
                <a:ea typeface="Calibri" pitchFamily="34" charset="-122"/>
                <a:cs typeface="Calibri" pitchFamily="34" charset="-120"/>
              </a:rPr>
              <a:t>They use only what the lecture explained one hour ago.</a:t>
            </a:r>
            <a:endParaRPr lang="en-US" sz="2200" dirty="0"/>
          </a:p>
        </p:txBody>
      </p:sp>
      <p:sp>
        <p:nvSpPr>
          <p:cNvPr id="13" name="Shape 10"/>
          <p:cNvSpPr/>
          <p:nvPr/>
        </p:nvSpPr>
        <p:spPr>
          <a:xfrm>
            <a:off x="548640" y="3973068"/>
            <a:ext cx="457200" cy="457200"/>
          </a:xfrm>
          <a:prstGeom prst="ellipse">
            <a:avLst/>
          </a:prstGeom>
          <a:solidFill>
            <a:srgbClr val="262B33"/>
          </a:solidFill>
          <a:ln w="12700">
            <a:solidFill>
              <a:srgbClr val="262B33"/>
            </a:solidFill>
            <a:prstDash val="solid"/>
          </a:ln>
        </p:spPr>
      </p:sp>
      <p:sp>
        <p:nvSpPr>
          <p:cNvPr id="14" name="Text 11"/>
          <p:cNvSpPr txBox="1"/>
          <p:nvPr/>
        </p:nvSpPr>
        <p:spPr>
          <a:xfrm>
            <a:off x="548640" y="39730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34440" y="3954780"/>
            <a:ext cx="5989320" cy="696722"/>
          </a:xfrm>
          <a:prstGeom prst="rect">
            <a:avLst/>
          </a:prstGeom>
          <a:noFill/>
          <a:ln/>
        </p:spPr>
        <p:txBody>
          <a:bodyPr wrap="square" lIns="0" tIns="0" rIns="0" bIns="0" rtlCol="0" anchor="t"/>
          <a:lstStyle/>
          <a:p>
            <a:pPr indent="0" marL="0">
              <a:buNone/>
            </a:pPr>
            <a:r>
              <a:rPr lang="en-US" sz="2200" b="1" dirty="0">
                <a:solidFill>
                  <a:srgbClr val="1F2328"/>
                </a:solidFill>
                <a:latin typeface="Calibri" pitchFamily="34" charset="0"/>
                <a:ea typeface="Calibri" pitchFamily="34" charset="-122"/>
                <a:cs typeface="Calibri" pitchFamily="34" charset="-120"/>
              </a:rPr>
              <a:t>Stretch task</a:t>
            </a:r>
            <a:endParaRPr lang="en-US" sz="2200" dirty="0"/>
          </a:p>
          <a:p>
            <a:pPr indent="0" marL="0">
              <a:buNone/>
            </a:pPr>
            <a:r>
              <a:rPr lang="en-US" sz="1800" dirty="0">
                <a:solidFill>
                  <a:srgbClr val="5B6470"/>
                </a:solidFill>
                <a:latin typeface="Calibri" pitchFamily="34" charset="0"/>
                <a:ea typeface="Calibri" pitchFamily="34" charset="-122"/>
                <a:cs typeface="Calibri" pitchFamily="34" charset="-120"/>
              </a:rPr>
              <a:t>For those who finish early. It is not required.</a:t>
            </a:r>
            <a:endParaRPr lang="en-US" sz="2200" dirty="0"/>
          </a:p>
        </p:txBody>
      </p:sp>
      <p:sp>
        <p:nvSpPr>
          <p:cNvPr id="16" name="Shape 13"/>
          <p:cNvSpPr/>
          <p:nvPr/>
        </p:nvSpPr>
        <p:spPr>
          <a:xfrm>
            <a:off x="548640" y="5036058"/>
            <a:ext cx="457200" cy="457200"/>
          </a:xfrm>
          <a:prstGeom prst="ellipse">
            <a:avLst/>
          </a:prstGeom>
          <a:solidFill>
            <a:srgbClr val="262B33"/>
          </a:solidFill>
          <a:ln w="12700">
            <a:solidFill>
              <a:srgbClr val="262B33"/>
            </a:solidFill>
            <a:prstDash val="solid"/>
          </a:ln>
        </p:spPr>
      </p:sp>
      <p:sp>
        <p:nvSpPr>
          <p:cNvPr id="17" name="Text 14"/>
          <p:cNvSpPr txBox="1"/>
          <p:nvPr/>
        </p:nvSpPr>
        <p:spPr>
          <a:xfrm>
            <a:off x="548640" y="503605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5"/>
          <p:cNvSpPr txBox="1"/>
          <p:nvPr/>
        </p:nvSpPr>
        <p:spPr>
          <a:xfrm>
            <a:off x="1234440" y="5017770"/>
            <a:ext cx="5989320" cy="696722"/>
          </a:xfrm>
          <a:prstGeom prst="rect">
            <a:avLst/>
          </a:prstGeom>
          <a:noFill/>
          <a:ln/>
        </p:spPr>
        <p:txBody>
          <a:bodyPr wrap="square" lIns="0" tIns="0" rIns="0" bIns="0" rtlCol="0" anchor="t"/>
          <a:lstStyle/>
          <a:p>
            <a:pPr indent="0" marL="0">
              <a:buNone/>
            </a:pPr>
            <a:r>
              <a:rPr lang="en-US" sz="2200" b="1" dirty="0">
                <a:solidFill>
                  <a:srgbClr val="1F2328"/>
                </a:solidFill>
                <a:latin typeface="Calibri" pitchFamily="34" charset="0"/>
                <a:ea typeface="Calibri" pitchFamily="34" charset="-122"/>
                <a:cs typeface="Calibri" pitchFamily="34" charset="-120"/>
              </a:rPr>
              <a:t>Commit often, push at the end</a:t>
            </a:r>
            <a:endParaRPr lang="en-US" sz="2200" dirty="0"/>
          </a:p>
          <a:p>
            <a:pPr indent="0" marL="0">
              <a:buNone/>
            </a:pPr>
            <a:r>
              <a:rPr lang="en-US" sz="1800" dirty="0">
                <a:solidFill>
                  <a:srgbClr val="5B6470"/>
                </a:solidFill>
                <a:latin typeface="Calibri" pitchFamily="34" charset="0"/>
                <a:ea typeface="Calibri" pitchFamily="34" charset="-122"/>
                <a:cs typeface="Calibri" pitchFamily="34" charset="-120"/>
              </a:rPr>
              <a:t>A lab without a push does not count as done.</a:t>
            </a:r>
            <a:endParaRPr lang="en-US" sz="2200" dirty="0"/>
          </a:p>
        </p:txBody>
      </p:sp>
      <p:sp>
        <p:nvSpPr>
          <p:cNvPr id="19" name="Shape 16"/>
          <p:cNvSpPr/>
          <p:nvPr/>
        </p:nvSpPr>
        <p:spPr>
          <a:xfrm>
            <a:off x="7680960" y="1508760"/>
            <a:ext cx="3962095" cy="4480560"/>
          </a:xfrm>
          <a:prstGeom prst="roundRect">
            <a:avLst>
              <a:gd name="adj" fmla="val 2769"/>
            </a:avLst>
          </a:prstGeom>
          <a:solidFill>
            <a:srgbClr val="FBECED"/>
          </a:solidFill>
          <a:ln w="12700">
            <a:solidFill>
              <a:srgbClr val="FBECED"/>
            </a:solidFill>
            <a:prstDash val="solid"/>
          </a:ln>
        </p:spPr>
      </p:sp>
      <p:sp>
        <p:nvSpPr>
          <p:cNvPr id="20" name="Shape 17"/>
          <p:cNvSpPr/>
          <p:nvPr/>
        </p:nvSpPr>
        <p:spPr>
          <a:xfrm>
            <a:off x="7955280" y="1783080"/>
            <a:ext cx="502920" cy="502920"/>
          </a:xfrm>
          <a:prstGeom prst="ellipse">
            <a:avLst/>
          </a:prstGeom>
          <a:solidFill>
            <a:srgbClr val="C6333B"/>
          </a:solidFill>
          <a:ln w="12700">
            <a:solidFill>
              <a:srgbClr val="C6333B"/>
            </a:solidFill>
            <a:prstDash val="solid"/>
          </a:ln>
        </p:spPr>
      </p:sp>
      <p:sp>
        <p:nvSpPr>
          <p:cNvPr id="21" name="Text 18"/>
          <p:cNvSpPr txBox="1"/>
          <p:nvPr/>
        </p:nvSpPr>
        <p:spPr>
          <a:xfrm>
            <a:off x="8595360" y="1783080"/>
            <a:ext cx="2773375" cy="502920"/>
          </a:xfrm>
          <a:prstGeom prst="rect">
            <a:avLst/>
          </a:prstGeom>
          <a:noFill/>
          <a:ln/>
        </p:spPr>
        <p:txBody>
          <a:bodyPr wrap="square" lIns="0" tIns="0" rIns="0" bIns="0" rtlCol="0" anchor="ctr"/>
          <a:lstStyle/>
          <a:p>
            <a:pPr indent="0" marL="0">
              <a:buNone/>
            </a:pPr>
            <a:r>
              <a:rPr lang="en-US" sz="1700" b="1" dirty="0">
                <a:solidFill>
                  <a:srgbClr val="9C2630"/>
                </a:solidFill>
                <a:latin typeface="Calibri" pitchFamily="34" charset="0"/>
                <a:ea typeface="Calibri" pitchFamily="34" charset="-122"/>
                <a:cs typeface="Calibri" pitchFamily="34" charset="-120"/>
              </a:rPr>
              <a:t>When you are stuck</a:t>
            </a:r>
            <a:endParaRPr lang="en-US" sz="1700" dirty="0"/>
          </a:p>
        </p:txBody>
      </p:sp>
      <p:sp>
        <p:nvSpPr>
          <p:cNvPr id="22" name="Text 19"/>
          <p:cNvSpPr txBox="1"/>
          <p:nvPr/>
        </p:nvSpPr>
        <p:spPr>
          <a:xfrm>
            <a:off x="7955280" y="2468880"/>
            <a:ext cx="3413455" cy="3246120"/>
          </a:xfrm>
          <a:prstGeom prst="rect">
            <a:avLst/>
          </a:prstGeom>
          <a:noFill/>
          <a:ln/>
        </p:spPr>
        <p:txBody>
          <a:bodyPr wrap="square" lIns="0" tIns="0" rIns="0" bIns="0" rtlCol="0" anchor="t"/>
          <a:lstStyle/>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First read the error message, slowly.</a:t>
            </a:r>
            <a:endParaRPr lang="en-US" sz="1800" dirty="0"/>
          </a:p>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Then ask your neighbour.</a:t>
            </a:r>
            <a:endParaRPr lang="en-US" sz="1800" dirty="0"/>
          </a:p>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Then ask Ivana.</a:t>
            </a:r>
            <a:endParaRPr lang="en-US" sz="1800" dirty="0"/>
          </a:p>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From week 2 the tasks arrive with tests. When all tests are green, the task is done.</a:t>
            </a:r>
            <a:endParaRPr lang="en-US" sz="1800" dirty="0"/>
          </a:p>
        </p:txBody>
      </p:sp>
      <p:pic>
        <p:nvPicPr>
          <p:cNvPr id="23" name="Image 1" descr="preencoded.png">    </p:cNvPr>
          <p:cNvPicPr>
            <a:picLocks noChangeAspect="1"/>
          </p:cNvPicPr>
          <p:nvPr/>
        </p:nvPicPr>
        <p:blipFill>
          <a:blip r:embed="rId2"/>
          <a:stretch>
            <a:fillRect/>
          </a:stretch>
        </p:blipFill>
        <p:spPr>
          <a:xfrm>
            <a:off x="8075981" y="1903781"/>
            <a:ext cx="261518" cy="2615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2B33"/>
        </a:solidFill>
      </p:bgPr>
    </p:bg>
    <p:spTree>
      <p:nvGrpSpPr>
        <p:cNvPr id="1" name=""/>
        <p:cNvGrpSpPr/>
        <p:nvPr/>
      </p:nvGrpSpPr>
      <p:grpSpPr>
        <a:xfrm>
          <a:off x="0" y="0"/>
          <a:ext cx="0" cy="0"/>
          <a:chOff x="0" y="0"/>
          <a:chExt cx="0" cy="0"/>
        </a:xfrm>
      </p:grpSpPr>
      <p:sp>
        <p:nvSpPr>
          <p:cNvPr id="2" name="Text 0"/>
          <p:cNvSpPr txBox="1"/>
          <p:nvPr/>
        </p:nvSpPr>
        <p:spPr>
          <a:xfrm>
            <a:off x="731520" y="1371600"/>
            <a:ext cx="2743200" cy="1463040"/>
          </a:xfrm>
          <a:prstGeom prst="rect">
            <a:avLst/>
          </a:prstGeom>
          <a:noFill/>
          <a:ln/>
        </p:spPr>
        <p:txBody>
          <a:bodyPr wrap="square" lIns="0" tIns="0" rIns="0" bIns="0" rtlCol="0" anchor="ctr"/>
          <a:lstStyle/>
          <a:p>
            <a:pPr indent="0" marL="0">
              <a:buNone/>
            </a:pPr>
            <a:r>
              <a:rPr lang="en-US" sz="9600" b="1" dirty="0">
                <a:solidFill>
                  <a:srgbClr val="8A919C"/>
                </a:solidFill>
                <a:latin typeface="Calibri" pitchFamily="34" charset="0"/>
                <a:ea typeface="Calibri" pitchFamily="34" charset="-122"/>
                <a:cs typeface="Calibri" pitchFamily="34" charset="-120"/>
              </a:rPr>
              <a:t>01</a:t>
            </a:r>
            <a:endParaRPr lang="en-US" sz="9600" dirty="0"/>
          </a:p>
        </p:txBody>
      </p:sp>
      <p:sp>
        <p:nvSpPr>
          <p:cNvPr id="3" name="Text 1"/>
          <p:cNvSpPr txBox="1"/>
          <p:nvPr/>
        </p:nvSpPr>
        <p:spPr>
          <a:xfrm>
            <a:off x="731520" y="2880360"/>
            <a:ext cx="9601200" cy="1188720"/>
          </a:xfrm>
          <a:prstGeom prst="rect">
            <a:avLst/>
          </a:prstGeom>
          <a:noFill/>
          <a:ln/>
        </p:spPr>
        <p:txBody>
          <a:bodyPr wrap="square" lIns="0" tIns="0" rIns="0" bIns="0" rtlCol="0" anchor="t">
            <a:normAutofit/>
          </a:bodyPr>
          <a:lstStyle/>
          <a:p>
            <a:pPr indent="0" marL="0">
              <a:buNone/>
            </a:pPr>
            <a:r>
              <a:rPr lang="en-US" sz="4000" b="1" dirty="0">
                <a:solidFill>
                  <a:srgbClr val="FFFFFF"/>
                </a:solidFill>
                <a:latin typeface="Calibri" pitchFamily="34" charset="0"/>
                <a:ea typeface="Calibri" pitchFamily="34" charset="-122"/>
                <a:cs typeface="Calibri" pitchFamily="34" charset="-120"/>
              </a:rPr>
              <a:t>Set up and check your tools</a:t>
            </a:r>
            <a:endParaRPr lang="en-US" sz="4000" dirty="0"/>
          </a:p>
        </p:txBody>
      </p:sp>
      <p:sp>
        <p:nvSpPr>
          <p:cNvPr id="4" name="Text 2"/>
          <p:cNvSpPr txBox="1"/>
          <p:nvPr/>
        </p:nvSpPr>
        <p:spPr>
          <a:xfrm>
            <a:off x="731520" y="4114800"/>
            <a:ext cx="8686800" cy="91440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Four things must work before we write code.</a:t>
            </a:r>
            <a:endParaRPr lang="en-US" sz="2000" dirty="0"/>
          </a:p>
        </p:txBody>
      </p:sp>
      <p:sp>
        <p:nvSpPr>
          <p:cNvPr id="5" name="Shape 3"/>
          <p:cNvSpPr/>
          <p:nvPr/>
        </p:nvSpPr>
        <p:spPr>
          <a:xfrm>
            <a:off x="731520" y="5257800"/>
            <a:ext cx="1737360" cy="384048"/>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731520" y="5257800"/>
            <a:ext cx="1737360" cy="384048"/>
          </a:xfrm>
          <a:prstGeom prst="rect">
            <a:avLst/>
          </a:prstGeom>
          <a:noFill/>
          <a:ln/>
        </p:spPr>
        <p:txBody>
          <a:bodyPr wrap="square" lIns="0" tIns="0" rIns="0" bIns="0" rtlCol="0" anchor="ctr"/>
          <a:lstStyle/>
          <a:p>
            <a:pPr algn="ctr" indent="0" marL="0">
              <a:buNone/>
            </a:pPr>
            <a:r>
              <a:rPr lang="en-US" sz="1300" b="1" dirty="0">
                <a:solidFill>
                  <a:srgbClr val="262B33"/>
                </a:solidFill>
                <a:latin typeface="Calibri" pitchFamily="34" charset="0"/>
                <a:ea typeface="Calibri" pitchFamily="34" charset="-122"/>
                <a:cs typeface="Calibri" pitchFamily="34" charset="-120"/>
              </a:rPr>
              <a:t>about 20 min</a:t>
            </a:r>
            <a:endParaRPr lang="en-US" sz="1300" dirty="0"/>
          </a:p>
        </p:txBody>
      </p:sp>
      <p:sp>
        <p:nvSpPr>
          <p:cNvPr id="7" name="Text 5"/>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CSCI 2430 Programming Languages  ·  Week 1  ·  Lab</a:t>
            </a:r>
            <a:endParaRPr lang="en-US" sz="1050" dirty="0"/>
          </a:p>
        </p:txBody>
      </p:sp>
      <p:sp>
        <p:nvSpPr>
          <p:cNvPr id="8" name="Text 6"/>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FFFFFF"/>
                </a:solidFill>
                <a:latin typeface="Calibri" pitchFamily="34" charset="0"/>
                <a:ea typeface="Calibri" pitchFamily="34" charset="-122"/>
                <a:cs typeface="Calibri" pitchFamily="34" charset="-120"/>
              </a:rPr>
              <a:t>4</a:t>
            </a:r>
            <a:endParaRPr lang="en-US" sz="1050" dirty="0"/>
          </a:p>
        </p:txBody>
      </p:sp>
      <p:pic>
        <p:nvPicPr>
          <p:cNvPr id="9" name="Image 0" descr="/home/claude/decks/assets/logo-white-small.png">    </p:cNvPr>
          <p:cNvPicPr>
            <a:picLocks noChangeAspect="1"/>
          </p:cNvPicPr>
          <p:nvPr/>
        </p:nvPicPr>
        <p:blipFill>
          <a:blip r:embed="rId1"/>
          <a:stretch>
            <a:fillRect/>
          </a:stretch>
        </p:blipFill>
        <p:spPr>
          <a:xfrm>
            <a:off x="10518343" y="6291172"/>
            <a:ext cx="1124712" cy="4113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SETUP 1 OF 3</a:t>
            </a:r>
            <a:endParaRPr lang="en-US" sz="1200" dirty="0"/>
          </a:p>
        </p:txBody>
      </p:sp>
      <p:sp>
        <p:nvSpPr>
          <p:cNvPr id="3" name="Text 1"/>
          <p:cNvSpPr txBox="1"/>
          <p:nvPr/>
        </p:nvSpPr>
        <p:spPr>
          <a:xfrm>
            <a:off x="548640" y="640080"/>
            <a:ext cx="941832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Install the JDK and check it</a:t>
            </a:r>
            <a:endParaRPr lang="en-US" sz="3200" dirty="0"/>
          </a:p>
        </p:txBody>
      </p:sp>
      <p:sp>
        <p:nvSpPr>
          <p:cNvPr id="4" name="Shape 2"/>
          <p:cNvSpPr/>
          <p:nvPr/>
        </p:nvSpPr>
        <p:spPr>
          <a:xfrm>
            <a:off x="10042855" y="411480"/>
            <a:ext cx="1600200" cy="310896"/>
          </a:xfrm>
          <a:prstGeom prst="roundRect">
            <a:avLst>
              <a:gd name="adj" fmla="val 50000"/>
            </a:avLst>
          </a:prstGeom>
          <a:solidFill>
            <a:srgbClr val="C6333B"/>
          </a:solidFill>
          <a:ln w="12700">
            <a:solidFill>
              <a:srgbClr val="C6333B"/>
            </a:solidFill>
            <a:prstDash val="solid"/>
          </a:ln>
        </p:spPr>
      </p:sp>
      <p:sp>
        <p:nvSpPr>
          <p:cNvPr id="5" name="Text 3"/>
          <p:cNvSpPr txBox="1"/>
          <p:nvPr/>
        </p:nvSpPr>
        <p:spPr>
          <a:xfrm>
            <a:off x="10042855" y="411480"/>
            <a:ext cx="1600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LAB NEEDS THIS</a:t>
            </a:r>
            <a:endParaRPr lang="en-US" sz="105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1  ·  Lab</a:t>
            </a:r>
            <a:endParaRPr lang="en-US" sz="1050" dirty="0"/>
          </a:p>
        </p:txBody>
      </p:sp>
      <p:sp>
        <p:nvSpPr>
          <p:cNvPr id="7" name="Text 5"/>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5</a:t>
            </a:r>
            <a:endParaRPr lang="en-US" sz="1050" dirty="0"/>
          </a:p>
        </p:txBody>
      </p:sp>
      <p:pic>
        <p:nvPicPr>
          <p:cNvPr id="8"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10" name="Shape 6"/>
          <p:cNvSpPr/>
          <p:nvPr/>
        </p:nvSpPr>
        <p:spPr>
          <a:xfrm>
            <a:off x="548640" y="1508760"/>
            <a:ext cx="566928" cy="365760"/>
          </a:xfrm>
          <a:prstGeom prst="roundRect">
            <a:avLst>
              <a:gd name="adj" fmla="val 20000"/>
            </a:avLst>
          </a:prstGeom>
          <a:solidFill>
            <a:srgbClr val="262B33"/>
          </a:solidFill>
          <a:ln w="12700">
            <a:solidFill>
              <a:srgbClr val="262B33"/>
            </a:solidFill>
            <a:prstDash val="solid"/>
          </a:ln>
        </p:spPr>
      </p:sp>
      <p:sp>
        <p:nvSpPr>
          <p:cNvPr id="11" name="Text 7"/>
          <p:cNvSpPr txBox="1"/>
          <p:nvPr/>
        </p:nvSpPr>
        <p:spPr>
          <a:xfrm>
            <a:off x="548640" y="1508760"/>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8"/>
          <p:cNvSpPr txBox="1"/>
          <p:nvPr/>
        </p:nvSpPr>
        <p:spPr>
          <a:xfrm>
            <a:off x="1325880" y="1508760"/>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Install JDK 25</a:t>
            </a:r>
            <a:endParaRPr lang="en-US" sz="1750" dirty="0"/>
          </a:p>
        </p:txBody>
      </p:sp>
      <p:sp>
        <p:nvSpPr>
          <p:cNvPr id="13" name="Text 9"/>
          <p:cNvSpPr txBox="1"/>
          <p:nvPr/>
        </p:nvSpPr>
        <p:spPr>
          <a:xfrm>
            <a:off x="1325880" y="1892808"/>
            <a:ext cx="6080760" cy="50901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Use the Eclipse Temurin 25 installer from adoptium.net. On Windows keep the option "Add to PATH" switched on.</a:t>
            </a:r>
            <a:endParaRPr lang="en-US" sz="1550" dirty="0"/>
          </a:p>
        </p:txBody>
      </p:sp>
      <p:sp>
        <p:nvSpPr>
          <p:cNvPr id="14" name="Shape 10"/>
          <p:cNvSpPr/>
          <p:nvPr/>
        </p:nvSpPr>
        <p:spPr>
          <a:xfrm>
            <a:off x="548640" y="2776728"/>
            <a:ext cx="566928" cy="365760"/>
          </a:xfrm>
          <a:prstGeom prst="roundRect">
            <a:avLst>
              <a:gd name="adj" fmla="val 20000"/>
            </a:avLst>
          </a:prstGeom>
          <a:solidFill>
            <a:srgbClr val="262B33"/>
          </a:solidFill>
          <a:ln w="12700">
            <a:solidFill>
              <a:srgbClr val="262B33"/>
            </a:solidFill>
            <a:prstDash val="solid"/>
          </a:ln>
        </p:spPr>
      </p:sp>
      <p:sp>
        <p:nvSpPr>
          <p:cNvPr id="15" name="Text 11"/>
          <p:cNvSpPr txBox="1"/>
          <p:nvPr/>
        </p:nvSpPr>
        <p:spPr>
          <a:xfrm>
            <a:off x="548640" y="2776728"/>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2"/>
          <p:cNvSpPr txBox="1"/>
          <p:nvPr/>
        </p:nvSpPr>
        <p:spPr>
          <a:xfrm>
            <a:off x="1325880" y="2776728"/>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Open a new terminal and ask for the version</a:t>
            </a:r>
            <a:endParaRPr lang="en-US" sz="1750" dirty="0"/>
          </a:p>
        </p:txBody>
      </p:sp>
      <p:sp>
        <p:nvSpPr>
          <p:cNvPr id="17" name="Shape 13"/>
          <p:cNvSpPr/>
          <p:nvPr/>
        </p:nvSpPr>
        <p:spPr>
          <a:xfrm>
            <a:off x="1325880" y="3215640"/>
            <a:ext cx="6080760" cy="457200"/>
          </a:xfrm>
          <a:prstGeom prst="roundRect">
            <a:avLst>
              <a:gd name="adj" fmla="val 12000"/>
            </a:avLst>
          </a:prstGeom>
          <a:solidFill>
            <a:srgbClr val="1B2029"/>
          </a:solidFill>
          <a:ln w="12700">
            <a:solidFill>
              <a:srgbClr val="1B2029"/>
            </a:solidFill>
            <a:prstDash val="solid"/>
          </a:ln>
        </p:spPr>
      </p:sp>
      <p:sp>
        <p:nvSpPr>
          <p:cNvPr id="18" name="Text 14"/>
          <p:cNvSpPr txBox="1"/>
          <p:nvPr/>
        </p:nvSpPr>
        <p:spPr>
          <a:xfrm>
            <a:off x="1508760" y="3215640"/>
            <a:ext cx="5760720" cy="457200"/>
          </a:xfrm>
          <a:prstGeom prst="rect">
            <a:avLst/>
          </a:prstGeom>
          <a:noFill/>
          <a:ln/>
        </p:spPr>
        <p:txBody>
          <a:bodyPr wrap="none" lIns="0" tIns="0" rIns="0" bIns="0" rtlCol="0" anchor="ctr"/>
          <a:lstStyle/>
          <a:p>
            <a:pPr indent="0" marL="0">
              <a:buNone/>
            </a:pPr>
            <a:r>
              <a:rPr lang="en-US" sz="1400" dirty="0">
                <a:solidFill>
                  <a:srgbClr val="E6EDF3"/>
                </a:solidFill>
                <a:latin typeface="Consolas" pitchFamily="34" charset="0"/>
                <a:ea typeface="Consolas" pitchFamily="34" charset="-122"/>
                <a:cs typeface="Consolas" pitchFamily="34" charset="-120"/>
              </a:rPr>
              <a:t>java -version</a:t>
            </a:r>
            <a:endParaRPr lang="en-US" sz="1400" dirty="0"/>
          </a:p>
        </p:txBody>
      </p:sp>
      <p:sp>
        <p:nvSpPr>
          <p:cNvPr id="19" name="Shape 15"/>
          <p:cNvSpPr/>
          <p:nvPr/>
        </p:nvSpPr>
        <p:spPr>
          <a:xfrm>
            <a:off x="548640" y="4084320"/>
            <a:ext cx="566928" cy="365760"/>
          </a:xfrm>
          <a:prstGeom prst="roundRect">
            <a:avLst>
              <a:gd name="adj" fmla="val 20000"/>
            </a:avLst>
          </a:prstGeom>
          <a:solidFill>
            <a:srgbClr val="262B33"/>
          </a:solidFill>
          <a:ln w="12700">
            <a:solidFill>
              <a:srgbClr val="262B33"/>
            </a:solidFill>
            <a:prstDash val="solid"/>
          </a:ln>
        </p:spPr>
      </p:sp>
      <p:sp>
        <p:nvSpPr>
          <p:cNvPr id="20" name="Text 16"/>
          <p:cNvSpPr txBox="1"/>
          <p:nvPr/>
        </p:nvSpPr>
        <p:spPr>
          <a:xfrm>
            <a:off x="548640" y="4084320"/>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325880" y="4084320"/>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Read the answer</a:t>
            </a:r>
            <a:endParaRPr lang="en-US" sz="1750" dirty="0"/>
          </a:p>
        </p:txBody>
      </p:sp>
      <p:sp>
        <p:nvSpPr>
          <p:cNvPr id="22" name="Text 18"/>
          <p:cNvSpPr txBox="1"/>
          <p:nvPr/>
        </p:nvSpPr>
        <p:spPr>
          <a:xfrm>
            <a:off x="1325880" y="4468368"/>
            <a:ext cx="6080760" cy="50901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The first line must show version 25. If the command is not found, close the terminal, open a new one and try again.</a:t>
            </a:r>
            <a:endParaRPr lang="en-US" sz="1550" dirty="0"/>
          </a:p>
        </p:txBody>
      </p:sp>
      <p:sp>
        <p:nvSpPr>
          <p:cNvPr id="23" name="Shape 19"/>
          <p:cNvSpPr/>
          <p:nvPr/>
        </p:nvSpPr>
        <p:spPr>
          <a:xfrm>
            <a:off x="7863840" y="1490472"/>
            <a:ext cx="3779215" cy="3291840"/>
          </a:xfrm>
          <a:prstGeom prst="roundRect">
            <a:avLst>
              <a:gd name="adj" fmla="val 3333"/>
            </a:avLst>
          </a:prstGeom>
          <a:solidFill>
            <a:srgbClr val="FBECED"/>
          </a:solidFill>
          <a:ln w="12700">
            <a:solidFill>
              <a:srgbClr val="FBECED"/>
            </a:solidFill>
            <a:prstDash val="solid"/>
          </a:ln>
        </p:spPr>
      </p:sp>
      <p:sp>
        <p:nvSpPr>
          <p:cNvPr id="24" name="Shape 20"/>
          <p:cNvSpPr/>
          <p:nvPr/>
        </p:nvSpPr>
        <p:spPr>
          <a:xfrm>
            <a:off x="8138160" y="1764792"/>
            <a:ext cx="502920" cy="502920"/>
          </a:xfrm>
          <a:prstGeom prst="ellipse">
            <a:avLst/>
          </a:prstGeom>
          <a:solidFill>
            <a:srgbClr val="C6333B"/>
          </a:solidFill>
          <a:ln w="12700">
            <a:solidFill>
              <a:srgbClr val="C6333B"/>
            </a:solidFill>
            <a:prstDash val="solid"/>
          </a:ln>
        </p:spPr>
      </p:sp>
      <p:sp>
        <p:nvSpPr>
          <p:cNvPr id="25" name="Text 21"/>
          <p:cNvSpPr txBox="1"/>
          <p:nvPr/>
        </p:nvSpPr>
        <p:spPr>
          <a:xfrm>
            <a:off x="8778240" y="1764792"/>
            <a:ext cx="2590495" cy="502920"/>
          </a:xfrm>
          <a:prstGeom prst="rect">
            <a:avLst/>
          </a:prstGeom>
          <a:noFill/>
          <a:ln/>
        </p:spPr>
        <p:txBody>
          <a:bodyPr wrap="square" lIns="0" tIns="0" rIns="0" bIns="0" rtlCol="0" anchor="ctr"/>
          <a:lstStyle/>
          <a:p>
            <a:pPr indent="0" marL="0">
              <a:buNone/>
            </a:pPr>
            <a:r>
              <a:rPr lang="en-US" sz="1700" b="1" dirty="0">
                <a:solidFill>
                  <a:srgbClr val="9C2630"/>
                </a:solidFill>
                <a:latin typeface="Calibri" pitchFamily="34" charset="0"/>
                <a:ea typeface="Calibri" pitchFamily="34" charset="-122"/>
                <a:cs typeface="Calibri" pitchFamily="34" charset="-120"/>
              </a:rPr>
              <a:t>Why a terminal?</a:t>
            </a:r>
            <a:endParaRPr lang="en-US" sz="1700" dirty="0"/>
          </a:p>
        </p:txBody>
      </p:sp>
      <p:sp>
        <p:nvSpPr>
          <p:cNvPr id="26" name="Text 22"/>
          <p:cNvSpPr txBox="1"/>
          <p:nvPr/>
        </p:nvSpPr>
        <p:spPr>
          <a:xfrm>
            <a:off x="8138160" y="2450592"/>
            <a:ext cx="3230575" cy="2057400"/>
          </a:xfrm>
          <a:prstGeom prst="rect">
            <a:avLst/>
          </a:prstGeom>
          <a:noFill/>
          <a:ln/>
        </p:spPr>
        <p:txBody>
          <a:bodyPr wrap="square" lIns="0" tIns="0" rIns="0" bIns="0" rtlCol="0" anchor="t"/>
          <a:lstStyle/>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The IDE hides what really happens. Today you run Java once by hand, so you know what the green Run button does for you later.</a:t>
            </a:r>
            <a:endParaRPr lang="en-US" sz="1800" dirty="0"/>
          </a:p>
        </p:txBody>
      </p:sp>
      <p:pic>
        <p:nvPicPr>
          <p:cNvPr id="27" name="Image 1" descr="preencoded.png">    </p:cNvPr>
          <p:cNvPicPr>
            <a:picLocks noChangeAspect="1"/>
          </p:cNvPicPr>
          <p:nvPr/>
        </p:nvPicPr>
        <p:blipFill>
          <a:blip r:embed="rId2"/>
          <a:stretch>
            <a:fillRect/>
          </a:stretch>
        </p:blipFill>
        <p:spPr>
          <a:xfrm>
            <a:off x="8258861" y="1885493"/>
            <a:ext cx="261518" cy="26151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SETUP 2 OF 3</a:t>
            </a:r>
            <a:endParaRPr lang="en-US" sz="1200" dirty="0"/>
          </a:p>
        </p:txBody>
      </p:sp>
      <p:sp>
        <p:nvSpPr>
          <p:cNvPr id="3" name="Text 1"/>
          <p:cNvSpPr txBox="1"/>
          <p:nvPr/>
        </p:nvSpPr>
        <p:spPr>
          <a:xfrm>
            <a:off x="548640" y="640080"/>
            <a:ext cx="941832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Install IntelliJ IDEA and create a project</a:t>
            </a:r>
            <a:endParaRPr lang="en-US" sz="3200" dirty="0"/>
          </a:p>
        </p:txBody>
      </p:sp>
      <p:sp>
        <p:nvSpPr>
          <p:cNvPr id="4" name="Shape 2"/>
          <p:cNvSpPr/>
          <p:nvPr/>
        </p:nvSpPr>
        <p:spPr>
          <a:xfrm>
            <a:off x="10042855" y="411480"/>
            <a:ext cx="1600200" cy="310896"/>
          </a:xfrm>
          <a:prstGeom prst="roundRect">
            <a:avLst>
              <a:gd name="adj" fmla="val 50000"/>
            </a:avLst>
          </a:prstGeom>
          <a:solidFill>
            <a:srgbClr val="C6333B"/>
          </a:solidFill>
          <a:ln w="12700">
            <a:solidFill>
              <a:srgbClr val="C6333B"/>
            </a:solidFill>
            <a:prstDash val="solid"/>
          </a:ln>
        </p:spPr>
      </p:sp>
      <p:sp>
        <p:nvSpPr>
          <p:cNvPr id="5" name="Text 3"/>
          <p:cNvSpPr txBox="1"/>
          <p:nvPr/>
        </p:nvSpPr>
        <p:spPr>
          <a:xfrm>
            <a:off x="10042855" y="411480"/>
            <a:ext cx="1600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LAB NEEDS THIS</a:t>
            </a:r>
            <a:endParaRPr lang="en-US" sz="105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1  ·  Lab</a:t>
            </a:r>
            <a:endParaRPr lang="en-US" sz="1050" dirty="0"/>
          </a:p>
        </p:txBody>
      </p:sp>
      <p:sp>
        <p:nvSpPr>
          <p:cNvPr id="7" name="Text 5"/>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6</a:t>
            </a:r>
            <a:endParaRPr lang="en-US" sz="1050" dirty="0"/>
          </a:p>
        </p:txBody>
      </p:sp>
      <p:pic>
        <p:nvPicPr>
          <p:cNvPr id="8"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10" name="Shape 6"/>
          <p:cNvSpPr/>
          <p:nvPr/>
        </p:nvSpPr>
        <p:spPr>
          <a:xfrm>
            <a:off x="548640" y="1508760"/>
            <a:ext cx="566928" cy="365760"/>
          </a:xfrm>
          <a:prstGeom prst="roundRect">
            <a:avLst>
              <a:gd name="adj" fmla="val 20000"/>
            </a:avLst>
          </a:prstGeom>
          <a:solidFill>
            <a:srgbClr val="262B33"/>
          </a:solidFill>
          <a:ln w="12700">
            <a:solidFill>
              <a:srgbClr val="262B33"/>
            </a:solidFill>
            <a:prstDash val="solid"/>
          </a:ln>
        </p:spPr>
      </p:sp>
      <p:sp>
        <p:nvSpPr>
          <p:cNvPr id="11" name="Text 7"/>
          <p:cNvSpPr txBox="1"/>
          <p:nvPr/>
        </p:nvSpPr>
        <p:spPr>
          <a:xfrm>
            <a:off x="548640" y="1508760"/>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8"/>
          <p:cNvSpPr txBox="1"/>
          <p:nvPr/>
        </p:nvSpPr>
        <p:spPr>
          <a:xfrm>
            <a:off x="1325880" y="1508760"/>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Install IntelliJ IDEA</a:t>
            </a:r>
            <a:endParaRPr lang="en-US" sz="1750" dirty="0"/>
          </a:p>
        </p:txBody>
      </p:sp>
      <p:sp>
        <p:nvSpPr>
          <p:cNvPr id="13" name="Text 9"/>
          <p:cNvSpPr txBox="1"/>
          <p:nvPr/>
        </p:nvSpPr>
        <p:spPr>
          <a:xfrm>
            <a:off x="1325880" y="1892808"/>
            <a:ext cx="6080760" cy="50901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From jetbrains.com/idea/download. There is one download. The Java features we need are free and work without a subscription.</a:t>
            </a:r>
            <a:endParaRPr lang="en-US" sz="1550" dirty="0"/>
          </a:p>
        </p:txBody>
      </p:sp>
      <p:sp>
        <p:nvSpPr>
          <p:cNvPr id="14" name="Shape 10"/>
          <p:cNvSpPr/>
          <p:nvPr/>
        </p:nvSpPr>
        <p:spPr>
          <a:xfrm>
            <a:off x="548640" y="2776728"/>
            <a:ext cx="566928" cy="365760"/>
          </a:xfrm>
          <a:prstGeom prst="roundRect">
            <a:avLst>
              <a:gd name="adj" fmla="val 20000"/>
            </a:avLst>
          </a:prstGeom>
          <a:solidFill>
            <a:srgbClr val="262B33"/>
          </a:solidFill>
          <a:ln w="12700">
            <a:solidFill>
              <a:srgbClr val="262B33"/>
            </a:solidFill>
            <a:prstDash val="solid"/>
          </a:ln>
        </p:spPr>
      </p:sp>
      <p:sp>
        <p:nvSpPr>
          <p:cNvPr id="15" name="Text 11"/>
          <p:cNvSpPr txBox="1"/>
          <p:nvPr/>
        </p:nvSpPr>
        <p:spPr>
          <a:xfrm>
            <a:off x="548640" y="2776728"/>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2"/>
          <p:cNvSpPr txBox="1"/>
          <p:nvPr/>
        </p:nvSpPr>
        <p:spPr>
          <a:xfrm>
            <a:off x="1325880" y="2776728"/>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New Project</a:t>
            </a:r>
            <a:endParaRPr lang="en-US" sz="1750" dirty="0"/>
          </a:p>
        </p:txBody>
      </p:sp>
      <p:sp>
        <p:nvSpPr>
          <p:cNvPr id="17" name="Text 13"/>
          <p:cNvSpPr txBox="1"/>
          <p:nvPr/>
        </p:nvSpPr>
        <p:spPr>
          <a:xfrm>
            <a:off x="1325880" y="3160776"/>
            <a:ext cx="6080760" cy="50901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Name: proglang. Language: Java. Build system: IntelliJ. JDK: 25. Leave "Add sample code" switched off.</a:t>
            </a:r>
            <a:endParaRPr lang="en-US" sz="1550" dirty="0"/>
          </a:p>
        </p:txBody>
      </p:sp>
      <p:sp>
        <p:nvSpPr>
          <p:cNvPr id="18" name="Shape 14"/>
          <p:cNvSpPr/>
          <p:nvPr/>
        </p:nvSpPr>
        <p:spPr>
          <a:xfrm>
            <a:off x="548640" y="4044696"/>
            <a:ext cx="566928" cy="365760"/>
          </a:xfrm>
          <a:prstGeom prst="roundRect">
            <a:avLst>
              <a:gd name="adj" fmla="val 20000"/>
            </a:avLst>
          </a:prstGeom>
          <a:solidFill>
            <a:srgbClr val="262B33"/>
          </a:solidFill>
          <a:ln w="12700">
            <a:solidFill>
              <a:srgbClr val="262B33"/>
            </a:solidFill>
            <a:prstDash val="solid"/>
          </a:ln>
        </p:spPr>
      </p:sp>
      <p:sp>
        <p:nvSpPr>
          <p:cNvPr id="19" name="Text 15"/>
          <p:cNvSpPr txBox="1"/>
          <p:nvPr/>
        </p:nvSpPr>
        <p:spPr>
          <a:xfrm>
            <a:off x="548640" y="4044696"/>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6"/>
          <p:cNvSpPr txBox="1"/>
          <p:nvPr/>
        </p:nvSpPr>
        <p:spPr>
          <a:xfrm>
            <a:off x="1325880" y="4044696"/>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Look around</a:t>
            </a:r>
            <a:endParaRPr lang="en-US" sz="1750" dirty="0"/>
          </a:p>
        </p:txBody>
      </p:sp>
      <p:sp>
        <p:nvSpPr>
          <p:cNvPr id="21" name="Text 17"/>
          <p:cNvSpPr txBox="1"/>
          <p:nvPr/>
        </p:nvSpPr>
        <p:spPr>
          <a:xfrm>
            <a:off x="1325880" y="4428744"/>
            <a:ext cx="6080760" cy="50901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Project view on the left, editor in the middle, Terminal and Run tool windows at the bottom.</a:t>
            </a:r>
            <a:endParaRPr lang="en-US" sz="1550" dirty="0"/>
          </a:p>
        </p:txBody>
      </p:sp>
      <p:sp>
        <p:nvSpPr>
          <p:cNvPr id="22" name="Shape 18"/>
          <p:cNvSpPr/>
          <p:nvPr/>
        </p:nvSpPr>
        <p:spPr>
          <a:xfrm>
            <a:off x="7863840" y="1490472"/>
            <a:ext cx="3779215" cy="3291840"/>
          </a:xfrm>
          <a:prstGeom prst="roundRect">
            <a:avLst>
              <a:gd name="adj" fmla="val 3333"/>
            </a:avLst>
          </a:prstGeom>
          <a:solidFill>
            <a:srgbClr val="FBECED"/>
          </a:solidFill>
          <a:ln w="12700">
            <a:solidFill>
              <a:srgbClr val="FBECED"/>
            </a:solidFill>
            <a:prstDash val="solid"/>
          </a:ln>
        </p:spPr>
      </p:sp>
      <p:sp>
        <p:nvSpPr>
          <p:cNvPr id="23" name="Shape 19"/>
          <p:cNvSpPr/>
          <p:nvPr/>
        </p:nvSpPr>
        <p:spPr>
          <a:xfrm>
            <a:off x="8138160" y="1764792"/>
            <a:ext cx="502920" cy="502920"/>
          </a:xfrm>
          <a:prstGeom prst="ellipse">
            <a:avLst/>
          </a:prstGeom>
          <a:solidFill>
            <a:srgbClr val="C6333B"/>
          </a:solidFill>
          <a:ln w="12700">
            <a:solidFill>
              <a:srgbClr val="C6333B"/>
            </a:solidFill>
            <a:prstDash val="solid"/>
          </a:ln>
        </p:spPr>
      </p:sp>
      <p:sp>
        <p:nvSpPr>
          <p:cNvPr id="24" name="Text 20"/>
          <p:cNvSpPr txBox="1"/>
          <p:nvPr/>
        </p:nvSpPr>
        <p:spPr>
          <a:xfrm>
            <a:off x="8778240" y="1764792"/>
            <a:ext cx="2590495" cy="502920"/>
          </a:xfrm>
          <a:prstGeom prst="rect">
            <a:avLst/>
          </a:prstGeom>
          <a:noFill/>
          <a:ln/>
        </p:spPr>
        <p:txBody>
          <a:bodyPr wrap="square" lIns="0" tIns="0" rIns="0" bIns="0" rtlCol="0" anchor="ctr"/>
          <a:lstStyle/>
          <a:p>
            <a:pPr indent="0" marL="0">
              <a:buNone/>
            </a:pPr>
            <a:r>
              <a:rPr lang="en-US" sz="1700" b="1" dirty="0">
                <a:solidFill>
                  <a:srgbClr val="9C2630"/>
                </a:solidFill>
                <a:latin typeface="Calibri" pitchFamily="34" charset="0"/>
                <a:ea typeface="Calibri" pitchFamily="34" charset="-122"/>
                <a:cs typeface="Calibri" pitchFamily="34" charset="-120"/>
              </a:rPr>
              <a:t>One IntelliJ IDEA</a:t>
            </a:r>
            <a:endParaRPr lang="en-US" sz="1700" dirty="0"/>
          </a:p>
        </p:txBody>
      </p:sp>
      <p:sp>
        <p:nvSpPr>
          <p:cNvPr id="25" name="Text 21"/>
          <p:cNvSpPr txBox="1"/>
          <p:nvPr/>
        </p:nvSpPr>
        <p:spPr>
          <a:xfrm>
            <a:off x="8138160" y="2450592"/>
            <a:ext cx="3230575" cy="2057400"/>
          </a:xfrm>
          <a:prstGeom prst="rect">
            <a:avLst/>
          </a:prstGeom>
          <a:noFill/>
          <a:ln/>
        </p:spPr>
        <p:txBody>
          <a:bodyPr wrap="square" lIns="0" tIns="0" rIns="0" bIns="0" rtlCol="0" anchor="t"/>
          <a:lstStyle/>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Since version 2025.3 there is no separate Community Edition download. It is one product, and the core Java features stay free.</a:t>
            </a:r>
            <a:endParaRPr lang="en-US" sz="1800" dirty="0"/>
          </a:p>
        </p:txBody>
      </p:sp>
      <p:pic>
        <p:nvPicPr>
          <p:cNvPr id="26" name="Image 1" descr="preencoded.png">    </p:cNvPr>
          <p:cNvPicPr>
            <a:picLocks noChangeAspect="1"/>
          </p:cNvPicPr>
          <p:nvPr/>
        </p:nvPicPr>
        <p:blipFill>
          <a:blip r:embed="rId2"/>
          <a:stretch>
            <a:fillRect/>
          </a:stretch>
        </p:blipFill>
        <p:spPr>
          <a:xfrm>
            <a:off x="8258861" y="1885493"/>
            <a:ext cx="261518" cy="2615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SETUP 3 OF 3</a:t>
            </a:r>
            <a:endParaRPr lang="en-US" sz="1200" dirty="0"/>
          </a:p>
        </p:txBody>
      </p:sp>
      <p:sp>
        <p:nvSpPr>
          <p:cNvPr id="3" name="Text 1"/>
          <p:cNvSpPr txBox="1"/>
          <p:nvPr/>
        </p:nvSpPr>
        <p:spPr>
          <a:xfrm>
            <a:off x="548640" y="640080"/>
            <a:ext cx="941832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Git and your GitHub account</a:t>
            </a:r>
            <a:endParaRPr lang="en-US" sz="3200" dirty="0"/>
          </a:p>
        </p:txBody>
      </p:sp>
      <p:sp>
        <p:nvSpPr>
          <p:cNvPr id="4" name="Shape 2"/>
          <p:cNvSpPr/>
          <p:nvPr/>
        </p:nvSpPr>
        <p:spPr>
          <a:xfrm>
            <a:off x="10042855" y="411480"/>
            <a:ext cx="1600200" cy="310896"/>
          </a:xfrm>
          <a:prstGeom prst="roundRect">
            <a:avLst>
              <a:gd name="adj" fmla="val 50000"/>
            </a:avLst>
          </a:prstGeom>
          <a:solidFill>
            <a:srgbClr val="C6333B"/>
          </a:solidFill>
          <a:ln w="12700">
            <a:solidFill>
              <a:srgbClr val="C6333B"/>
            </a:solidFill>
            <a:prstDash val="solid"/>
          </a:ln>
        </p:spPr>
      </p:sp>
      <p:sp>
        <p:nvSpPr>
          <p:cNvPr id="5" name="Text 3"/>
          <p:cNvSpPr txBox="1"/>
          <p:nvPr/>
        </p:nvSpPr>
        <p:spPr>
          <a:xfrm>
            <a:off x="10042855" y="411480"/>
            <a:ext cx="1600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LAB NEEDS THIS</a:t>
            </a:r>
            <a:endParaRPr lang="en-US" sz="105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1  ·  Lab</a:t>
            </a:r>
            <a:endParaRPr lang="en-US" sz="1050" dirty="0"/>
          </a:p>
        </p:txBody>
      </p:sp>
      <p:sp>
        <p:nvSpPr>
          <p:cNvPr id="7" name="Text 5"/>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7</a:t>
            </a:r>
            <a:endParaRPr lang="en-US" sz="1050" dirty="0"/>
          </a:p>
        </p:txBody>
      </p:sp>
      <p:pic>
        <p:nvPicPr>
          <p:cNvPr id="8"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10" name="Shape 6"/>
          <p:cNvSpPr/>
          <p:nvPr/>
        </p:nvSpPr>
        <p:spPr>
          <a:xfrm>
            <a:off x="548640" y="1508760"/>
            <a:ext cx="566928" cy="365760"/>
          </a:xfrm>
          <a:prstGeom prst="roundRect">
            <a:avLst>
              <a:gd name="adj" fmla="val 20000"/>
            </a:avLst>
          </a:prstGeom>
          <a:solidFill>
            <a:srgbClr val="262B33"/>
          </a:solidFill>
          <a:ln w="12700">
            <a:solidFill>
              <a:srgbClr val="262B33"/>
            </a:solidFill>
            <a:prstDash val="solid"/>
          </a:ln>
        </p:spPr>
      </p:sp>
      <p:sp>
        <p:nvSpPr>
          <p:cNvPr id="11" name="Text 7"/>
          <p:cNvSpPr txBox="1"/>
          <p:nvPr/>
        </p:nvSpPr>
        <p:spPr>
          <a:xfrm>
            <a:off x="548640" y="1508760"/>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8"/>
          <p:cNvSpPr txBox="1"/>
          <p:nvPr/>
        </p:nvSpPr>
        <p:spPr>
          <a:xfrm>
            <a:off x="1325880" y="1508760"/>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Check that Git is installed</a:t>
            </a:r>
            <a:endParaRPr lang="en-US" sz="1750" dirty="0"/>
          </a:p>
        </p:txBody>
      </p:sp>
      <p:sp>
        <p:nvSpPr>
          <p:cNvPr id="13" name="Shape 9"/>
          <p:cNvSpPr/>
          <p:nvPr/>
        </p:nvSpPr>
        <p:spPr>
          <a:xfrm>
            <a:off x="1325880" y="1947672"/>
            <a:ext cx="6080760" cy="457200"/>
          </a:xfrm>
          <a:prstGeom prst="roundRect">
            <a:avLst>
              <a:gd name="adj" fmla="val 12000"/>
            </a:avLst>
          </a:prstGeom>
          <a:solidFill>
            <a:srgbClr val="1B2029"/>
          </a:solidFill>
          <a:ln w="12700">
            <a:solidFill>
              <a:srgbClr val="1B2029"/>
            </a:solidFill>
            <a:prstDash val="solid"/>
          </a:ln>
        </p:spPr>
      </p:sp>
      <p:sp>
        <p:nvSpPr>
          <p:cNvPr id="14" name="Text 10"/>
          <p:cNvSpPr txBox="1"/>
          <p:nvPr/>
        </p:nvSpPr>
        <p:spPr>
          <a:xfrm>
            <a:off x="1508760" y="1947672"/>
            <a:ext cx="5760720" cy="457200"/>
          </a:xfrm>
          <a:prstGeom prst="rect">
            <a:avLst/>
          </a:prstGeom>
          <a:noFill/>
          <a:ln/>
        </p:spPr>
        <p:txBody>
          <a:bodyPr wrap="none" lIns="0" tIns="0" rIns="0" bIns="0" rtlCol="0" anchor="ctr"/>
          <a:lstStyle/>
          <a:p>
            <a:pPr indent="0" marL="0">
              <a:buNone/>
            </a:pPr>
            <a:r>
              <a:rPr lang="en-US" sz="1400" dirty="0">
                <a:solidFill>
                  <a:srgbClr val="E6EDF3"/>
                </a:solidFill>
                <a:latin typeface="Consolas" pitchFamily="34" charset="0"/>
                <a:ea typeface="Consolas" pitchFamily="34" charset="-122"/>
                <a:cs typeface="Consolas" pitchFamily="34" charset="-120"/>
              </a:rPr>
              <a:t>git --version</a:t>
            </a:r>
            <a:endParaRPr lang="en-US" sz="1400" dirty="0"/>
          </a:p>
        </p:txBody>
      </p:sp>
      <p:sp>
        <p:nvSpPr>
          <p:cNvPr id="15" name="Shape 11"/>
          <p:cNvSpPr/>
          <p:nvPr/>
        </p:nvSpPr>
        <p:spPr>
          <a:xfrm>
            <a:off x="548640" y="2715006"/>
            <a:ext cx="566928" cy="365760"/>
          </a:xfrm>
          <a:prstGeom prst="roundRect">
            <a:avLst>
              <a:gd name="adj" fmla="val 20000"/>
            </a:avLst>
          </a:prstGeom>
          <a:solidFill>
            <a:srgbClr val="262B33"/>
          </a:solidFill>
          <a:ln w="12700">
            <a:solidFill>
              <a:srgbClr val="262B33"/>
            </a:solidFill>
            <a:prstDash val="solid"/>
          </a:ln>
        </p:spPr>
      </p:sp>
      <p:sp>
        <p:nvSpPr>
          <p:cNvPr id="16" name="Text 12"/>
          <p:cNvSpPr txBox="1"/>
          <p:nvPr/>
        </p:nvSpPr>
        <p:spPr>
          <a:xfrm>
            <a:off x="548640" y="2715006"/>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325880" y="2715006"/>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Tell Git who you are (once per computer)</a:t>
            </a:r>
            <a:endParaRPr lang="en-US" sz="1750" dirty="0"/>
          </a:p>
        </p:txBody>
      </p:sp>
      <p:sp>
        <p:nvSpPr>
          <p:cNvPr id="18" name="Shape 14"/>
          <p:cNvSpPr/>
          <p:nvPr/>
        </p:nvSpPr>
        <p:spPr>
          <a:xfrm>
            <a:off x="1325880" y="3153918"/>
            <a:ext cx="6080760" cy="731520"/>
          </a:xfrm>
          <a:prstGeom prst="roundRect">
            <a:avLst>
              <a:gd name="adj" fmla="val 7500"/>
            </a:avLst>
          </a:prstGeom>
          <a:solidFill>
            <a:srgbClr val="1B2029"/>
          </a:solidFill>
          <a:ln w="12700">
            <a:solidFill>
              <a:srgbClr val="1B2029"/>
            </a:solidFill>
            <a:prstDash val="solid"/>
          </a:ln>
        </p:spPr>
      </p:sp>
      <p:sp>
        <p:nvSpPr>
          <p:cNvPr id="19" name="Text 15"/>
          <p:cNvSpPr txBox="1"/>
          <p:nvPr/>
        </p:nvSpPr>
        <p:spPr>
          <a:xfrm>
            <a:off x="1508760" y="3153918"/>
            <a:ext cx="5760720" cy="731520"/>
          </a:xfrm>
          <a:prstGeom prst="rect">
            <a:avLst/>
          </a:prstGeom>
          <a:noFill/>
          <a:ln/>
        </p:spPr>
        <p:txBody>
          <a:bodyPr wrap="none" lIns="0" tIns="0" rIns="0" bIns="0" rtlCol="0" anchor="ctr"/>
          <a:lstStyle/>
          <a:p>
            <a:pPr indent="0" marL="0">
              <a:buNone/>
            </a:pPr>
            <a:r>
              <a:rPr lang="en-US" sz="1400" dirty="0">
                <a:solidFill>
                  <a:srgbClr val="E6EDF3"/>
                </a:solidFill>
                <a:latin typeface="Consolas" pitchFamily="34" charset="0"/>
                <a:ea typeface="Consolas" pitchFamily="34" charset="-122"/>
                <a:cs typeface="Consolas" pitchFamily="34" charset="-120"/>
              </a:rPr>
              <a:t>git config --global user.name "Your Name"</a:t>
            </a:r>
            <a:endParaRPr lang="en-US" sz="1400" dirty="0"/>
          </a:p>
          <a:p>
            <a:pPr indent="0" marL="0">
              <a:buNone/>
            </a:pPr>
            <a:r>
              <a:rPr lang="en-US" sz="1400" dirty="0">
                <a:solidFill>
                  <a:srgbClr val="E6EDF3"/>
                </a:solidFill>
                <a:latin typeface="Consolas" pitchFamily="34" charset="0"/>
                <a:ea typeface="Consolas" pitchFamily="34" charset="-122"/>
                <a:cs typeface="Consolas" pitchFamily="34" charset="-120"/>
              </a:rPr>
              <a:t>git config --global user.email "you@example.com"</a:t>
            </a:r>
            <a:endParaRPr lang="en-US" sz="1400" dirty="0"/>
          </a:p>
        </p:txBody>
      </p:sp>
      <p:sp>
        <p:nvSpPr>
          <p:cNvPr id="20" name="Shape 16"/>
          <p:cNvSpPr/>
          <p:nvPr/>
        </p:nvSpPr>
        <p:spPr>
          <a:xfrm>
            <a:off x="548640" y="4195572"/>
            <a:ext cx="566928" cy="365760"/>
          </a:xfrm>
          <a:prstGeom prst="roundRect">
            <a:avLst>
              <a:gd name="adj" fmla="val 20000"/>
            </a:avLst>
          </a:prstGeom>
          <a:solidFill>
            <a:srgbClr val="262B33"/>
          </a:solidFill>
          <a:ln w="12700">
            <a:solidFill>
              <a:srgbClr val="262B33"/>
            </a:solidFill>
            <a:prstDash val="solid"/>
          </a:ln>
        </p:spPr>
      </p:sp>
      <p:sp>
        <p:nvSpPr>
          <p:cNvPr id="21" name="Text 17"/>
          <p:cNvSpPr txBox="1"/>
          <p:nvPr/>
        </p:nvSpPr>
        <p:spPr>
          <a:xfrm>
            <a:off x="548640" y="4195572"/>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txBox="1"/>
          <p:nvPr/>
        </p:nvSpPr>
        <p:spPr>
          <a:xfrm>
            <a:off x="1325880" y="4195572"/>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Create a GitHub account</a:t>
            </a:r>
            <a:endParaRPr lang="en-US" sz="1750" dirty="0"/>
          </a:p>
        </p:txBody>
      </p:sp>
      <p:sp>
        <p:nvSpPr>
          <p:cNvPr id="23" name="Text 19"/>
          <p:cNvSpPr txBox="1"/>
          <p:nvPr/>
        </p:nvSpPr>
        <p:spPr>
          <a:xfrm>
            <a:off x="1325880" y="4579620"/>
            <a:ext cx="6080760" cy="50901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On github.com, if you do not have one. Use an email address that you read.</a:t>
            </a:r>
            <a:endParaRPr lang="en-US" sz="1550" dirty="0"/>
          </a:p>
        </p:txBody>
      </p:sp>
      <p:sp>
        <p:nvSpPr>
          <p:cNvPr id="24" name="Shape 20"/>
          <p:cNvSpPr/>
          <p:nvPr/>
        </p:nvSpPr>
        <p:spPr>
          <a:xfrm>
            <a:off x="548640" y="5362194"/>
            <a:ext cx="566928" cy="365760"/>
          </a:xfrm>
          <a:prstGeom prst="roundRect">
            <a:avLst>
              <a:gd name="adj" fmla="val 20000"/>
            </a:avLst>
          </a:prstGeom>
          <a:solidFill>
            <a:srgbClr val="262B33"/>
          </a:solidFill>
          <a:ln w="12700">
            <a:solidFill>
              <a:srgbClr val="262B33"/>
            </a:solidFill>
            <a:prstDash val="solid"/>
          </a:ln>
        </p:spPr>
      </p:sp>
      <p:sp>
        <p:nvSpPr>
          <p:cNvPr id="25" name="Text 21"/>
          <p:cNvSpPr txBox="1"/>
          <p:nvPr/>
        </p:nvSpPr>
        <p:spPr>
          <a:xfrm>
            <a:off x="548640" y="5362194"/>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txBox="1"/>
          <p:nvPr/>
        </p:nvSpPr>
        <p:spPr>
          <a:xfrm>
            <a:off x="1325880" y="5362194"/>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Connect IntelliJ IDEA to GitHub</a:t>
            </a:r>
            <a:endParaRPr lang="en-US" sz="1750" dirty="0"/>
          </a:p>
        </p:txBody>
      </p:sp>
      <p:sp>
        <p:nvSpPr>
          <p:cNvPr id="27" name="Text 23"/>
          <p:cNvSpPr txBox="1"/>
          <p:nvPr/>
        </p:nvSpPr>
        <p:spPr>
          <a:xfrm>
            <a:off x="1325880" y="5746242"/>
            <a:ext cx="6080760" cy="50901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Settings, Version Control, GitHub, add your account and log in through the browser.</a:t>
            </a:r>
            <a:endParaRPr lang="en-US" sz="1550" dirty="0"/>
          </a:p>
        </p:txBody>
      </p:sp>
      <p:sp>
        <p:nvSpPr>
          <p:cNvPr id="28" name="Shape 24"/>
          <p:cNvSpPr/>
          <p:nvPr/>
        </p:nvSpPr>
        <p:spPr>
          <a:xfrm>
            <a:off x="7863840" y="1490472"/>
            <a:ext cx="3779215" cy="3566160"/>
          </a:xfrm>
          <a:prstGeom prst="roundRect">
            <a:avLst>
              <a:gd name="adj" fmla="val 3077"/>
            </a:avLst>
          </a:prstGeom>
          <a:solidFill>
            <a:srgbClr val="FFF3E0"/>
          </a:solidFill>
          <a:ln w="12700">
            <a:solidFill>
              <a:srgbClr val="FFF3E0"/>
            </a:solidFill>
            <a:prstDash val="solid"/>
          </a:ln>
        </p:spPr>
      </p:sp>
      <p:sp>
        <p:nvSpPr>
          <p:cNvPr id="29" name="Shape 25"/>
          <p:cNvSpPr/>
          <p:nvPr/>
        </p:nvSpPr>
        <p:spPr>
          <a:xfrm>
            <a:off x="8138160" y="1764792"/>
            <a:ext cx="502920" cy="502920"/>
          </a:xfrm>
          <a:prstGeom prst="ellipse">
            <a:avLst/>
          </a:prstGeom>
          <a:solidFill>
            <a:srgbClr val="B25E00"/>
          </a:solidFill>
          <a:ln w="12700">
            <a:solidFill>
              <a:srgbClr val="B25E00"/>
            </a:solidFill>
            <a:prstDash val="solid"/>
          </a:ln>
        </p:spPr>
      </p:sp>
      <p:sp>
        <p:nvSpPr>
          <p:cNvPr id="30" name="Text 26"/>
          <p:cNvSpPr txBox="1"/>
          <p:nvPr/>
        </p:nvSpPr>
        <p:spPr>
          <a:xfrm>
            <a:off x="8778240" y="1764792"/>
            <a:ext cx="2590495" cy="502920"/>
          </a:xfrm>
          <a:prstGeom prst="rect">
            <a:avLst/>
          </a:prstGeom>
          <a:noFill/>
          <a:ln/>
        </p:spPr>
        <p:txBody>
          <a:bodyPr wrap="square" lIns="0" tIns="0" rIns="0" bIns="0" rtlCol="0" anchor="ctr"/>
          <a:lstStyle/>
          <a:p>
            <a:pPr indent="0" marL="0">
              <a:buNone/>
            </a:pPr>
            <a:r>
              <a:rPr lang="en-US" sz="1700" b="1" dirty="0">
                <a:solidFill>
                  <a:srgbClr val="B25E00"/>
                </a:solidFill>
                <a:latin typeface="Calibri" pitchFamily="34" charset="0"/>
                <a:ea typeface="Calibri" pitchFamily="34" charset="-122"/>
                <a:cs typeface="Calibri" pitchFamily="34" charset="-120"/>
              </a:rPr>
              <a:t>No Git?</a:t>
            </a:r>
            <a:endParaRPr lang="en-US" sz="1700" dirty="0"/>
          </a:p>
        </p:txBody>
      </p:sp>
      <p:sp>
        <p:nvSpPr>
          <p:cNvPr id="31" name="Text 27"/>
          <p:cNvSpPr txBox="1"/>
          <p:nvPr/>
        </p:nvSpPr>
        <p:spPr>
          <a:xfrm>
            <a:off x="8138160" y="2450592"/>
            <a:ext cx="3230575" cy="2331720"/>
          </a:xfrm>
          <a:prstGeom prst="rect">
            <a:avLst/>
          </a:prstGeom>
          <a:noFill/>
          <a:ln/>
        </p:spPr>
        <p:txBody>
          <a:bodyPr wrap="square" lIns="0" tIns="0" rIns="0" bIns="0" rtlCol="0" anchor="t"/>
          <a:lstStyle/>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If git is not found, install it from git-scm.com and open a new terminal.</a:t>
            </a:r>
            <a:endParaRPr lang="en-US" sz="1800" dirty="0"/>
          </a:p>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On a shared lab computer, skip the global setting for your name and ask Ivana how accounts are handled there.</a:t>
            </a:r>
            <a:endParaRPr lang="en-US" sz="1800" dirty="0"/>
          </a:p>
        </p:txBody>
      </p:sp>
      <p:pic>
        <p:nvPicPr>
          <p:cNvPr id="32" name="Image 1" descr="preencoded.png">    </p:cNvPr>
          <p:cNvPicPr>
            <a:picLocks noChangeAspect="1"/>
          </p:cNvPicPr>
          <p:nvPr/>
        </p:nvPicPr>
        <p:blipFill>
          <a:blip r:embed="rId2"/>
          <a:stretch>
            <a:fillRect/>
          </a:stretch>
        </p:blipFill>
        <p:spPr>
          <a:xfrm>
            <a:off x="8258861" y="1885493"/>
            <a:ext cx="261518" cy="26151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62B33"/>
        </a:solidFill>
      </p:bgPr>
    </p:bg>
    <p:spTree>
      <p:nvGrpSpPr>
        <p:cNvPr id="1" name=""/>
        <p:cNvGrpSpPr/>
        <p:nvPr/>
      </p:nvGrpSpPr>
      <p:grpSpPr>
        <a:xfrm>
          <a:off x="0" y="0"/>
          <a:ext cx="0" cy="0"/>
          <a:chOff x="0" y="0"/>
          <a:chExt cx="0" cy="0"/>
        </a:xfrm>
      </p:grpSpPr>
      <p:sp>
        <p:nvSpPr>
          <p:cNvPr id="2" name="Text 0"/>
          <p:cNvSpPr txBox="1"/>
          <p:nvPr/>
        </p:nvSpPr>
        <p:spPr>
          <a:xfrm>
            <a:off x="731520" y="1371600"/>
            <a:ext cx="2743200" cy="1463040"/>
          </a:xfrm>
          <a:prstGeom prst="rect">
            <a:avLst/>
          </a:prstGeom>
          <a:noFill/>
          <a:ln/>
        </p:spPr>
        <p:txBody>
          <a:bodyPr wrap="square" lIns="0" tIns="0" rIns="0" bIns="0" rtlCol="0" anchor="ctr"/>
          <a:lstStyle/>
          <a:p>
            <a:pPr indent="0" marL="0">
              <a:buNone/>
            </a:pPr>
            <a:r>
              <a:rPr lang="en-US" sz="9600" b="1" dirty="0">
                <a:solidFill>
                  <a:srgbClr val="8A919C"/>
                </a:solidFill>
                <a:latin typeface="Calibri" pitchFamily="34" charset="0"/>
                <a:ea typeface="Calibri" pitchFamily="34" charset="-122"/>
                <a:cs typeface="Calibri" pitchFamily="34" charset="-120"/>
              </a:rPr>
              <a:t>02</a:t>
            </a:r>
            <a:endParaRPr lang="en-US" sz="9600" dirty="0"/>
          </a:p>
        </p:txBody>
      </p:sp>
      <p:sp>
        <p:nvSpPr>
          <p:cNvPr id="3" name="Text 1"/>
          <p:cNvSpPr txBox="1"/>
          <p:nvPr/>
        </p:nvSpPr>
        <p:spPr>
          <a:xfrm>
            <a:off x="731520" y="2880360"/>
            <a:ext cx="9601200" cy="1188720"/>
          </a:xfrm>
          <a:prstGeom prst="rect">
            <a:avLst/>
          </a:prstGeom>
          <a:noFill/>
          <a:ln/>
        </p:spPr>
        <p:txBody>
          <a:bodyPr wrap="square" lIns="0" tIns="0" rIns="0" bIns="0" rtlCol="0" anchor="t">
            <a:normAutofit/>
          </a:bodyPr>
          <a:lstStyle/>
          <a:p>
            <a:pPr indent="0" marL="0">
              <a:buNone/>
            </a:pPr>
            <a:r>
              <a:rPr lang="en-US" sz="4000" b="1" dirty="0">
                <a:solidFill>
                  <a:srgbClr val="FFFFFF"/>
                </a:solidFill>
                <a:latin typeface="Calibri" pitchFamily="34" charset="0"/>
                <a:ea typeface="Calibri" pitchFamily="34" charset="-122"/>
                <a:cs typeface="Calibri" pitchFamily="34" charset="-120"/>
              </a:rPr>
              <a:t>Tasks</a:t>
            </a:r>
            <a:endParaRPr lang="en-US" sz="4000" dirty="0"/>
          </a:p>
        </p:txBody>
      </p:sp>
      <p:sp>
        <p:nvSpPr>
          <p:cNvPr id="4" name="Text 2"/>
          <p:cNvSpPr txBox="1"/>
          <p:nvPr/>
        </p:nvSpPr>
        <p:spPr>
          <a:xfrm>
            <a:off x="731520" y="4114800"/>
            <a:ext cx="8686800" cy="91440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One warm up, four core tasks, one stretch task.</a:t>
            </a:r>
            <a:endParaRPr lang="en-US" sz="2000" dirty="0"/>
          </a:p>
        </p:txBody>
      </p:sp>
      <p:sp>
        <p:nvSpPr>
          <p:cNvPr id="5" name="Shape 3"/>
          <p:cNvSpPr/>
          <p:nvPr/>
        </p:nvSpPr>
        <p:spPr>
          <a:xfrm>
            <a:off x="731520" y="5257800"/>
            <a:ext cx="1737360" cy="384048"/>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731520" y="5257800"/>
            <a:ext cx="1737360" cy="384048"/>
          </a:xfrm>
          <a:prstGeom prst="rect">
            <a:avLst/>
          </a:prstGeom>
          <a:noFill/>
          <a:ln/>
        </p:spPr>
        <p:txBody>
          <a:bodyPr wrap="square" lIns="0" tIns="0" rIns="0" bIns="0" rtlCol="0" anchor="ctr"/>
          <a:lstStyle/>
          <a:p>
            <a:pPr algn="ctr" indent="0" marL="0">
              <a:buNone/>
            </a:pPr>
            <a:r>
              <a:rPr lang="en-US" sz="1300" b="1" dirty="0">
                <a:solidFill>
                  <a:srgbClr val="262B33"/>
                </a:solidFill>
                <a:latin typeface="Calibri" pitchFamily="34" charset="0"/>
                <a:ea typeface="Calibri" pitchFamily="34" charset="-122"/>
                <a:cs typeface="Calibri" pitchFamily="34" charset="-120"/>
              </a:rPr>
              <a:t>about 70 min</a:t>
            </a:r>
            <a:endParaRPr lang="en-US" sz="1300" dirty="0"/>
          </a:p>
        </p:txBody>
      </p:sp>
      <p:sp>
        <p:nvSpPr>
          <p:cNvPr id="7" name="Text 5"/>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CSCI 2430 Programming Languages  ·  Week 1  ·  Lab</a:t>
            </a:r>
            <a:endParaRPr lang="en-US" sz="1050" dirty="0"/>
          </a:p>
        </p:txBody>
      </p:sp>
      <p:sp>
        <p:nvSpPr>
          <p:cNvPr id="8" name="Text 6"/>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FFFFFF"/>
                </a:solidFill>
                <a:latin typeface="Calibri" pitchFamily="34" charset="0"/>
                <a:ea typeface="Calibri" pitchFamily="34" charset="-122"/>
                <a:cs typeface="Calibri" pitchFamily="34" charset="-120"/>
              </a:rPr>
              <a:t>8</a:t>
            </a:r>
            <a:endParaRPr lang="en-US" sz="1050" dirty="0"/>
          </a:p>
        </p:txBody>
      </p:sp>
      <p:pic>
        <p:nvPicPr>
          <p:cNvPr id="9" name="Image 0" descr="/home/claude/decks/assets/logo-white-small.png">    </p:cNvPr>
          <p:cNvPicPr>
            <a:picLocks noChangeAspect="1"/>
          </p:cNvPicPr>
          <p:nvPr/>
        </p:nvPicPr>
        <p:blipFill>
          <a:blip r:embed="rId1"/>
          <a:stretch>
            <a:fillRect/>
          </a:stretch>
        </p:blipFill>
        <p:spPr>
          <a:xfrm>
            <a:off x="10518343" y="6291172"/>
            <a:ext cx="1124712" cy="4113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 1  ·  WARM UP</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Hello, twice</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1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9</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8" name="Shape 4"/>
          <p:cNvSpPr/>
          <p:nvPr/>
        </p:nvSpPr>
        <p:spPr>
          <a:xfrm>
            <a:off x="10180015" y="411480"/>
            <a:ext cx="1463040" cy="329184"/>
          </a:xfrm>
          <a:prstGeom prst="roundRect">
            <a:avLst>
              <a:gd name="adj" fmla="val 50000"/>
            </a:avLst>
          </a:prstGeom>
          <a:solidFill>
            <a:srgbClr val="1E7F4F"/>
          </a:solidFill>
          <a:ln w="12700">
            <a:solidFill>
              <a:srgbClr val="1E7F4F"/>
            </a:solidFill>
            <a:prstDash val="solid"/>
          </a:ln>
        </p:spPr>
      </p:sp>
      <p:sp>
        <p:nvSpPr>
          <p:cNvPr id="9" name="Text 5"/>
          <p:cNvSpPr txBox="1"/>
          <p:nvPr/>
        </p:nvSpPr>
        <p:spPr>
          <a:xfrm>
            <a:off x="10180015" y="411480"/>
            <a:ext cx="146304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10 min</a:t>
            </a:r>
            <a:endParaRPr lang="en-US" sz="1250" dirty="0"/>
          </a:p>
        </p:txBody>
      </p:sp>
      <p:sp>
        <p:nvSpPr>
          <p:cNvPr id="10" name="Shape 6"/>
          <p:cNvSpPr/>
          <p:nvPr/>
        </p:nvSpPr>
        <p:spPr>
          <a:xfrm>
            <a:off x="548640" y="1508760"/>
            <a:ext cx="5760720" cy="1066800"/>
          </a:xfrm>
          <a:prstGeom prst="roundRect">
            <a:avLst>
              <a:gd name="adj" fmla="val 10286"/>
            </a:avLst>
          </a:prstGeom>
          <a:solidFill>
            <a:srgbClr val="FBECED"/>
          </a:solidFill>
          <a:ln w="12700">
            <a:solidFill>
              <a:srgbClr val="FBECED"/>
            </a:solidFill>
            <a:prstDash val="solid"/>
          </a:ln>
        </p:spPr>
      </p:sp>
      <p:sp>
        <p:nvSpPr>
          <p:cNvPr id="11" name="Text 7"/>
          <p:cNvSpPr txBox="1"/>
          <p:nvPr/>
        </p:nvSpPr>
        <p:spPr>
          <a:xfrm>
            <a:off x="822960" y="1600200"/>
            <a:ext cx="5212080" cy="883920"/>
          </a:xfrm>
          <a:prstGeom prst="rect">
            <a:avLst/>
          </a:prstGeom>
          <a:noFill/>
          <a:ln/>
        </p:spPr>
        <p:txBody>
          <a:bodyPr wrap="square" lIns="0" tIns="0" rIns="0" bIns="0" rtlCol="0" anchor="t"/>
          <a:lstStyle/>
          <a:p>
            <a:pPr indent="0" marL="0">
              <a:buNone/>
            </a:pPr>
            <a:r>
              <a:rPr lang="en-US" sz="1200" b="1" spc="200" kern="0" dirty="0">
                <a:solidFill>
                  <a:srgbClr val="C6333B"/>
                </a:solidFill>
                <a:latin typeface="Calibri" pitchFamily="34" charset="0"/>
                <a:ea typeface="Calibri" pitchFamily="34" charset="-122"/>
                <a:cs typeface="Calibri" pitchFamily="34" charset="-120"/>
              </a:rPr>
              <a:t>GOAL  </a:t>
            </a:r>
            <a:endParaRPr lang="en-US" sz="1200" dirty="0"/>
          </a:p>
          <a:p>
            <a:pPr indent="0" marL="0">
              <a:buNone/>
            </a:pPr>
            <a:r>
              <a:rPr lang="en-US" sz="1700" dirty="0">
                <a:solidFill>
                  <a:srgbClr val="1F2328"/>
                </a:solidFill>
                <a:latin typeface="Calibri" pitchFamily="34" charset="0"/>
                <a:ea typeface="Calibri" pitchFamily="34" charset="-122"/>
                <a:cs typeface="Calibri" pitchFamily="34" charset="-120"/>
              </a:rPr>
              <a:t>Run the same program in two ways: by hand in the terminal, and with the Run button in the IDE.</a:t>
            </a:r>
            <a:endParaRPr lang="en-US" sz="1200" dirty="0"/>
          </a:p>
        </p:txBody>
      </p:sp>
      <p:sp>
        <p:nvSpPr>
          <p:cNvPr id="12" name="Text 8"/>
          <p:cNvSpPr txBox="1"/>
          <p:nvPr/>
        </p:nvSpPr>
        <p:spPr>
          <a:xfrm>
            <a:off x="548640" y="2758440"/>
            <a:ext cx="5760720" cy="274320"/>
          </a:xfrm>
          <a:prstGeom prst="rect">
            <a:avLst/>
          </a:prstGeom>
          <a:noFill/>
          <a:ln/>
        </p:spPr>
        <p:txBody>
          <a:bodyPr wrap="square" lIns="0" tIns="0" rIns="0" bIns="0" rtlCol="0" anchor="ctr"/>
          <a:lstStyle/>
          <a:p>
            <a:pPr indent="0" marL="0">
              <a:buNone/>
            </a:pPr>
            <a:r>
              <a:rPr lang="en-US" sz="1200" b="1" spc="200" kern="0" dirty="0">
                <a:solidFill>
                  <a:srgbClr val="5B6470"/>
                </a:solidFill>
                <a:latin typeface="Calibri" pitchFamily="34" charset="0"/>
                <a:ea typeface="Calibri" pitchFamily="34" charset="-122"/>
                <a:cs typeface="Calibri" pitchFamily="34" charset="-120"/>
              </a:rPr>
              <a:t>WHAT TO DO</a:t>
            </a:r>
            <a:endParaRPr lang="en-US" sz="1200" dirty="0"/>
          </a:p>
        </p:txBody>
      </p:sp>
      <p:sp>
        <p:nvSpPr>
          <p:cNvPr id="13" name="Text 9"/>
          <p:cNvSpPr txBox="1"/>
          <p:nvPr/>
        </p:nvSpPr>
        <p:spPr>
          <a:xfrm>
            <a:off x="548640" y="3078480"/>
            <a:ext cx="5760720" cy="304800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600" dirty="0">
                <a:solidFill>
                  <a:srgbClr val="1F2328"/>
                </a:solidFill>
                <a:latin typeface="Calibri" pitchFamily="34" charset="0"/>
                <a:ea typeface="Calibri" pitchFamily="34" charset="-122"/>
                <a:cs typeface="Calibri" pitchFamily="34" charset="-120"/>
              </a:rPr>
              <a:t>In the project, create a folder week01. Right click it: Mark Directory as, Sources Root. Create a new file Hello.java in it.</a:t>
            </a:r>
            <a:endParaRPr lang="en-US" sz="1600" dirty="0"/>
          </a:p>
          <a:p>
            <a:pPr marL="342900" indent="-342900">
              <a:spcAft>
                <a:spcPts val="600"/>
              </a:spcAft>
              <a:buSzPct val="100000"/>
              <a:buFont typeface="+mj-lt"/>
              <a:buAutoNum type="arabicPeriod" startAt="1"/>
            </a:pPr>
            <a:r>
              <a:rPr lang="en-US" sz="1600" dirty="0">
                <a:solidFill>
                  <a:srgbClr val="1F2328"/>
                </a:solidFill>
                <a:latin typeface="Calibri" pitchFamily="34" charset="0"/>
                <a:ea typeface="Calibri" pitchFamily="34" charset="-122"/>
                <a:cs typeface="Calibri" pitchFamily="34" charset="-120"/>
              </a:rPr>
              <a:t>Type the program from the right side. Do not copy and paste it.</a:t>
            </a:r>
            <a:endParaRPr lang="en-US" sz="1600" dirty="0"/>
          </a:p>
          <a:p>
            <a:pPr marL="342900" indent="-342900">
              <a:spcAft>
                <a:spcPts val="600"/>
              </a:spcAft>
              <a:buSzPct val="100000"/>
              <a:buFont typeface="+mj-lt"/>
              <a:buAutoNum type="arabicPeriod" startAt="1"/>
            </a:pPr>
            <a:r>
              <a:rPr lang="en-US" sz="1600" dirty="0">
                <a:solidFill>
                  <a:srgbClr val="1F2328"/>
                </a:solidFill>
                <a:latin typeface="Calibri" pitchFamily="34" charset="0"/>
                <a:ea typeface="Calibri" pitchFamily="34" charset="-122"/>
                <a:cs typeface="Calibri" pitchFamily="34" charset="-120"/>
              </a:rPr>
              <a:t>Open the Terminal tool window, go into the folder week01 and run: java Hello.java</a:t>
            </a:r>
            <a:endParaRPr lang="en-US" sz="1600" dirty="0"/>
          </a:p>
          <a:p>
            <a:pPr marL="342900" indent="-342900">
              <a:spcAft>
                <a:spcPts val="600"/>
              </a:spcAft>
              <a:buSzPct val="100000"/>
              <a:buFont typeface="+mj-lt"/>
              <a:buAutoNum type="arabicPeriod" startAt="1"/>
            </a:pPr>
            <a:r>
              <a:rPr lang="en-US" sz="1600" dirty="0">
                <a:solidFill>
                  <a:srgbClr val="1F2328"/>
                </a:solidFill>
                <a:latin typeface="Calibri" pitchFamily="34" charset="0"/>
                <a:ea typeface="Calibri" pitchFamily="34" charset="-122"/>
                <a:cs typeface="Calibri" pitchFamily="34" charset="-120"/>
              </a:rPr>
              <a:t>Now click the green arrow next to main in the editor.</a:t>
            </a:r>
            <a:endParaRPr lang="en-US" sz="1600" dirty="0"/>
          </a:p>
          <a:p>
            <a:pPr marL="342900" indent="-342900">
              <a:spcAft>
                <a:spcPts val="600"/>
              </a:spcAft>
              <a:buSzPct val="100000"/>
              <a:buFont typeface="+mj-lt"/>
              <a:buAutoNum type="arabicPeriod" startAt="1"/>
            </a:pPr>
            <a:r>
              <a:rPr lang="en-US" sz="1600" dirty="0">
                <a:solidFill>
                  <a:srgbClr val="1F2328"/>
                </a:solidFill>
                <a:latin typeface="Calibri" pitchFamily="34" charset="0"/>
                <a:ea typeface="Calibri" pitchFamily="34" charset="-122"/>
                <a:cs typeface="Calibri" pitchFamily="34" charset="-120"/>
              </a:rPr>
              <a:t>Change the text so that the program greets you by your own name. Run it again.</a:t>
            </a:r>
            <a:endParaRPr lang="en-US" sz="1600" dirty="0"/>
          </a:p>
        </p:txBody>
      </p:sp>
      <p:sp>
        <p:nvSpPr>
          <p:cNvPr id="14" name="Shape 10"/>
          <p:cNvSpPr/>
          <p:nvPr/>
        </p:nvSpPr>
        <p:spPr>
          <a:xfrm>
            <a:off x="6675120" y="1508760"/>
            <a:ext cx="4967935" cy="1453896"/>
          </a:xfrm>
          <a:prstGeom prst="roundRect">
            <a:avLst>
              <a:gd name="adj" fmla="val 6289"/>
            </a:avLst>
          </a:prstGeom>
          <a:solidFill>
            <a:srgbClr val="1B2029"/>
          </a:solidFill>
          <a:ln w="12700">
            <a:solidFill>
              <a:srgbClr val="1B2029"/>
            </a:solidFill>
            <a:prstDash val="solid"/>
          </a:ln>
        </p:spPr>
      </p:sp>
      <p:sp>
        <p:nvSpPr>
          <p:cNvPr id="15" name="Text 11"/>
          <p:cNvSpPr txBox="1"/>
          <p:nvPr/>
        </p:nvSpPr>
        <p:spPr>
          <a:xfrm>
            <a:off x="6931152" y="1618488"/>
            <a:ext cx="4455871" cy="256032"/>
          </a:xfrm>
          <a:prstGeom prst="rect">
            <a:avLst/>
          </a:prstGeom>
          <a:noFill/>
          <a:ln/>
        </p:spPr>
        <p:txBody>
          <a:bodyPr wrap="square" lIns="0" tIns="0" rIns="0" bIns="0" rtlCol="0" anchor="ctr"/>
          <a:lstStyle/>
          <a:p>
            <a:pPr indent="0" marL="0">
              <a:buNone/>
            </a:pPr>
            <a:r>
              <a:rPr lang="en-US" sz="1100" b="1" spc="100" kern="0" dirty="0">
                <a:solidFill>
                  <a:srgbClr val="8B97A6"/>
                </a:solidFill>
                <a:latin typeface="Calibri" pitchFamily="34" charset="0"/>
                <a:ea typeface="Calibri" pitchFamily="34" charset="-122"/>
                <a:cs typeface="Calibri" pitchFamily="34" charset="-120"/>
              </a:rPr>
              <a:t>Hello.java</a:t>
            </a:r>
            <a:endParaRPr lang="en-US" sz="1100" dirty="0"/>
          </a:p>
        </p:txBody>
      </p:sp>
      <p:sp>
        <p:nvSpPr>
          <p:cNvPr id="16" name="Text 12"/>
          <p:cNvSpPr txBox="1"/>
          <p:nvPr/>
        </p:nvSpPr>
        <p:spPr>
          <a:xfrm>
            <a:off x="6931152" y="1965960"/>
            <a:ext cx="4455871" cy="813816"/>
          </a:xfrm>
          <a:prstGeom prst="rect">
            <a:avLst/>
          </a:prstGeom>
          <a:noFill/>
          <a:ln/>
        </p:spPr>
        <p:txBody>
          <a:bodyPr wrap="none" lIns="0" tIns="0" rIns="0" bIns="0" rtlCol="0" anchor="t"/>
          <a:lstStyle/>
          <a:p>
            <a:pPr indent="0" marL="0">
              <a:lnSpc>
                <a:spcPct val="105000"/>
              </a:lnSpc>
              <a:buNone/>
            </a:pPr>
            <a:r>
              <a:rPr lang="en-US" sz="1600" dirty="0">
                <a:solidFill>
                  <a:srgbClr val="FF8A93"/>
                </a:solidFill>
                <a:latin typeface="Consolas" pitchFamily="34" charset="0"/>
                <a:ea typeface="Consolas" pitchFamily="34" charset="-122"/>
                <a:cs typeface="Consolas" pitchFamily="34" charset="-120"/>
              </a:rPr>
              <a:t>void</a:t>
            </a:r>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 main() {</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    IO.println(</a:t>
            </a:r>
            <a:pPr indent="0" marL="0">
              <a:lnSpc>
                <a:spcPct val="105000"/>
              </a:lnSpc>
              <a:buNone/>
            </a:pPr>
            <a:r>
              <a:rPr lang="en-US" sz="1600" dirty="0">
                <a:solidFill>
                  <a:srgbClr val="A8DB8F"/>
                </a:solidFill>
                <a:latin typeface="Consolas" pitchFamily="34" charset="0"/>
                <a:ea typeface="Consolas" pitchFamily="34" charset="-122"/>
                <a:cs typeface="Consolas" pitchFamily="34" charset="-120"/>
              </a:rPr>
              <a:t>"Hello, UACS!"</a:t>
            </a:r>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a:t>
            </a:r>
            <a:endParaRPr lang="en-US" sz="1600" dirty="0"/>
          </a:p>
        </p:txBody>
      </p:sp>
      <p:sp>
        <p:nvSpPr>
          <p:cNvPr id="17" name="Shape 13"/>
          <p:cNvSpPr/>
          <p:nvPr/>
        </p:nvSpPr>
        <p:spPr>
          <a:xfrm>
            <a:off x="6675120" y="3145536"/>
            <a:ext cx="4967935" cy="2980944"/>
          </a:xfrm>
          <a:prstGeom prst="roundRect">
            <a:avLst>
              <a:gd name="adj" fmla="val 3681"/>
            </a:avLst>
          </a:prstGeom>
          <a:solidFill>
            <a:srgbClr val="E7F5EC"/>
          </a:solidFill>
          <a:ln w="12700">
            <a:solidFill>
              <a:srgbClr val="E7F5EC"/>
            </a:solidFill>
            <a:prstDash val="solid"/>
          </a:ln>
        </p:spPr>
      </p:sp>
      <p:sp>
        <p:nvSpPr>
          <p:cNvPr id="18" name="Text 14"/>
          <p:cNvSpPr txBox="1"/>
          <p:nvPr/>
        </p:nvSpPr>
        <p:spPr>
          <a:xfrm>
            <a:off x="6949440" y="3282696"/>
            <a:ext cx="4419295" cy="274320"/>
          </a:xfrm>
          <a:prstGeom prst="rect">
            <a:avLst/>
          </a:prstGeom>
          <a:noFill/>
          <a:ln/>
        </p:spPr>
        <p:txBody>
          <a:bodyPr wrap="square" lIns="0" tIns="0" rIns="0" bIns="0" rtlCol="0" anchor="ctr"/>
          <a:lstStyle/>
          <a:p>
            <a:pPr indent="0" marL="0">
              <a:buNone/>
            </a:pPr>
            <a:r>
              <a:rPr lang="en-US" sz="1200" b="1" spc="200" kern="0" dirty="0">
                <a:solidFill>
                  <a:srgbClr val="1E7F4F"/>
                </a:solidFill>
                <a:latin typeface="Calibri" pitchFamily="34" charset="0"/>
                <a:ea typeface="Calibri" pitchFamily="34" charset="-122"/>
                <a:cs typeface="Calibri" pitchFamily="34" charset="-120"/>
              </a:rPr>
              <a:t>DONE WHEN</a:t>
            </a:r>
            <a:endParaRPr lang="en-US" sz="1200" dirty="0"/>
          </a:p>
        </p:txBody>
      </p:sp>
      <p:sp>
        <p:nvSpPr>
          <p:cNvPr id="19" name="Text 15"/>
          <p:cNvSpPr txBox="1"/>
          <p:nvPr/>
        </p:nvSpPr>
        <p:spPr>
          <a:xfrm>
            <a:off x="6949440" y="3621024"/>
            <a:ext cx="4419295" cy="2386584"/>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You saw the same output in the terminal and in the Run window</a:t>
            </a:r>
            <a:endParaRPr lang="en-US" sz="1700" dirty="0"/>
          </a:p>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You can explain what java Hello.java does in two steps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 2  ·  CORE  ·  20 MIN  ·  PART 1</a:t>
            </a:r>
            <a:endParaRPr lang="en-US" sz="1200" dirty="0"/>
          </a:p>
        </p:txBody>
      </p:sp>
      <p:sp>
        <p:nvSpPr>
          <p:cNvPr id="3" name="Text 1"/>
          <p:cNvSpPr txBox="1"/>
          <p:nvPr/>
        </p:nvSpPr>
        <p:spPr>
          <a:xfrm>
            <a:off x="548640" y="640080"/>
            <a:ext cx="941832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Your own repository for the whole semester</a:t>
            </a:r>
            <a:endParaRPr lang="en-US" sz="3200" dirty="0"/>
          </a:p>
        </p:txBody>
      </p:sp>
      <p:sp>
        <p:nvSpPr>
          <p:cNvPr id="4" name="Shape 2"/>
          <p:cNvSpPr/>
          <p:nvPr/>
        </p:nvSpPr>
        <p:spPr>
          <a:xfrm>
            <a:off x="10042855" y="411480"/>
            <a:ext cx="1600200" cy="310896"/>
          </a:xfrm>
          <a:prstGeom prst="roundRect">
            <a:avLst>
              <a:gd name="adj" fmla="val 50000"/>
            </a:avLst>
          </a:prstGeom>
          <a:solidFill>
            <a:srgbClr val="C6333B"/>
          </a:solidFill>
          <a:ln w="12700">
            <a:solidFill>
              <a:srgbClr val="C6333B"/>
            </a:solidFill>
            <a:prstDash val="solid"/>
          </a:ln>
        </p:spPr>
      </p:sp>
      <p:sp>
        <p:nvSpPr>
          <p:cNvPr id="5" name="Text 3"/>
          <p:cNvSpPr txBox="1"/>
          <p:nvPr/>
        </p:nvSpPr>
        <p:spPr>
          <a:xfrm>
            <a:off x="10042855" y="411480"/>
            <a:ext cx="1600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LAB NEEDS THIS</a:t>
            </a:r>
            <a:endParaRPr lang="en-US" sz="105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1  ·  Lab</a:t>
            </a:r>
            <a:endParaRPr lang="en-US" sz="1050" dirty="0"/>
          </a:p>
        </p:txBody>
      </p:sp>
      <p:sp>
        <p:nvSpPr>
          <p:cNvPr id="7" name="Text 5"/>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10</a:t>
            </a:r>
            <a:endParaRPr lang="en-US" sz="1050" dirty="0"/>
          </a:p>
        </p:txBody>
      </p:sp>
      <p:pic>
        <p:nvPicPr>
          <p:cNvPr id="8"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10" name="Shape 6"/>
          <p:cNvSpPr/>
          <p:nvPr/>
        </p:nvSpPr>
        <p:spPr>
          <a:xfrm>
            <a:off x="548640" y="1508760"/>
            <a:ext cx="566928" cy="365760"/>
          </a:xfrm>
          <a:prstGeom prst="roundRect">
            <a:avLst>
              <a:gd name="adj" fmla="val 20000"/>
            </a:avLst>
          </a:prstGeom>
          <a:solidFill>
            <a:srgbClr val="262B33"/>
          </a:solidFill>
          <a:ln w="12700">
            <a:solidFill>
              <a:srgbClr val="262B33"/>
            </a:solidFill>
            <a:prstDash val="solid"/>
          </a:ln>
        </p:spPr>
      </p:sp>
      <p:sp>
        <p:nvSpPr>
          <p:cNvPr id="11" name="Text 7"/>
          <p:cNvSpPr txBox="1"/>
          <p:nvPr/>
        </p:nvSpPr>
        <p:spPr>
          <a:xfrm>
            <a:off x="548640" y="1508760"/>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8"/>
          <p:cNvSpPr txBox="1"/>
          <p:nvPr/>
        </p:nvSpPr>
        <p:spPr>
          <a:xfrm>
            <a:off x="1325880" y="1508760"/>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Create a private repository on GitHub</a:t>
            </a:r>
            <a:endParaRPr lang="en-US" sz="1750" dirty="0"/>
          </a:p>
        </p:txBody>
      </p:sp>
      <p:sp>
        <p:nvSpPr>
          <p:cNvPr id="13" name="Text 9"/>
          <p:cNvSpPr txBox="1"/>
          <p:nvPr/>
        </p:nvSpPr>
        <p:spPr>
          <a:xfrm>
            <a:off x="1325880" y="1892808"/>
            <a:ext cx="6080760" cy="50901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Name: proglang-2026 plus your name. Create it empty, with no README file.</a:t>
            </a:r>
            <a:endParaRPr lang="en-US" sz="1550" dirty="0"/>
          </a:p>
        </p:txBody>
      </p:sp>
      <p:sp>
        <p:nvSpPr>
          <p:cNvPr id="14" name="Shape 10"/>
          <p:cNvSpPr/>
          <p:nvPr/>
        </p:nvSpPr>
        <p:spPr>
          <a:xfrm>
            <a:off x="548640" y="2730627"/>
            <a:ext cx="566928" cy="365760"/>
          </a:xfrm>
          <a:prstGeom prst="roundRect">
            <a:avLst>
              <a:gd name="adj" fmla="val 20000"/>
            </a:avLst>
          </a:prstGeom>
          <a:solidFill>
            <a:srgbClr val="262B33"/>
          </a:solidFill>
          <a:ln w="12700">
            <a:solidFill>
              <a:srgbClr val="262B33"/>
            </a:solidFill>
            <a:prstDash val="solid"/>
          </a:ln>
        </p:spPr>
      </p:sp>
      <p:sp>
        <p:nvSpPr>
          <p:cNvPr id="15" name="Text 11"/>
          <p:cNvSpPr txBox="1"/>
          <p:nvPr/>
        </p:nvSpPr>
        <p:spPr>
          <a:xfrm>
            <a:off x="548640" y="2730627"/>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2"/>
          <p:cNvSpPr txBox="1"/>
          <p:nvPr/>
        </p:nvSpPr>
        <p:spPr>
          <a:xfrm>
            <a:off x="1325880" y="2730627"/>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Add Ivana and Dejan as collaborators</a:t>
            </a:r>
            <a:endParaRPr lang="en-US" sz="1750" dirty="0"/>
          </a:p>
        </p:txBody>
      </p:sp>
      <p:sp>
        <p:nvSpPr>
          <p:cNvPr id="17" name="Text 13"/>
          <p:cNvSpPr txBox="1"/>
          <p:nvPr/>
        </p:nvSpPr>
        <p:spPr>
          <a:xfrm>
            <a:off x="1325880" y="3114675"/>
            <a:ext cx="6080760" cy="27279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On the repository page: Settings, Collaborators.</a:t>
            </a:r>
            <a:endParaRPr lang="en-US" sz="1550" dirty="0"/>
          </a:p>
        </p:txBody>
      </p:sp>
      <p:sp>
        <p:nvSpPr>
          <p:cNvPr id="18" name="Shape 14"/>
          <p:cNvSpPr/>
          <p:nvPr/>
        </p:nvSpPr>
        <p:spPr>
          <a:xfrm>
            <a:off x="548640" y="3716274"/>
            <a:ext cx="566928" cy="365760"/>
          </a:xfrm>
          <a:prstGeom prst="roundRect">
            <a:avLst>
              <a:gd name="adj" fmla="val 20000"/>
            </a:avLst>
          </a:prstGeom>
          <a:solidFill>
            <a:srgbClr val="262B33"/>
          </a:solidFill>
          <a:ln w="12700">
            <a:solidFill>
              <a:srgbClr val="262B33"/>
            </a:solidFill>
            <a:prstDash val="solid"/>
          </a:ln>
        </p:spPr>
      </p:sp>
      <p:sp>
        <p:nvSpPr>
          <p:cNvPr id="19" name="Text 15"/>
          <p:cNvSpPr txBox="1"/>
          <p:nvPr/>
        </p:nvSpPr>
        <p:spPr>
          <a:xfrm>
            <a:off x="548640" y="3716274"/>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6"/>
          <p:cNvSpPr txBox="1"/>
          <p:nvPr/>
        </p:nvSpPr>
        <p:spPr>
          <a:xfrm>
            <a:off x="1325880" y="3716274"/>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Copy .gitignore from the starter folder into your project folder</a:t>
            </a:r>
            <a:endParaRPr lang="en-US" sz="1750" dirty="0"/>
          </a:p>
        </p:txBody>
      </p:sp>
      <p:sp>
        <p:nvSpPr>
          <p:cNvPr id="21" name="Text 17"/>
          <p:cNvSpPr txBox="1"/>
          <p:nvPr/>
        </p:nvSpPr>
        <p:spPr>
          <a:xfrm>
            <a:off x="1325880" y="4100322"/>
            <a:ext cx="6080760" cy="27279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It keeps IDE settings and compiled files out of the repository.</a:t>
            </a:r>
            <a:endParaRPr lang="en-US" sz="1550" dirty="0"/>
          </a:p>
        </p:txBody>
      </p:sp>
      <p:sp>
        <p:nvSpPr>
          <p:cNvPr id="22" name="Shape 18"/>
          <p:cNvSpPr/>
          <p:nvPr/>
        </p:nvSpPr>
        <p:spPr>
          <a:xfrm>
            <a:off x="548640" y="4701921"/>
            <a:ext cx="566928" cy="365760"/>
          </a:xfrm>
          <a:prstGeom prst="roundRect">
            <a:avLst>
              <a:gd name="adj" fmla="val 20000"/>
            </a:avLst>
          </a:prstGeom>
          <a:solidFill>
            <a:srgbClr val="262B33"/>
          </a:solidFill>
          <a:ln w="12700">
            <a:solidFill>
              <a:srgbClr val="262B33"/>
            </a:solidFill>
            <a:prstDash val="solid"/>
          </a:ln>
        </p:spPr>
      </p:sp>
      <p:sp>
        <p:nvSpPr>
          <p:cNvPr id="23" name="Text 19"/>
          <p:cNvSpPr txBox="1"/>
          <p:nvPr/>
        </p:nvSpPr>
        <p:spPr>
          <a:xfrm>
            <a:off x="548640" y="4701921"/>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0"/>
          <p:cNvSpPr txBox="1"/>
          <p:nvPr/>
        </p:nvSpPr>
        <p:spPr>
          <a:xfrm>
            <a:off x="1325880" y="4701921"/>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Put your project under Git and connect it to GitHub</a:t>
            </a:r>
            <a:endParaRPr lang="en-US" sz="1750" dirty="0"/>
          </a:p>
        </p:txBody>
      </p:sp>
      <p:sp>
        <p:nvSpPr>
          <p:cNvPr id="25" name="Text 21"/>
          <p:cNvSpPr txBox="1"/>
          <p:nvPr/>
        </p:nvSpPr>
        <p:spPr>
          <a:xfrm>
            <a:off x="1325880" y="5085969"/>
            <a:ext cx="6080760" cy="27279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In the IntelliJ terminal, inside the project folder:</a:t>
            </a:r>
            <a:endParaRPr lang="en-US" sz="1550" dirty="0"/>
          </a:p>
        </p:txBody>
      </p:sp>
      <p:sp>
        <p:nvSpPr>
          <p:cNvPr id="26" name="Shape 22"/>
          <p:cNvSpPr/>
          <p:nvPr/>
        </p:nvSpPr>
        <p:spPr>
          <a:xfrm>
            <a:off x="1325880" y="5377053"/>
            <a:ext cx="6080760" cy="731520"/>
          </a:xfrm>
          <a:prstGeom prst="roundRect">
            <a:avLst>
              <a:gd name="adj" fmla="val 7500"/>
            </a:avLst>
          </a:prstGeom>
          <a:solidFill>
            <a:srgbClr val="1B2029"/>
          </a:solidFill>
          <a:ln w="12700">
            <a:solidFill>
              <a:srgbClr val="1B2029"/>
            </a:solidFill>
            <a:prstDash val="solid"/>
          </a:ln>
        </p:spPr>
      </p:sp>
      <p:sp>
        <p:nvSpPr>
          <p:cNvPr id="27" name="Text 23"/>
          <p:cNvSpPr txBox="1"/>
          <p:nvPr/>
        </p:nvSpPr>
        <p:spPr>
          <a:xfrm>
            <a:off x="1508760" y="5377053"/>
            <a:ext cx="5760720" cy="731520"/>
          </a:xfrm>
          <a:prstGeom prst="rect">
            <a:avLst/>
          </a:prstGeom>
          <a:noFill/>
          <a:ln/>
        </p:spPr>
        <p:txBody>
          <a:bodyPr wrap="none" lIns="0" tIns="0" rIns="0" bIns="0" rtlCol="0" anchor="ctr"/>
          <a:lstStyle/>
          <a:p>
            <a:pPr indent="0" marL="0">
              <a:buNone/>
            </a:pPr>
            <a:r>
              <a:rPr lang="en-US" sz="1400" dirty="0">
                <a:solidFill>
                  <a:srgbClr val="E6EDF3"/>
                </a:solidFill>
                <a:latin typeface="Consolas" pitchFamily="34" charset="0"/>
                <a:ea typeface="Consolas" pitchFamily="34" charset="-122"/>
                <a:cs typeface="Consolas" pitchFamily="34" charset="-120"/>
              </a:rPr>
              <a:t>git init</a:t>
            </a:r>
            <a:endParaRPr lang="en-US" sz="1400" dirty="0"/>
          </a:p>
          <a:p>
            <a:pPr indent="0" marL="0">
              <a:buNone/>
            </a:pPr>
            <a:r>
              <a:rPr lang="en-US" sz="1400" dirty="0">
                <a:solidFill>
                  <a:srgbClr val="E6EDF3"/>
                </a:solidFill>
                <a:latin typeface="Consolas" pitchFamily="34" charset="0"/>
                <a:ea typeface="Consolas" pitchFamily="34" charset="-122"/>
                <a:cs typeface="Consolas" pitchFamily="34" charset="-120"/>
              </a:rPr>
              <a:t>git remote add origin &lt;address of your repository&gt;</a:t>
            </a:r>
            <a:endParaRPr lang="en-US" sz="1400" dirty="0"/>
          </a:p>
        </p:txBody>
      </p:sp>
      <p:sp>
        <p:nvSpPr>
          <p:cNvPr id="28" name="Shape 24"/>
          <p:cNvSpPr/>
          <p:nvPr/>
        </p:nvSpPr>
        <p:spPr>
          <a:xfrm>
            <a:off x="7863840" y="1490472"/>
            <a:ext cx="3779215" cy="3291840"/>
          </a:xfrm>
          <a:prstGeom prst="roundRect">
            <a:avLst>
              <a:gd name="adj" fmla="val 3333"/>
            </a:avLst>
          </a:prstGeom>
          <a:solidFill>
            <a:srgbClr val="FBECED"/>
          </a:solidFill>
          <a:ln w="12700">
            <a:solidFill>
              <a:srgbClr val="FBECED"/>
            </a:solidFill>
            <a:prstDash val="solid"/>
          </a:ln>
        </p:spPr>
      </p:sp>
      <p:sp>
        <p:nvSpPr>
          <p:cNvPr id="29" name="Shape 25"/>
          <p:cNvSpPr/>
          <p:nvPr/>
        </p:nvSpPr>
        <p:spPr>
          <a:xfrm>
            <a:off x="8138160" y="1764792"/>
            <a:ext cx="502920" cy="502920"/>
          </a:xfrm>
          <a:prstGeom prst="ellipse">
            <a:avLst/>
          </a:prstGeom>
          <a:solidFill>
            <a:srgbClr val="C6333B"/>
          </a:solidFill>
          <a:ln w="12700">
            <a:solidFill>
              <a:srgbClr val="C6333B"/>
            </a:solidFill>
            <a:prstDash val="solid"/>
          </a:ln>
        </p:spPr>
      </p:sp>
      <p:sp>
        <p:nvSpPr>
          <p:cNvPr id="30" name="Text 26"/>
          <p:cNvSpPr txBox="1"/>
          <p:nvPr/>
        </p:nvSpPr>
        <p:spPr>
          <a:xfrm>
            <a:off x="8778240" y="1764792"/>
            <a:ext cx="2590495" cy="502920"/>
          </a:xfrm>
          <a:prstGeom prst="rect">
            <a:avLst/>
          </a:prstGeom>
          <a:noFill/>
          <a:ln/>
        </p:spPr>
        <p:txBody>
          <a:bodyPr wrap="square" lIns="0" tIns="0" rIns="0" bIns="0" rtlCol="0" anchor="ctr"/>
          <a:lstStyle/>
          <a:p>
            <a:pPr indent="0" marL="0">
              <a:buNone/>
            </a:pPr>
            <a:r>
              <a:rPr lang="en-US" sz="1700" b="1" dirty="0">
                <a:solidFill>
                  <a:srgbClr val="9C2630"/>
                </a:solidFill>
                <a:latin typeface="Calibri" pitchFamily="34" charset="0"/>
                <a:ea typeface="Calibri" pitchFamily="34" charset="-122"/>
                <a:cs typeface="Calibri" pitchFamily="34" charset="-120"/>
              </a:rPr>
              <a:t>One repository</a:t>
            </a:r>
            <a:endParaRPr lang="en-US" sz="1700" dirty="0"/>
          </a:p>
        </p:txBody>
      </p:sp>
      <p:sp>
        <p:nvSpPr>
          <p:cNvPr id="31" name="Text 27"/>
          <p:cNvSpPr txBox="1"/>
          <p:nvPr/>
        </p:nvSpPr>
        <p:spPr>
          <a:xfrm>
            <a:off x="8138160" y="2450592"/>
            <a:ext cx="3230575" cy="2057400"/>
          </a:xfrm>
          <a:prstGeom prst="rect">
            <a:avLst/>
          </a:prstGeom>
          <a:noFill/>
          <a:ln/>
        </p:spPr>
        <p:txBody>
          <a:bodyPr wrap="square" lIns="0" tIns="0" rIns="0" bIns="0" rtlCol="0" anchor="t"/>
          <a:lstStyle/>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You use this repository all semester, with one folder per week.</a:t>
            </a:r>
            <a:endParaRPr lang="en-US" sz="1800" dirty="0"/>
          </a:p>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It is private, and shared with both instructors. Exam work is handed in the same way.</a:t>
            </a:r>
            <a:endParaRPr lang="en-US" sz="1800" dirty="0"/>
          </a:p>
        </p:txBody>
      </p:sp>
      <p:pic>
        <p:nvPicPr>
          <p:cNvPr id="32" name="Image 1" descr="preencoded.png">    </p:cNvPr>
          <p:cNvPicPr>
            <a:picLocks noChangeAspect="1"/>
          </p:cNvPicPr>
          <p:nvPr/>
        </p:nvPicPr>
        <p:blipFill>
          <a:blip r:embed="rId2"/>
          <a:stretch>
            <a:fillRect/>
          </a:stretch>
        </p:blipFill>
        <p:spPr>
          <a:xfrm>
            <a:off x="8258861" y="1885493"/>
            <a:ext cx="261518" cy="26151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 2  ·  PART 2</a:t>
            </a:r>
            <a:endParaRPr lang="en-US" sz="1200" dirty="0"/>
          </a:p>
        </p:txBody>
      </p:sp>
      <p:sp>
        <p:nvSpPr>
          <p:cNvPr id="3" name="Text 1"/>
          <p:cNvSpPr txBox="1"/>
          <p:nvPr/>
        </p:nvSpPr>
        <p:spPr>
          <a:xfrm>
            <a:off x="548640" y="640080"/>
            <a:ext cx="941832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First commit and first push</a:t>
            </a:r>
            <a:endParaRPr lang="en-US" sz="3200" dirty="0"/>
          </a:p>
        </p:txBody>
      </p:sp>
      <p:sp>
        <p:nvSpPr>
          <p:cNvPr id="4" name="Shape 2"/>
          <p:cNvSpPr/>
          <p:nvPr/>
        </p:nvSpPr>
        <p:spPr>
          <a:xfrm>
            <a:off x="10042855" y="411480"/>
            <a:ext cx="1600200" cy="310896"/>
          </a:xfrm>
          <a:prstGeom prst="roundRect">
            <a:avLst>
              <a:gd name="adj" fmla="val 50000"/>
            </a:avLst>
          </a:prstGeom>
          <a:solidFill>
            <a:srgbClr val="C6333B"/>
          </a:solidFill>
          <a:ln w="12700">
            <a:solidFill>
              <a:srgbClr val="C6333B"/>
            </a:solidFill>
            <a:prstDash val="solid"/>
          </a:ln>
        </p:spPr>
      </p:sp>
      <p:sp>
        <p:nvSpPr>
          <p:cNvPr id="5" name="Text 3"/>
          <p:cNvSpPr txBox="1"/>
          <p:nvPr/>
        </p:nvSpPr>
        <p:spPr>
          <a:xfrm>
            <a:off x="10042855" y="411480"/>
            <a:ext cx="1600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LAB NEEDS THIS</a:t>
            </a:r>
            <a:endParaRPr lang="en-US" sz="105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1  ·  Lab</a:t>
            </a:r>
            <a:endParaRPr lang="en-US" sz="1050" dirty="0"/>
          </a:p>
        </p:txBody>
      </p:sp>
      <p:sp>
        <p:nvSpPr>
          <p:cNvPr id="7" name="Text 5"/>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11</a:t>
            </a:r>
            <a:endParaRPr lang="en-US" sz="1050" dirty="0"/>
          </a:p>
        </p:txBody>
      </p:sp>
      <p:pic>
        <p:nvPicPr>
          <p:cNvPr id="8"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10" name="Shape 6"/>
          <p:cNvSpPr/>
          <p:nvPr/>
        </p:nvSpPr>
        <p:spPr>
          <a:xfrm>
            <a:off x="548640" y="1508760"/>
            <a:ext cx="566928" cy="365760"/>
          </a:xfrm>
          <a:prstGeom prst="roundRect">
            <a:avLst>
              <a:gd name="adj" fmla="val 20000"/>
            </a:avLst>
          </a:prstGeom>
          <a:solidFill>
            <a:srgbClr val="262B33"/>
          </a:solidFill>
          <a:ln w="12700">
            <a:solidFill>
              <a:srgbClr val="262B33"/>
            </a:solidFill>
            <a:prstDash val="solid"/>
          </a:ln>
        </p:spPr>
      </p:sp>
      <p:sp>
        <p:nvSpPr>
          <p:cNvPr id="11" name="Text 7"/>
          <p:cNvSpPr txBox="1"/>
          <p:nvPr/>
        </p:nvSpPr>
        <p:spPr>
          <a:xfrm>
            <a:off x="548640" y="1508760"/>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2" name="Text 8"/>
          <p:cNvSpPr txBox="1"/>
          <p:nvPr/>
        </p:nvSpPr>
        <p:spPr>
          <a:xfrm>
            <a:off x="1325880" y="1508760"/>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Take the first snapshot</a:t>
            </a:r>
            <a:endParaRPr lang="en-US" sz="1750" dirty="0"/>
          </a:p>
        </p:txBody>
      </p:sp>
      <p:sp>
        <p:nvSpPr>
          <p:cNvPr id="13" name="Shape 9"/>
          <p:cNvSpPr/>
          <p:nvPr/>
        </p:nvSpPr>
        <p:spPr>
          <a:xfrm>
            <a:off x="1325880" y="1947672"/>
            <a:ext cx="6080760" cy="731520"/>
          </a:xfrm>
          <a:prstGeom prst="roundRect">
            <a:avLst>
              <a:gd name="adj" fmla="val 7500"/>
            </a:avLst>
          </a:prstGeom>
          <a:solidFill>
            <a:srgbClr val="1B2029"/>
          </a:solidFill>
          <a:ln w="12700">
            <a:solidFill>
              <a:srgbClr val="1B2029"/>
            </a:solidFill>
            <a:prstDash val="solid"/>
          </a:ln>
        </p:spPr>
      </p:sp>
      <p:sp>
        <p:nvSpPr>
          <p:cNvPr id="14" name="Text 10"/>
          <p:cNvSpPr txBox="1"/>
          <p:nvPr/>
        </p:nvSpPr>
        <p:spPr>
          <a:xfrm>
            <a:off x="1508760" y="1947672"/>
            <a:ext cx="5760720" cy="731520"/>
          </a:xfrm>
          <a:prstGeom prst="rect">
            <a:avLst/>
          </a:prstGeom>
          <a:noFill/>
          <a:ln/>
        </p:spPr>
        <p:txBody>
          <a:bodyPr wrap="none" lIns="0" tIns="0" rIns="0" bIns="0" rtlCol="0" anchor="ctr"/>
          <a:lstStyle/>
          <a:p>
            <a:pPr indent="0" marL="0">
              <a:buNone/>
            </a:pPr>
            <a:r>
              <a:rPr lang="en-US" sz="1400" dirty="0">
                <a:solidFill>
                  <a:srgbClr val="E6EDF3"/>
                </a:solidFill>
                <a:latin typeface="Consolas" pitchFamily="34" charset="0"/>
                <a:ea typeface="Consolas" pitchFamily="34" charset="-122"/>
                <a:cs typeface="Consolas" pitchFamily="34" charset="-120"/>
              </a:rPr>
              <a:t>git add .</a:t>
            </a:r>
            <a:endParaRPr lang="en-US" sz="1400" dirty="0"/>
          </a:p>
          <a:p>
            <a:pPr indent="0" marL="0">
              <a:buNone/>
            </a:pPr>
            <a:r>
              <a:rPr lang="en-US" sz="1400" dirty="0">
                <a:solidFill>
                  <a:srgbClr val="E6EDF3"/>
                </a:solidFill>
                <a:latin typeface="Consolas" pitchFamily="34" charset="0"/>
                <a:ea typeface="Consolas" pitchFamily="34" charset="-122"/>
                <a:cs typeface="Consolas" pitchFamily="34" charset="-120"/>
              </a:rPr>
              <a:t>git commit -m "Add Hello program for week 1"</a:t>
            </a:r>
            <a:endParaRPr lang="en-US" sz="1400" dirty="0"/>
          </a:p>
        </p:txBody>
      </p:sp>
      <p:sp>
        <p:nvSpPr>
          <p:cNvPr id="15" name="Shape 11"/>
          <p:cNvSpPr/>
          <p:nvPr/>
        </p:nvSpPr>
        <p:spPr>
          <a:xfrm>
            <a:off x="548640" y="3090672"/>
            <a:ext cx="566928" cy="365760"/>
          </a:xfrm>
          <a:prstGeom prst="roundRect">
            <a:avLst>
              <a:gd name="adj" fmla="val 20000"/>
            </a:avLst>
          </a:prstGeom>
          <a:solidFill>
            <a:srgbClr val="262B33"/>
          </a:solidFill>
          <a:ln w="12700">
            <a:solidFill>
              <a:srgbClr val="262B33"/>
            </a:solidFill>
            <a:prstDash val="solid"/>
          </a:ln>
        </p:spPr>
      </p:sp>
      <p:sp>
        <p:nvSpPr>
          <p:cNvPr id="16" name="Text 12"/>
          <p:cNvSpPr txBox="1"/>
          <p:nvPr/>
        </p:nvSpPr>
        <p:spPr>
          <a:xfrm>
            <a:off x="548640" y="3090672"/>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7" name="Text 13"/>
          <p:cNvSpPr txBox="1"/>
          <p:nvPr/>
        </p:nvSpPr>
        <p:spPr>
          <a:xfrm>
            <a:off x="1325880" y="3090672"/>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Send it to GitHub</a:t>
            </a:r>
            <a:endParaRPr lang="en-US" sz="1750" dirty="0"/>
          </a:p>
        </p:txBody>
      </p:sp>
      <p:sp>
        <p:nvSpPr>
          <p:cNvPr id="18" name="Text 14"/>
          <p:cNvSpPr txBox="1"/>
          <p:nvPr/>
        </p:nvSpPr>
        <p:spPr>
          <a:xfrm>
            <a:off x="1325880" y="3474720"/>
            <a:ext cx="6080760" cy="27279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The first push opens a browser window for the GitHub login.</a:t>
            </a:r>
            <a:endParaRPr lang="en-US" sz="1550" dirty="0"/>
          </a:p>
        </p:txBody>
      </p:sp>
      <p:sp>
        <p:nvSpPr>
          <p:cNvPr id="19" name="Shape 15"/>
          <p:cNvSpPr/>
          <p:nvPr/>
        </p:nvSpPr>
        <p:spPr>
          <a:xfrm>
            <a:off x="1325880" y="3765804"/>
            <a:ext cx="6080760" cy="731520"/>
          </a:xfrm>
          <a:prstGeom prst="roundRect">
            <a:avLst>
              <a:gd name="adj" fmla="val 7500"/>
            </a:avLst>
          </a:prstGeom>
          <a:solidFill>
            <a:srgbClr val="1B2029"/>
          </a:solidFill>
          <a:ln w="12700">
            <a:solidFill>
              <a:srgbClr val="1B2029"/>
            </a:solidFill>
            <a:prstDash val="solid"/>
          </a:ln>
        </p:spPr>
      </p:sp>
      <p:sp>
        <p:nvSpPr>
          <p:cNvPr id="20" name="Text 16"/>
          <p:cNvSpPr txBox="1"/>
          <p:nvPr/>
        </p:nvSpPr>
        <p:spPr>
          <a:xfrm>
            <a:off x="1508760" y="3765804"/>
            <a:ext cx="5760720" cy="731520"/>
          </a:xfrm>
          <a:prstGeom prst="rect">
            <a:avLst/>
          </a:prstGeom>
          <a:noFill/>
          <a:ln/>
        </p:spPr>
        <p:txBody>
          <a:bodyPr wrap="none" lIns="0" tIns="0" rIns="0" bIns="0" rtlCol="0" anchor="ctr"/>
          <a:lstStyle/>
          <a:p>
            <a:pPr indent="0" marL="0">
              <a:buNone/>
            </a:pPr>
            <a:r>
              <a:rPr lang="en-US" sz="1400" dirty="0">
                <a:solidFill>
                  <a:srgbClr val="E6EDF3"/>
                </a:solidFill>
                <a:latin typeface="Consolas" pitchFamily="34" charset="0"/>
                <a:ea typeface="Consolas" pitchFamily="34" charset="-122"/>
                <a:cs typeface="Consolas" pitchFamily="34" charset="-120"/>
              </a:rPr>
              <a:t>git branch -M main</a:t>
            </a:r>
            <a:endParaRPr lang="en-US" sz="1400" dirty="0"/>
          </a:p>
          <a:p>
            <a:pPr indent="0" marL="0">
              <a:buNone/>
            </a:pPr>
            <a:r>
              <a:rPr lang="en-US" sz="1400" dirty="0">
                <a:solidFill>
                  <a:srgbClr val="E6EDF3"/>
                </a:solidFill>
                <a:latin typeface="Consolas" pitchFamily="34" charset="0"/>
                <a:ea typeface="Consolas" pitchFamily="34" charset="-122"/>
                <a:cs typeface="Consolas" pitchFamily="34" charset="-120"/>
              </a:rPr>
              <a:t>git push -u origin main</a:t>
            </a:r>
            <a:endParaRPr lang="en-US" sz="1400" dirty="0"/>
          </a:p>
        </p:txBody>
      </p:sp>
      <p:sp>
        <p:nvSpPr>
          <p:cNvPr id="21" name="Shape 17"/>
          <p:cNvSpPr/>
          <p:nvPr/>
        </p:nvSpPr>
        <p:spPr>
          <a:xfrm>
            <a:off x="548640" y="4908804"/>
            <a:ext cx="566928" cy="365760"/>
          </a:xfrm>
          <a:prstGeom prst="roundRect">
            <a:avLst>
              <a:gd name="adj" fmla="val 20000"/>
            </a:avLst>
          </a:prstGeom>
          <a:solidFill>
            <a:srgbClr val="262B33"/>
          </a:solidFill>
          <a:ln w="12700">
            <a:solidFill>
              <a:srgbClr val="262B33"/>
            </a:solidFill>
            <a:prstDash val="solid"/>
          </a:ln>
        </p:spPr>
      </p:sp>
      <p:sp>
        <p:nvSpPr>
          <p:cNvPr id="22" name="Text 18"/>
          <p:cNvSpPr txBox="1"/>
          <p:nvPr/>
        </p:nvSpPr>
        <p:spPr>
          <a:xfrm>
            <a:off x="548640" y="4908804"/>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3" name="Text 19"/>
          <p:cNvSpPr txBox="1"/>
          <p:nvPr/>
        </p:nvSpPr>
        <p:spPr>
          <a:xfrm>
            <a:off x="1325880" y="4908804"/>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From now on, the short form is enough</a:t>
            </a:r>
            <a:endParaRPr lang="en-US" sz="1750" dirty="0"/>
          </a:p>
        </p:txBody>
      </p:sp>
      <p:sp>
        <p:nvSpPr>
          <p:cNvPr id="24" name="Shape 20"/>
          <p:cNvSpPr/>
          <p:nvPr/>
        </p:nvSpPr>
        <p:spPr>
          <a:xfrm>
            <a:off x="1325880" y="5347716"/>
            <a:ext cx="6080760" cy="457200"/>
          </a:xfrm>
          <a:prstGeom prst="roundRect">
            <a:avLst>
              <a:gd name="adj" fmla="val 12000"/>
            </a:avLst>
          </a:prstGeom>
          <a:solidFill>
            <a:srgbClr val="1B2029"/>
          </a:solidFill>
          <a:ln w="12700">
            <a:solidFill>
              <a:srgbClr val="1B2029"/>
            </a:solidFill>
            <a:prstDash val="solid"/>
          </a:ln>
        </p:spPr>
      </p:sp>
      <p:sp>
        <p:nvSpPr>
          <p:cNvPr id="25" name="Text 21"/>
          <p:cNvSpPr txBox="1"/>
          <p:nvPr/>
        </p:nvSpPr>
        <p:spPr>
          <a:xfrm>
            <a:off x="1508760" y="5347716"/>
            <a:ext cx="5760720" cy="457200"/>
          </a:xfrm>
          <a:prstGeom prst="rect">
            <a:avLst/>
          </a:prstGeom>
          <a:noFill/>
          <a:ln/>
        </p:spPr>
        <p:txBody>
          <a:bodyPr wrap="none" lIns="0" tIns="0" rIns="0" bIns="0" rtlCol="0" anchor="ctr"/>
          <a:lstStyle/>
          <a:p>
            <a:pPr indent="0" marL="0">
              <a:buNone/>
            </a:pPr>
            <a:r>
              <a:rPr lang="en-US" sz="1400" dirty="0">
                <a:solidFill>
                  <a:srgbClr val="E6EDF3"/>
                </a:solidFill>
                <a:latin typeface="Consolas" pitchFamily="34" charset="0"/>
                <a:ea typeface="Consolas" pitchFamily="34" charset="-122"/>
                <a:cs typeface="Consolas" pitchFamily="34" charset="-120"/>
              </a:rPr>
              <a:t>git push</a:t>
            </a:r>
            <a:endParaRPr lang="en-US" sz="1400" dirty="0"/>
          </a:p>
        </p:txBody>
      </p:sp>
      <p:sp>
        <p:nvSpPr>
          <p:cNvPr id="26" name="Shape 22"/>
          <p:cNvSpPr/>
          <p:nvPr/>
        </p:nvSpPr>
        <p:spPr>
          <a:xfrm>
            <a:off x="7863840" y="1490472"/>
            <a:ext cx="3779215" cy="3291840"/>
          </a:xfrm>
          <a:prstGeom prst="roundRect">
            <a:avLst>
              <a:gd name="adj" fmla="val 3333"/>
            </a:avLst>
          </a:prstGeom>
          <a:solidFill>
            <a:srgbClr val="FBECED"/>
          </a:solidFill>
          <a:ln w="12700">
            <a:solidFill>
              <a:srgbClr val="FBECED"/>
            </a:solidFill>
            <a:prstDash val="solid"/>
          </a:ln>
        </p:spPr>
      </p:sp>
      <p:sp>
        <p:nvSpPr>
          <p:cNvPr id="27" name="Shape 23"/>
          <p:cNvSpPr/>
          <p:nvPr/>
        </p:nvSpPr>
        <p:spPr>
          <a:xfrm>
            <a:off x="8138160" y="1764792"/>
            <a:ext cx="502920" cy="502920"/>
          </a:xfrm>
          <a:prstGeom prst="ellipse">
            <a:avLst/>
          </a:prstGeom>
          <a:solidFill>
            <a:srgbClr val="C6333B"/>
          </a:solidFill>
          <a:ln w="12700">
            <a:solidFill>
              <a:srgbClr val="C6333B"/>
            </a:solidFill>
            <a:prstDash val="solid"/>
          </a:ln>
        </p:spPr>
      </p:sp>
      <p:sp>
        <p:nvSpPr>
          <p:cNvPr id="28" name="Text 24"/>
          <p:cNvSpPr txBox="1"/>
          <p:nvPr/>
        </p:nvSpPr>
        <p:spPr>
          <a:xfrm>
            <a:off x="8778240" y="1764792"/>
            <a:ext cx="2590495" cy="502920"/>
          </a:xfrm>
          <a:prstGeom prst="rect">
            <a:avLst/>
          </a:prstGeom>
          <a:noFill/>
          <a:ln/>
        </p:spPr>
        <p:txBody>
          <a:bodyPr wrap="square" lIns="0" tIns="0" rIns="0" bIns="0" rtlCol="0" anchor="ctr"/>
          <a:lstStyle/>
          <a:p>
            <a:pPr indent="0" marL="0">
              <a:buNone/>
            </a:pPr>
            <a:r>
              <a:rPr lang="en-US" sz="1700" b="1" dirty="0">
                <a:solidFill>
                  <a:srgbClr val="9C2630"/>
                </a:solidFill>
                <a:latin typeface="Calibri" pitchFamily="34" charset="0"/>
                <a:ea typeface="Calibri" pitchFamily="34" charset="-122"/>
                <a:cs typeface="Calibri" pitchFamily="34" charset="-120"/>
              </a:rPr>
              <a:t>Same thing in the IDE</a:t>
            </a:r>
            <a:endParaRPr lang="en-US" sz="1700" dirty="0"/>
          </a:p>
        </p:txBody>
      </p:sp>
      <p:sp>
        <p:nvSpPr>
          <p:cNvPr id="29" name="Text 25"/>
          <p:cNvSpPr txBox="1"/>
          <p:nvPr/>
        </p:nvSpPr>
        <p:spPr>
          <a:xfrm>
            <a:off x="8138160" y="2450592"/>
            <a:ext cx="3230575" cy="2057400"/>
          </a:xfrm>
          <a:prstGeom prst="rect">
            <a:avLst/>
          </a:prstGeom>
          <a:noFill/>
          <a:ln/>
        </p:spPr>
        <p:txBody>
          <a:bodyPr wrap="square" lIns="0" tIns="0" rIns="0" bIns="0" rtlCol="0" anchor="t"/>
          <a:lstStyle/>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Commit tool window: select the files, write the message, press Commit and Push.</a:t>
            </a:r>
            <a:endParaRPr lang="en-US" sz="1800" dirty="0"/>
          </a:p>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Use whichever you like. In the exam you must be able to do it without help.</a:t>
            </a:r>
            <a:endParaRPr lang="en-US" sz="1800" dirty="0"/>
          </a:p>
        </p:txBody>
      </p:sp>
      <p:pic>
        <p:nvPicPr>
          <p:cNvPr id="30" name="Image 1" descr="preencoded.png">    </p:cNvPr>
          <p:cNvPicPr>
            <a:picLocks noChangeAspect="1"/>
          </p:cNvPicPr>
          <p:nvPr/>
        </p:nvPicPr>
        <p:blipFill>
          <a:blip r:embed="rId2"/>
          <a:stretch>
            <a:fillRect/>
          </a:stretch>
        </p:blipFill>
        <p:spPr>
          <a:xfrm>
            <a:off x="8258861" y="1885493"/>
            <a:ext cx="261518" cy="26151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 2</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Check your push before you continue</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1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12</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8" name="Shape 4"/>
          <p:cNvSpPr/>
          <p:nvPr/>
        </p:nvSpPr>
        <p:spPr>
          <a:xfrm>
            <a:off x="548640" y="1600200"/>
            <a:ext cx="11094415" cy="740664"/>
          </a:xfrm>
          <a:prstGeom prst="roundRect">
            <a:avLst>
              <a:gd name="adj" fmla="val 14815"/>
            </a:avLst>
          </a:prstGeom>
          <a:solidFill>
            <a:srgbClr val="F3F4F6"/>
          </a:solidFill>
          <a:ln w="12700">
            <a:solidFill>
              <a:srgbClr val="F3F4F6"/>
            </a:solidFill>
            <a:prstDash val="solid"/>
          </a:ln>
        </p:spPr>
      </p:sp>
      <p:sp>
        <p:nvSpPr>
          <p:cNvPr id="9" name="Shape 5"/>
          <p:cNvSpPr/>
          <p:nvPr/>
        </p:nvSpPr>
        <p:spPr>
          <a:xfrm>
            <a:off x="777240" y="1815084"/>
            <a:ext cx="310896" cy="310896"/>
          </a:xfrm>
          <a:prstGeom prst="roundRect">
            <a:avLst>
              <a:gd name="adj" fmla="val 14706"/>
            </a:avLst>
          </a:prstGeom>
          <a:solidFill>
            <a:srgbClr val="FFFFFF"/>
          </a:solidFill>
          <a:ln w="19050">
            <a:solidFill>
              <a:srgbClr val="5B6470"/>
            </a:solidFill>
            <a:prstDash val="solid"/>
          </a:ln>
        </p:spPr>
      </p:sp>
      <p:sp>
        <p:nvSpPr>
          <p:cNvPr id="10" name="Text 6"/>
          <p:cNvSpPr txBox="1"/>
          <p:nvPr/>
        </p:nvSpPr>
        <p:spPr>
          <a:xfrm>
            <a:off x="1325880" y="1600200"/>
            <a:ext cx="10134295"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Open your repository on github.com</a:t>
            </a:r>
            <a:endParaRPr lang="en-US" sz="1600" dirty="0"/>
          </a:p>
        </p:txBody>
      </p:sp>
      <p:sp>
        <p:nvSpPr>
          <p:cNvPr id="11" name="Shape 7"/>
          <p:cNvSpPr/>
          <p:nvPr/>
        </p:nvSpPr>
        <p:spPr>
          <a:xfrm>
            <a:off x="548640" y="2468880"/>
            <a:ext cx="11094415" cy="740664"/>
          </a:xfrm>
          <a:prstGeom prst="roundRect">
            <a:avLst>
              <a:gd name="adj" fmla="val 14815"/>
            </a:avLst>
          </a:prstGeom>
          <a:solidFill>
            <a:srgbClr val="F3F4F6"/>
          </a:solidFill>
          <a:ln w="12700">
            <a:solidFill>
              <a:srgbClr val="F3F4F6"/>
            </a:solidFill>
            <a:prstDash val="solid"/>
          </a:ln>
        </p:spPr>
      </p:sp>
      <p:sp>
        <p:nvSpPr>
          <p:cNvPr id="12" name="Shape 8"/>
          <p:cNvSpPr/>
          <p:nvPr/>
        </p:nvSpPr>
        <p:spPr>
          <a:xfrm>
            <a:off x="777240" y="2683764"/>
            <a:ext cx="310896" cy="310896"/>
          </a:xfrm>
          <a:prstGeom prst="roundRect">
            <a:avLst>
              <a:gd name="adj" fmla="val 14706"/>
            </a:avLst>
          </a:prstGeom>
          <a:solidFill>
            <a:srgbClr val="FFFFFF"/>
          </a:solidFill>
          <a:ln w="19050">
            <a:solidFill>
              <a:srgbClr val="5B6470"/>
            </a:solidFill>
            <a:prstDash val="solid"/>
          </a:ln>
        </p:spPr>
      </p:sp>
      <p:sp>
        <p:nvSpPr>
          <p:cNvPr id="13" name="Text 9"/>
          <p:cNvSpPr txBox="1"/>
          <p:nvPr/>
        </p:nvSpPr>
        <p:spPr>
          <a:xfrm>
            <a:off x="1325880" y="2468880"/>
            <a:ext cx="10134295"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You see the folder week01 with Hello.java</a:t>
            </a:r>
            <a:endParaRPr lang="en-US" sz="1600" dirty="0"/>
          </a:p>
        </p:txBody>
      </p:sp>
      <p:sp>
        <p:nvSpPr>
          <p:cNvPr id="14" name="Shape 10"/>
          <p:cNvSpPr/>
          <p:nvPr/>
        </p:nvSpPr>
        <p:spPr>
          <a:xfrm>
            <a:off x="548640" y="3337560"/>
            <a:ext cx="11094415" cy="740664"/>
          </a:xfrm>
          <a:prstGeom prst="roundRect">
            <a:avLst>
              <a:gd name="adj" fmla="val 14815"/>
            </a:avLst>
          </a:prstGeom>
          <a:solidFill>
            <a:srgbClr val="F3F4F6"/>
          </a:solidFill>
          <a:ln w="12700">
            <a:solidFill>
              <a:srgbClr val="F3F4F6"/>
            </a:solidFill>
            <a:prstDash val="solid"/>
          </a:ln>
        </p:spPr>
      </p:sp>
      <p:sp>
        <p:nvSpPr>
          <p:cNvPr id="15" name="Shape 11"/>
          <p:cNvSpPr/>
          <p:nvPr/>
        </p:nvSpPr>
        <p:spPr>
          <a:xfrm>
            <a:off x="777240" y="3552444"/>
            <a:ext cx="310896" cy="310896"/>
          </a:xfrm>
          <a:prstGeom prst="roundRect">
            <a:avLst>
              <a:gd name="adj" fmla="val 14706"/>
            </a:avLst>
          </a:prstGeom>
          <a:solidFill>
            <a:srgbClr val="FFFFFF"/>
          </a:solidFill>
          <a:ln w="19050">
            <a:solidFill>
              <a:srgbClr val="5B6470"/>
            </a:solidFill>
            <a:prstDash val="solid"/>
          </a:ln>
        </p:spPr>
      </p:sp>
      <p:sp>
        <p:nvSpPr>
          <p:cNvPr id="16" name="Text 12"/>
          <p:cNvSpPr txBox="1"/>
          <p:nvPr/>
        </p:nvSpPr>
        <p:spPr>
          <a:xfrm>
            <a:off x="1325880" y="3337560"/>
            <a:ext cx="10134295"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You see your commit message next to it</a:t>
            </a:r>
            <a:endParaRPr lang="en-US" sz="1600" dirty="0"/>
          </a:p>
        </p:txBody>
      </p:sp>
      <p:sp>
        <p:nvSpPr>
          <p:cNvPr id="17" name="Shape 13"/>
          <p:cNvSpPr/>
          <p:nvPr/>
        </p:nvSpPr>
        <p:spPr>
          <a:xfrm>
            <a:off x="548640" y="4206240"/>
            <a:ext cx="11094415" cy="740664"/>
          </a:xfrm>
          <a:prstGeom prst="roundRect">
            <a:avLst>
              <a:gd name="adj" fmla="val 14815"/>
            </a:avLst>
          </a:prstGeom>
          <a:solidFill>
            <a:srgbClr val="F3F4F6"/>
          </a:solidFill>
          <a:ln w="12700">
            <a:solidFill>
              <a:srgbClr val="F3F4F6"/>
            </a:solidFill>
            <a:prstDash val="solid"/>
          </a:ln>
        </p:spPr>
      </p:sp>
      <p:sp>
        <p:nvSpPr>
          <p:cNvPr id="18" name="Shape 14"/>
          <p:cNvSpPr/>
          <p:nvPr/>
        </p:nvSpPr>
        <p:spPr>
          <a:xfrm>
            <a:off x="777240" y="4421124"/>
            <a:ext cx="310896" cy="310896"/>
          </a:xfrm>
          <a:prstGeom prst="roundRect">
            <a:avLst>
              <a:gd name="adj" fmla="val 14706"/>
            </a:avLst>
          </a:prstGeom>
          <a:solidFill>
            <a:srgbClr val="FFFFFF"/>
          </a:solidFill>
          <a:ln w="19050">
            <a:solidFill>
              <a:srgbClr val="5B6470"/>
            </a:solidFill>
            <a:prstDash val="solid"/>
          </a:ln>
        </p:spPr>
      </p:sp>
      <p:sp>
        <p:nvSpPr>
          <p:cNvPr id="19" name="Text 15"/>
          <p:cNvSpPr txBox="1"/>
          <p:nvPr/>
        </p:nvSpPr>
        <p:spPr>
          <a:xfrm>
            <a:off x="1325880" y="4206240"/>
            <a:ext cx="10134295"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Ivana and Dejan are listed as collaborators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 3  ·  CORE</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Temperature converter</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1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13</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8" name="Shape 4"/>
          <p:cNvSpPr/>
          <p:nvPr/>
        </p:nvSpPr>
        <p:spPr>
          <a:xfrm>
            <a:off x="10180015" y="411480"/>
            <a:ext cx="1463040" cy="329184"/>
          </a:xfrm>
          <a:prstGeom prst="roundRect">
            <a:avLst>
              <a:gd name="adj" fmla="val 50000"/>
            </a:avLst>
          </a:prstGeom>
          <a:solidFill>
            <a:srgbClr val="C6333B"/>
          </a:solidFill>
          <a:ln w="12700">
            <a:solidFill>
              <a:srgbClr val="C6333B"/>
            </a:solidFill>
            <a:prstDash val="solid"/>
          </a:ln>
        </p:spPr>
      </p:sp>
      <p:sp>
        <p:nvSpPr>
          <p:cNvPr id="9" name="Text 5"/>
          <p:cNvSpPr txBox="1"/>
          <p:nvPr/>
        </p:nvSpPr>
        <p:spPr>
          <a:xfrm>
            <a:off x="10180015" y="411480"/>
            <a:ext cx="146304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12 min</a:t>
            </a:r>
            <a:endParaRPr lang="en-US" sz="1250" dirty="0"/>
          </a:p>
        </p:txBody>
      </p:sp>
      <p:sp>
        <p:nvSpPr>
          <p:cNvPr id="10" name="Shape 6"/>
          <p:cNvSpPr/>
          <p:nvPr/>
        </p:nvSpPr>
        <p:spPr>
          <a:xfrm>
            <a:off x="548640" y="1508760"/>
            <a:ext cx="5760720" cy="1066800"/>
          </a:xfrm>
          <a:prstGeom prst="roundRect">
            <a:avLst>
              <a:gd name="adj" fmla="val 10286"/>
            </a:avLst>
          </a:prstGeom>
          <a:solidFill>
            <a:srgbClr val="FBECED"/>
          </a:solidFill>
          <a:ln w="12700">
            <a:solidFill>
              <a:srgbClr val="FBECED"/>
            </a:solidFill>
            <a:prstDash val="solid"/>
          </a:ln>
        </p:spPr>
      </p:sp>
      <p:sp>
        <p:nvSpPr>
          <p:cNvPr id="11" name="Text 7"/>
          <p:cNvSpPr txBox="1"/>
          <p:nvPr/>
        </p:nvSpPr>
        <p:spPr>
          <a:xfrm>
            <a:off x="822960" y="1600200"/>
            <a:ext cx="5212080" cy="883920"/>
          </a:xfrm>
          <a:prstGeom prst="rect">
            <a:avLst/>
          </a:prstGeom>
          <a:noFill/>
          <a:ln/>
        </p:spPr>
        <p:txBody>
          <a:bodyPr wrap="square" lIns="0" tIns="0" rIns="0" bIns="0" rtlCol="0" anchor="t"/>
          <a:lstStyle/>
          <a:p>
            <a:pPr indent="0" marL="0">
              <a:buNone/>
            </a:pPr>
            <a:r>
              <a:rPr lang="en-US" sz="1200" b="1" spc="200" kern="0" dirty="0">
                <a:solidFill>
                  <a:srgbClr val="C6333B"/>
                </a:solidFill>
                <a:latin typeface="Calibri" pitchFamily="34" charset="0"/>
                <a:ea typeface="Calibri" pitchFamily="34" charset="-122"/>
                <a:cs typeface="Calibri" pitchFamily="34" charset="-120"/>
              </a:rPr>
              <a:t>GOAL  </a:t>
            </a:r>
            <a:endParaRPr lang="en-US" sz="1200" dirty="0"/>
          </a:p>
          <a:p>
            <a:pPr indent="0" marL="0">
              <a:buNone/>
            </a:pPr>
            <a:r>
              <a:rPr lang="en-US" sz="1700" dirty="0">
                <a:solidFill>
                  <a:srgbClr val="1F2328"/>
                </a:solidFill>
                <a:latin typeface="Calibri" pitchFamily="34" charset="0"/>
                <a:ea typeface="Calibri" pitchFamily="34" charset="-122"/>
                <a:cs typeface="Calibri" pitchFamily="34" charset="-120"/>
              </a:rPr>
              <a:t>Read a temperature in Celsius from the keyboard and print it in Fahrenheit.</a:t>
            </a:r>
            <a:endParaRPr lang="en-US" sz="1200" dirty="0"/>
          </a:p>
        </p:txBody>
      </p:sp>
      <p:sp>
        <p:nvSpPr>
          <p:cNvPr id="12" name="Text 8"/>
          <p:cNvSpPr txBox="1"/>
          <p:nvPr/>
        </p:nvSpPr>
        <p:spPr>
          <a:xfrm>
            <a:off x="548640" y="2758440"/>
            <a:ext cx="5760720" cy="274320"/>
          </a:xfrm>
          <a:prstGeom prst="rect">
            <a:avLst/>
          </a:prstGeom>
          <a:noFill/>
          <a:ln/>
        </p:spPr>
        <p:txBody>
          <a:bodyPr wrap="square" lIns="0" tIns="0" rIns="0" bIns="0" rtlCol="0" anchor="ctr"/>
          <a:lstStyle/>
          <a:p>
            <a:pPr indent="0" marL="0">
              <a:buNone/>
            </a:pPr>
            <a:r>
              <a:rPr lang="en-US" sz="1200" b="1" spc="200" kern="0" dirty="0">
                <a:solidFill>
                  <a:srgbClr val="5B6470"/>
                </a:solidFill>
                <a:latin typeface="Calibri" pitchFamily="34" charset="0"/>
                <a:ea typeface="Calibri" pitchFamily="34" charset="-122"/>
                <a:cs typeface="Calibri" pitchFamily="34" charset="-120"/>
              </a:rPr>
              <a:t>WHAT TO DO</a:t>
            </a:r>
            <a:endParaRPr lang="en-US" sz="1200" dirty="0"/>
          </a:p>
        </p:txBody>
      </p:sp>
      <p:sp>
        <p:nvSpPr>
          <p:cNvPr id="13" name="Text 9"/>
          <p:cNvSpPr txBox="1"/>
          <p:nvPr/>
        </p:nvSpPr>
        <p:spPr>
          <a:xfrm>
            <a:off x="548640" y="3078480"/>
            <a:ext cx="5760720" cy="304800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700" dirty="0">
                <a:solidFill>
                  <a:srgbClr val="1F2328"/>
                </a:solidFill>
                <a:latin typeface="Calibri" pitchFamily="34" charset="0"/>
                <a:ea typeface="Calibri" pitchFamily="34" charset="-122"/>
                <a:cs typeface="Calibri" pitchFamily="34" charset="-120"/>
              </a:rPr>
              <a:t>Copy TemperatureConverter.java from the starter folder into week01.</a:t>
            </a:r>
            <a:endParaRPr lang="en-US" sz="1700" dirty="0"/>
          </a:p>
          <a:p>
            <a:pPr marL="342900" indent="-342900">
              <a:spcAft>
                <a:spcPts val="600"/>
              </a:spcAft>
              <a:buSzPct val="100000"/>
              <a:buFont typeface="+mj-lt"/>
              <a:buAutoNum type="arabicPeriod" startAt="1"/>
            </a:pPr>
            <a:r>
              <a:rPr lang="en-US" sz="1700" dirty="0">
                <a:solidFill>
                  <a:srgbClr val="1F2328"/>
                </a:solidFill>
                <a:latin typeface="Calibri" pitchFamily="34" charset="0"/>
                <a:ea typeface="Calibri" pitchFamily="34" charset="-122"/>
                <a:cs typeface="Calibri" pitchFamily="34" charset="-120"/>
              </a:rPr>
              <a:t>Read one line with IO.readln and turn it into a double with Double.parseDouble.</a:t>
            </a:r>
            <a:endParaRPr lang="en-US" sz="1700" dirty="0"/>
          </a:p>
          <a:p>
            <a:pPr marL="342900" indent="-342900">
              <a:spcAft>
                <a:spcPts val="600"/>
              </a:spcAft>
              <a:buSzPct val="100000"/>
              <a:buFont typeface="+mj-lt"/>
              <a:buAutoNum type="arabicPeriod" startAt="1"/>
            </a:pPr>
            <a:r>
              <a:rPr lang="en-US" sz="1700" dirty="0">
                <a:solidFill>
                  <a:srgbClr val="1F2328"/>
                </a:solidFill>
                <a:latin typeface="Calibri" pitchFamily="34" charset="0"/>
                <a:ea typeface="Calibri" pitchFamily="34" charset="-122"/>
                <a:cs typeface="Calibri" pitchFamily="34" charset="-120"/>
              </a:rPr>
              <a:t>Calculate: fahrenheit = celsius * 9 / 5 + 32</a:t>
            </a:r>
            <a:endParaRPr lang="en-US" sz="1700" dirty="0"/>
          </a:p>
          <a:p>
            <a:pPr marL="342900" indent="-342900">
              <a:spcAft>
                <a:spcPts val="600"/>
              </a:spcAft>
              <a:buSzPct val="100000"/>
              <a:buFont typeface="+mj-lt"/>
              <a:buAutoNum type="arabicPeriod" startAt="1"/>
            </a:pPr>
            <a:r>
              <a:rPr lang="en-US" sz="1700" dirty="0">
                <a:solidFill>
                  <a:srgbClr val="1F2328"/>
                </a:solidFill>
                <a:latin typeface="Calibri" pitchFamily="34" charset="0"/>
                <a:ea typeface="Calibri" pitchFamily="34" charset="-122"/>
                <a:cs typeface="Calibri" pitchFamily="34" charset="-120"/>
              </a:rPr>
              <a:t>Print the result in the format of the example.</a:t>
            </a:r>
            <a:endParaRPr lang="en-US" sz="1700" dirty="0"/>
          </a:p>
          <a:p>
            <a:pPr marL="342900" indent="-342900">
              <a:spcAft>
                <a:spcPts val="600"/>
              </a:spcAft>
              <a:buSzPct val="100000"/>
              <a:buFont typeface="+mj-lt"/>
              <a:buAutoNum type="arabicPeriod" startAt="1"/>
            </a:pPr>
            <a:r>
              <a:rPr lang="en-US" sz="1700" dirty="0">
                <a:solidFill>
                  <a:srgbClr val="1F2328"/>
                </a:solidFill>
                <a:latin typeface="Calibri" pitchFamily="34" charset="0"/>
                <a:ea typeface="Calibri" pitchFamily="34" charset="-122"/>
                <a:cs typeface="Calibri" pitchFamily="34" charset="-120"/>
              </a:rPr>
              <a:t>Now try 36.6. Look closely at the result. Where did you see this today?</a:t>
            </a:r>
            <a:endParaRPr lang="en-US" sz="1700" dirty="0"/>
          </a:p>
          <a:p>
            <a:pPr marL="342900" indent="-342900">
              <a:spcAft>
                <a:spcPts val="600"/>
              </a:spcAft>
              <a:buSzPct val="100000"/>
              <a:buFont typeface="+mj-lt"/>
              <a:buAutoNum type="arabicPeriod" startAt="1"/>
            </a:pPr>
            <a:r>
              <a:rPr lang="en-US" sz="1700" dirty="0">
                <a:solidFill>
                  <a:srgbClr val="1F2328"/>
                </a:solidFill>
                <a:latin typeface="Calibri" pitchFamily="34" charset="0"/>
                <a:ea typeface="Calibri" pitchFamily="34" charset="-122"/>
                <a:cs typeface="Calibri" pitchFamily="34" charset="-120"/>
              </a:rPr>
              <a:t>Commit with a message that says what you did.</a:t>
            </a:r>
            <a:endParaRPr lang="en-US" sz="1700" dirty="0"/>
          </a:p>
        </p:txBody>
      </p:sp>
      <p:sp>
        <p:nvSpPr>
          <p:cNvPr id="14" name="Shape 10"/>
          <p:cNvSpPr/>
          <p:nvPr/>
        </p:nvSpPr>
        <p:spPr>
          <a:xfrm>
            <a:off x="6675120" y="1508760"/>
            <a:ext cx="4967935" cy="1197864"/>
          </a:xfrm>
          <a:prstGeom prst="roundRect">
            <a:avLst>
              <a:gd name="adj" fmla="val 7634"/>
            </a:avLst>
          </a:prstGeom>
          <a:solidFill>
            <a:srgbClr val="1B2029"/>
          </a:solidFill>
          <a:ln w="12700">
            <a:solidFill>
              <a:srgbClr val="1B2029"/>
            </a:solidFill>
            <a:prstDash val="solid"/>
          </a:ln>
        </p:spPr>
      </p:sp>
      <p:sp>
        <p:nvSpPr>
          <p:cNvPr id="15" name="Text 11"/>
          <p:cNvSpPr txBox="1"/>
          <p:nvPr/>
        </p:nvSpPr>
        <p:spPr>
          <a:xfrm>
            <a:off x="6931152" y="1618488"/>
            <a:ext cx="4455871" cy="256032"/>
          </a:xfrm>
          <a:prstGeom prst="rect">
            <a:avLst/>
          </a:prstGeom>
          <a:noFill/>
          <a:ln/>
        </p:spPr>
        <p:txBody>
          <a:bodyPr wrap="square" lIns="0" tIns="0" rIns="0" bIns="0" rtlCol="0" anchor="ctr"/>
          <a:lstStyle/>
          <a:p>
            <a:pPr indent="0" marL="0">
              <a:buNone/>
            </a:pPr>
            <a:r>
              <a:rPr lang="en-US" sz="1100" b="1" spc="100" kern="0" dirty="0">
                <a:solidFill>
                  <a:srgbClr val="8B97A6"/>
                </a:solidFill>
                <a:latin typeface="Calibri" pitchFamily="34" charset="0"/>
                <a:ea typeface="Calibri" pitchFamily="34" charset="-122"/>
                <a:cs typeface="Calibri" pitchFamily="34" charset="-120"/>
              </a:rPr>
              <a:t>EXPECTED CONSOLE SESSION</a:t>
            </a:r>
            <a:endParaRPr lang="en-US" sz="1100" dirty="0"/>
          </a:p>
        </p:txBody>
      </p:sp>
      <p:sp>
        <p:nvSpPr>
          <p:cNvPr id="16" name="Text 12"/>
          <p:cNvSpPr txBox="1"/>
          <p:nvPr/>
        </p:nvSpPr>
        <p:spPr>
          <a:xfrm>
            <a:off x="6931152" y="1965960"/>
            <a:ext cx="4455871" cy="557784"/>
          </a:xfrm>
          <a:prstGeom prst="rect">
            <a:avLst/>
          </a:prstGeom>
          <a:noFill/>
          <a:ln/>
        </p:spPr>
        <p:txBody>
          <a:bodyPr wrap="none" lIns="0" tIns="0" rIns="0" bIns="0" rtlCol="0" anchor="t"/>
          <a:lstStyle/>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Temperature in Celsius: 25</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25.0 C is 77.0 F</a:t>
            </a:r>
            <a:endParaRPr lang="en-US" sz="1600" dirty="0"/>
          </a:p>
        </p:txBody>
      </p:sp>
      <p:sp>
        <p:nvSpPr>
          <p:cNvPr id="17" name="Shape 13"/>
          <p:cNvSpPr/>
          <p:nvPr/>
        </p:nvSpPr>
        <p:spPr>
          <a:xfrm>
            <a:off x="6675120" y="2889504"/>
            <a:ext cx="4967935" cy="3236976"/>
          </a:xfrm>
          <a:prstGeom prst="roundRect">
            <a:avLst>
              <a:gd name="adj" fmla="val 3390"/>
            </a:avLst>
          </a:prstGeom>
          <a:solidFill>
            <a:srgbClr val="E7F5EC"/>
          </a:solidFill>
          <a:ln w="12700">
            <a:solidFill>
              <a:srgbClr val="E7F5EC"/>
            </a:solidFill>
            <a:prstDash val="solid"/>
          </a:ln>
        </p:spPr>
      </p:sp>
      <p:sp>
        <p:nvSpPr>
          <p:cNvPr id="18" name="Text 14"/>
          <p:cNvSpPr txBox="1"/>
          <p:nvPr/>
        </p:nvSpPr>
        <p:spPr>
          <a:xfrm>
            <a:off x="6949440" y="3026664"/>
            <a:ext cx="4419295" cy="274320"/>
          </a:xfrm>
          <a:prstGeom prst="rect">
            <a:avLst/>
          </a:prstGeom>
          <a:noFill/>
          <a:ln/>
        </p:spPr>
        <p:txBody>
          <a:bodyPr wrap="square" lIns="0" tIns="0" rIns="0" bIns="0" rtlCol="0" anchor="ctr"/>
          <a:lstStyle/>
          <a:p>
            <a:pPr indent="0" marL="0">
              <a:buNone/>
            </a:pPr>
            <a:r>
              <a:rPr lang="en-US" sz="1200" b="1" spc="200" kern="0" dirty="0">
                <a:solidFill>
                  <a:srgbClr val="1E7F4F"/>
                </a:solidFill>
                <a:latin typeface="Calibri" pitchFamily="34" charset="0"/>
                <a:ea typeface="Calibri" pitchFamily="34" charset="-122"/>
                <a:cs typeface="Calibri" pitchFamily="34" charset="-120"/>
              </a:rPr>
              <a:t>DONE WHEN</a:t>
            </a:r>
            <a:endParaRPr lang="en-US" sz="1200" dirty="0"/>
          </a:p>
        </p:txBody>
      </p:sp>
      <p:sp>
        <p:nvSpPr>
          <p:cNvPr id="19" name="Text 15"/>
          <p:cNvSpPr txBox="1"/>
          <p:nvPr/>
        </p:nvSpPr>
        <p:spPr>
          <a:xfrm>
            <a:off x="6949440" y="3364992"/>
            <a:ext cx="4419295" cy="2642616"/>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Input 25 prints 25.0 C is 77.0 F</a:t>
            </a:r>
            <a:endParaRPr lang="en-US" sz="1700" dirty="0"/>
          </a:p>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You can explain the long number that appears for 36.6</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 4  ·  CORE</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Time split</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1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14</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8" name="Shape 4"/>
          <p:cNvSpPr/>
          <p:nvPr/>
        </p:nvSpPr>
        <p:spPr>
          <a:xfrm>
            <a:off x="10180015" y="411480"/>
            <a:ext cx="1463040" cy="329184"/>
          </a:xfrm>
          <a:prstGeom prst="roundRect">
            <a:avLst>
              <a:gd name="adj" fmla="val 50000"/>
            </a:avLst>
          </a:prstGeom>
          <a:solidFill>
            <a:srgbClr val="C6333B"/>
          </a:solidFill>
          <a:ln w="12700">
            <a:solidFill>
              <a:srgbClr val="C6333B"/>
            </a:solidFill>
            <a:prstDash val="solid"/>
          </a:ln>
        </p:spPr>
      </p:sp>
      <p:sp>
        <p:nvSpPr>
          <p:cNvPr id="9" name="Text 5"/>
          <p:cNvSpPr txBox="1"/>
          <p:nvPr/>
        </p:nvSpPr>
        <p:spPr>
          <a:xfrm>
            <a:off x="10180015" y="411480"/>
            <a:ext cx="146304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10 min</a:t>
            </a:r>
            <a:endParaRPr lang="en-US" sz="1250" dirty="0"/>
          </a:p>
        </p:txBody>
      </p:sp>
      <p:sp>
        <p:nvSpPr>
          <p:cNvPr id="10" name="Shape 6"/>
          <p:cNvSpPr/>
          <p:nvPr/>
        </p:nvSpPr>
        <p:spPr>
          <a:xfrm>
            <a:off x="548640" y="1508760"/>
            <a:ext cx="5760720" cy="1066800"/>
          </a:xfrm>
          <a:prstGeom prst="roundRect">
            <a:avLst>
              <a:gd name="adj" fmla="val 10286"/>
            </a:avLst>
          </a:prstGeom>
          <a:solidFill>
            <a:srgbClr val="FBECED"/>
          </a:solidFill>
          <a:ln w="12700">
            <a:solidFill>
              <a:srgbClr val="FBECED"/>
            </a:solidFill>
            <a:prstDash val="solid"/>
          </a:ln>
        </p:spPr>
      </p:sp>
      <p:sp>
        <p:nvSpPr>
          <p:cNvPr id="11" name="Text 7"/>
          <p:cNvSpPr txBox="1"/>
          <p:nvPr/>
        </p:nvSpPr>
        <p:spPr>
          <a:xfrm>
            <a:off x="822960" y="1600200"/>
            <a:ext cx="5212080" cy="883920"/>
          </a:xfrm>
          <a:prstGeom prst="rect">
            <a:avLst/>
          </a:prstGeom>
          <a:noFill/>
          <a:ln/>
        </p:spPr>
        <p:txBody>
          <a:bodyPr wrap="square" lIns="0" tIns="0" rIns="0" bIns="0" rtlCol="0" anchor="t"/>
          <a:lstStyle/>
          <a:p>
            <a:pPr indent="0" marL="0">
              <a:buNone/>
            </a:pPr>
            <a:r>
              <a:rPr lang="en-US" sz="1200" b="1" spc="200" kern="0" dirty="0">
                <a:solidFill>
                  <a:srgbClr val="C6333B"/>
                </a:solidFill>
                <a:latin typeface="Calibri" pitchFamily="34" charset="0"/>
                <a:ea typeface="Calibri" pitchFamily="34" charset="-122"/>
                <a:cs typeface="Calibri" pitchFamily="34" charset="-120"/>
              </a:rPr>
              <a:t>GOAL  </a:t>
            </a:r>
            <a:endParaRPr lang="en-US" sz="1200" dirty="0"/>
          </a:p>
          <a:p>
            <a:pPr indent="0" marL="0">
              <a:buNone/>
            </a:pPr>
            <a:r>
              <a:rPr lang="en-US" sz="1700" dirty="0">
                <a:solidFill>
                  <a:srgbClr val="1F2328"/>
                </a:solidFill>
                <a:latin typeface="Calibri" pitchFamily="34" charset="0"/>
                <a:ea typeface="Calibri" pitchFamily="34" charset="-122"/>
                <a:cs typeface="Calibri" pitchFamily="34" charset="-120"/>
              </a:rPr>
              <a:t>Read a number of seconds and print it as hours, minutes and seconds.</a:t>
            </a:r>
            <a:endParaRPr lang="en-US" sz="1200" dirty="0"/>
          </a:p>
        </p:txBody>
      </p:sp>
      <p:sp>
        <p:nvSpPr>
          <p:cNvPr id="12" name="Text 8"/>
          <p:cNvSpPr txBox="1"/>
          <p:nvPr/>
        </p:nvSpPr>
        <p:spPr>
          <a:xfrm>
            <a:off x="548640" y="2758440"/>
            <a:ext cx="5760720" cy="274320"/>
          </a:xfrm>
          <a:prstGeom prst="rect">
            <a:avLst/>
          </a:prstGeom>
          <a:noFill/>
          <a:ln/>
        </p:spPr>
        <p:txBody>
          <a:bodyPr wrap="square" lIns="0" tIns="0" rIns="0" bIns="0" rtlCol="0" anchor="ctr"/>
          <a:lstStyle/>
          <a:p>
            <a:pPr indent="0" marL="0">
              <a:buNone/>
            </a:pPr>
            <a:r>
              <a:rPr lang="en-US" sz="1200" b="1" spc="200" kern="0" dirty="0">
                <a:solidFill>
                  <a:srgbClr val="5B6470"/>
                </a:solidFill>
                <a:latin typeface="Calibri" pitchFamily="34" charset="0"/>
                <a:ea typeface="Calibri" pitchFamily="34" charset="-122"/>
                <a:cs typeface="Calibri" pitchFamily="34" charset="-120"/>
              </a:rPr>
              <a:t>WHAT TO DO</a:t>
            </a:r>
            <a:endParaRPr lang="en-US" sz="1200" dirty="0"/>
          </a:p>
        </p:txBody>
      </p:sp>
      <p:sp>
        <p:nvSpPr>
          <p:cNvPr id="13" name="Text 9"/>
          <p:cNvSpPr txBox="1"/>
          <p:nvPr/>
        </p:nvSpPr>
        <p:spPr>
          <a:xfrm>
            <a:off x="548640" y="3078480"/>
            <a:ext cx="5760720" cy="304800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Copy TimeSplit.java from the starter folder into week01.</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Read the total seconds as an int with Integer.parseInt.</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Use only the operators / and % to get hours, minutes and seconds.</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Test it with 7384, with 59 and with 3600.</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Commit.</a:t>
            </a:r>
            <a:endParaRPr lang="en-US" sz="1800" dirty="0"/>
          </a:p>
        </p:txBody>
      </p:sp>
      <p:sp>
        <p:nvSpPr>
          <p:cNvPr id="14" name="Shape 10"/>
          <p:cNvSpPr/>
          <p:nvPr/>
        </p:nvSpPr>
        <p:spPr>
          <a:xfrm>
            <a:off x="6675120" y="1508760"/>
            <a:ext cx="4967935" cy="1197864"/>
          </a:xfrm>
          <a:prstGeom prst="roundRect">
            <a:avLst>
              <a:gd name="adj" fmla="val 7634"/>
            </a:avLst>
          </a:prstGeom>
          <a:solidFill>
            <a:srgbClr val="1B2029"/>
          </a:solidFill>
          <a:ln w="12700">
            <a:solidFill>
              <a:srgbClr val="1B2029"/>
            </a:solidFill>
            <a:prstDash val="solid"/>
          </a:ln>
        </p:spPr>
      </p:sp>
      <p:sp>
        <p:nvSpPr>
          <p:cNvPr id="15" name="Text 11"/>
          <p:cNvSpPr txBox="1"/>
          <p:nvPr/>
        </p:nvSpPr>
        <p:spPr>
          <a:xfrm>
            <a:off x="6931152" y="1618488"/>
            <a:ext cx="4455871" cy="256032"/>
          </a:xfrm>
          <a:prstGeom prst="rect">
            <a:avLst/>
          </a:prstGeom>
          <a:noFill/>
          <a:ln/>
        </p:spPr>
        <p:txBody>
          <a:bodyPr wrap="square" lIns="0" tIns="0" rIns="0" bIns="0" rtlCol="0" anchor="ctr"/>
          <a:lstStyle/>
          <a:p>
            <a:pPr indent="0" marL="0">
              <a:buNone/>
            </a:pPr>
            <a:r>
              <a:rPr lang="en-US" sz="1100" b="1" spc="100" kern="0" dirty="0">
                <a:solidFill>
                  <a:srgbClr val="8B97A6"/>
                </a:solidFill>
                <a:latin typeface="Calibri" pitchFamily="34" charset="0"/>
                <a:ea typeface="Calibri" pitchFamily="34" charset="-122"/>
                <a:cs typeface="Calibri" pitchFamily="34" charset="-120"/>
              </a:rPr>
              <a:t>EXPECTED CONSOLE SESSION</a:t>
            </a:r>
            <a:endParaRPr lang="en-US" sz="1100" dirty="0"/>
          </a:p>
        </p:txBody>
      </p:sp>
      <p:sp>
        <p:nvSpPr>
          <p:cNvPr id="16" name="Text 12"/>
          <p:cNvSpPr txBox="1"/>
          <p:nvPr/>
        </p:nvSpPr>
        <p:spPr>
          <a:xfrm>
            <a:off x="6931152" y="1965960"/>
            <a:ext cx="4455871" cy="557784"/>
          </a:xfrm>
          <a:prstGeom prst="rect">
            <a:avLst/>
          </a:prstGeom>
          <a:noFill/>
          <a:ln/>
        </p:spPr>
        <p:txBody>
          <a:bodyPr wrap="none" lIns="0" tIns="0" rIns="0" bIns="0" rtlCol="0" anchor="t"/>
          <a:lstStyle/>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Total seconds: 7384</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2 h 3 min 4 s</a:t>
            </a:r>
            <a:endParaRPr lang="en-US" sz="1600" dirty="0"/>
          </a:p>
        </p:txBody>
      </p:sp>
      <p:sp>
        <p:nvSpPr>
          <p:cNvPr id="17" name="Shape 13"/>
          <p:cNvSpPr/>
          <p:nvPr/>
        </p:nvSpPr>
        <p:spPr>
          <a:xfrm>
            <a:off x="6675120" y="2889504"/>
            <a:ext cx="4967935" cy="3236976"/>
          </a:xfrm>
          <a:prstGeom prst="roundRect">
            <a:avLst>
              <a:gd name="adj" fmla="val 3390"/>
            </a:avLst>
          </a:prstGeom>
          <a:solidFill>
            <a:srgbClr val="E7F5EC"/>
          </a:solidFill>
          <a:ln w="12700">
            <a:solidFill>
              <a:srgbClr val="E7F5EC"/>
            </a:solidFill>
            <a:prstDash val="solid"/>
          </a:ln>
        </p:spPr>
      </p:sp>
      <p:sp>
        <p:nvSpPr>
          <p:cNvPr id="18" name="Text 14"/>
          <p:cNvSpPr txBox="1"/>
          <p:nvPr/>
        </p:nvSpPr>
        <p:spPr>
          <a:xfrm>
            <a:off x="6949440" y="3026664"/>
            <a:ext cx="4419295" cy="274320"/>
          </a:xfrm>
          <a:prstGeom prst="rect">
            <a:avLst/>
          </a:prstGeom>
          <a:noFill/>
          <a:ln/>
        </p:spPr>
        <p:txBody>
          <a:bodyPr wrap="square" lIns="0" tIns="0" rIns="0" bIns="0" rtlCol="0" anchor="ctr"/>
          <a:lstStyle/>
          <a:p>
            <a:pPr indent="0" marL="0">
              <a:buNone/>
            </a:pPr>
            <a:r>
              <a:rPr lang="en-US" sz="1200" b="1" spc="200" kern="0" dirty="0">
                <a:solidFill>
                  <a:srgbClr val="1E7F4F"/>
                </a:solidFill>
                <a:latin typeface="Calibri" pitchFamily="34" charset="0"/>
                <a:ea typeface="Calibri" pitchFamily="34" charset="-122"/>
                <a:cs typeface="Calibri" pitchFamily="34" charset="-120"/>
              </a:rPr>
              <a:t>DONE WHEN</a:t>
            </a:r>
            <a:endParaRPr lang="en-US" sz="1200" dirty="0"/>
          </a:p>
        </p:txBody>
      </p:sp>
      <p:sp>
        <p:nvSpPr>
          <p:cNvPr id="19" name="Text 15"/>
          <p:cNvSpPr txBox="1"/>
          <p:nvPr/>
        </p:nvSpPr>
        <p:spPr>
          <a:xfrm>
            <a:off x="6949440" y="3364992"/>
            <a:ext cx="4419295" cy="2642616"/>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7384 gives 2 h 3 min 4 s</a:t>
            </a:r>
            <a:endParaRPr lang="en-US" sz="1700" dirty="0"/>
          </a:p>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59 gives 0 h 0 min 59 s</a:t>
            </a:r>
            <a:endParaRPr lang="en-US" sz="1700" dirty="0"/>
          </a:p>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3600 gives 1 h 0 min 0 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 5  ·  CORE  ·  13 MIN</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Find the bug with the debugger, without guessing</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1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15</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8" name="Shape 4"/>
          <p:cNvSpPr/>
          <p:nvPr/>
        </p:nvSpPr>
        <p:spPr>
          <a:xfrm>
            <a:off x="548640" y="1508760"/>
            <a:ext cx="566928" cy="365760"/>
          </a:xfrm>
          <a:prstGeom prst="roundRect">
            <a:avLst>
              <a:gd name="adj" fmla="val 20000"/>
            </a:avLst>
          </a:prstGeom>
          <a:solidFill>
            <a:srgbClr val="262B33"/>
          </a:solidFill>
          <a:ln w="12700">
            <a:solidFill>
              <a:srgbClr val="262B33"/>
            </a:solidFill>
            <a:prstDash val="solid"/>
          </a:ln>
        </p:spPr>
      </p:sp>
      <p:sp>
        <p:nvSpPr>
          <p:cNvPr id="9" name="Text 5"/>
          <p:cNvSpPr txBox="1"/>
          <p:nvPr/>
        </p:nvSpPr>
        <p:spPr>
          <a:xfrm>
            <a:off x="548640" y="1508760"/>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325880" y="1508760"/>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Copy AverageBug.java from the starter folder and run it</a:t>
            </a:r>
            <a:endParaRPr lang="en-US" sz="1750" dirty="0"/>
          </a:p>
        </p:txBody>
      </p:sp>
      <p:sp>
        <p:nvSpPr>
          <p:cNvPr id="11" name="Text 7"/>
          <p:cNvSpPr txBox="1"/>
          <p:nvPr/>
        </p:nvSpPr>
        <p:spPr>
          <a:xfrm>
            <a:off x="1325880" y="1892808"/>
            <a:ext cx="6080760" cy="27279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It prints Average: 8.0. The right answer is about 8.67.</a:t>
            </a:r>
            <a:endParaRPr lang="en-US" sz="1550" dirty="0"/>
          </a:p>
        </p:txBody>
      </p:sp>
      <p:sp>
        <p:nvSpPr>
          <p:cNvPr id="12" name="Shape 8"/>
          <p:cNvSpPr/>
          <p:nvPr/>
        </p:nvSpPr>
        <p:spPr>
          <a:xfrm>
            <a:off x="548640" y="2363724"/>
            <a:ext cx="566928" cy="365760"/>
          </a:xfrm>
          <a:prstGeom prst="roundRect">
            <a:avLst>
              <a:gd name="adj" fmla="val 20000"/>
            </a:avLst>
          </a:prstGeom>
          <a:solidFill>
            <a:srgbClr val="262B33"/>
          </a:solidFill>
          <a:ln w="12700">
            <a:solidFill>
              <a:srgbClr val="262B33"/>
            </a:solidFill>
            <a:prstDash val="solid"/>
          </a:ln>
        </p:spPr>
      </p:sp>
      <p:sp>
        <p:nvSpPr>
          <p:cNvPr id="13" name="Text 9"/>
          <p:cNvSpPr txBox="1"/>
          <p:nvPr/>
        </p:nvSpPr>
        <p:spPr>
          <a:xfrm>
            <a:off x="548640" y="2363724"/>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0"/>
          <p:cNvSpPr txBox="1"/>
          <p:nvPr/>
        </p:nvSpPr>
        <p:spPr>
          <a:xfrm>
            <a:off x="1325880" y="2363724"/>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Set a breakpoint</a:t>
            </a:r>
            <a:endParaRPr lang="en-US" sz="1750" dirty="0"/>
          </a:p>
        </p:txBody>
      </p:sp>
      <p:sp>
        <p:nvSpPr>
          <p:cNvPr id="15" name="Text 11"/>
          <p:cNvSpPr txBox="1"/>
          <p:nvPr/>
        </p:nvSpPr>
        <p:spPr>
          <a:xfrm>
            <a:off x="1325880" y="2747772"/>
            <a:ext cx="6080760" cy="50901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Click in the grey margin next to the line that calculates the average. A red dot appears.</a:t>
            </a:r>
            <a:endParaRPr lang="en-US" sz="1550" dirty="0"/>
          </a:p>
        </p:txBody>
      </p:sp>
      <p:sp>
        <p:nvSpPr>
          <p:cNvPr id="16" name="Shape 12"/>
          <p:cNvSpPr/>
          <p:nvPr/>
        </p:nvSpPr>
        <p:spPr>
          <a:xfrm>
            <a:off x="548640" y="3454908"/>
            <a:ext cx="566928" cy="365760"/>
          </a:xfrm>
          <a:prstGeom prst="roundRect">
            <a:avLst>
              <a:gd name="adj" fmla="val 20000"/>
            </a:avLst>
          </a:prstGeom>
          <a:solidFill>
            <a:srgbClr val="262B33"/>
          </a:solidFill>
          <a:ln w="12700">
            <a:solidFill>
              <a:srgbClr val="262B33"/>
            </a:solidFill>
            <a:prstDash val="solid"/>
          </a:ln>
        </p:spPr>
      </p:sp>
      <p:sp>
        <p:nvSpPr>
          <p:cNvPr id="17" name="Text 13"/>
          <p:cNvSpPr txBox="1"/>
          <p:nvPr/>
        </p:nvSpPr>
        <p:spPr>
          <a:xfrm>
            <a:off x="548640" y="3454908"/>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4"/>
          <p:cNvSpPr txBox="1"/>
          <p:nvPr/>
        </p:nvSpPr>
        <p:spPr>
          <a:xfrm>
            <a:off x="1325880" y="3454908"/>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Start with Debug, not Run</a:t>
            </a:r>
            <a:endParaRPr lang="en-US" sz="1750" dirty="0"/>
          </a:p>
        </p:txBody>
      </p:sp>
      <p:sp>
        <p:nvSpPr>
          <p:cNvPr id="19" name="Text 15"/>
          <p:cNvSpPr txBox="1"/>
          <p:nvPr/>
        </p:nvSpPr>
        <p:spPr>
          <a:xfrm>
            <a:off x="1325880" y="3838956"/>
            <a:ext cx="6080760" cy="50901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The program stops at the red dot. Look at sum in the Variables view.</a:t>
            </a:r>
            <a:endParaRPr lang="en-US" sz="1550" dirty="0"/>
          </a:p>
        </p:txBody>
      </p:sp>
      <p:sp>
        <p:nvSpPr>
          <p:cNvPr id="20" name="Shape 16"/>
          <p:cNvSpPr/>
          <p:nvPr/>
        </p:nvSpPr>
        <p:spPr>
          <a:xfrm>
            <a:off x="548640" y="4546092"/>
            <a:ext cx="566928" cy="365760"/>
          </a:xfrm>
          <a:prstGeom prst="roundRect">
            <a:avLst>
              <a:gd name="adj" fmla="val 20000"/>
            </a:avLst>
          </a:prstGeom>
          <a:solidFill>
            <a:srgbClr val="262B33"/>
          </a:solidFill>
          <a:ln w="12700">
            <a:solidFill>
              <a:srgbClr val="262B33"/>
            </a:solidFill>
            <a:prstDash val="solid"/>
          </a:ln>
        </p:spPr>
      </p:sp>
      <p:sp>
        <p:nvSpPr>
          <p:cNvPr id="21" name="Text 17"/>
          <p:cNvSpPr txBox="1"/>
          <p:nvPr/>
        </p:nvSpPr>
        <p:spPr>
          <a:xfrm>
            <a:off x="548640" y="4546092"/>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8"/>
          <p:cNvSpPr txBox="1"/>
          <p:nvPr/>
        </p:nvSpPr>
        <p:spPr>
          <a:xfrm>
            <a:off x="1325880" y="4546092"/>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Step over the line</a:t>
            </a:r>
            <a:endParaRPr lang="en-US" sz="1750" dirty="0"/>
          </a:p>
        </p:txBody>
      </p:sp>
      <p:sp>
        <p:nvSpPr>
          <p:cNvPr id="23" name="Text 19"/>
          <p:cNvSpPr txBox="1"/>
          <p:nvPr/>
        </p:nvSpPr>
        <p:spPr>
          <a:xfrm>
            <a:off x="1325880" y="4930140"/>
            <a:ext cx="6080760" cy="27279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Press F8. Look at average. Which operation produced 8.0 and why?</a:t>
            </a:r>
            <a:endParaRPr lang="en-US" sz="1550" dirty="0"/>
          </a:p>
        </p:txBody>
      </p:sp>
      <p:sp>
        <p:nvSpPr>
          <p:cNvPr id="24" name="Shape 20"/>
          <p:cNvSpPr/>
          <p:nvPr/>
        </p:nvSpPr>
        <p:spPr>
          <a:xfrm>
            <a:off x="548640" y="5401056"/>
            <a:ext cx="566928" cy="365760"/>
          </a:xfrm>
          <a:prstGeom prst="roundRect">
            <a:avLst>
              <a:gd name="adj" fmla="val 20000"/>
            </a:avLst>
          </a:prstGeom>
          <a:solidFill>
            <a:srgbClr val="262B33"/>
          </a:solidFill>
          <a:ln w="12700">
            <a:solidFill>
              <a:srgbClr val="262B33"/>
            </a:solidFill>
            <a:prstDash val="solid"/>
          </a:ln>
        </p:spPr>
      </p:sp>
      <p:sp>
        <p:nvSpPr>
          <p:cNvPr id="25" name="Text 21"/>
          <p:cNvSpPr txBox="1"/>
          <p:nvPr/>
        </p:nvSpPr>
        <p:spPr>
          <a:xfrm>
            <a:off x="548640" y="5401056"/>
            <a:ext cx="5669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2"/>
          <p:cNvSpPr txBox="1"/>
          <p:nvPr/>
        </p:nvSpPr>
        <p:spPr>
          <a:xfrm>
            <a:off x="1325880" y="5401056"/>
            <a:ext cx="6126480" cy="365760"/>
          </a:xfrm>
          <a:prstGeom prst="rect">
            <a:avLst/>
          </a:prstGeom>
          <a:noFill/>
          <a:ln/>
        </p:spPr>
        <p:txBody>
          <a:bodyPr wrap="square" lIns="0" tIns="0" rIns="0" bIns="0" rtlCol="0" anchor="ctr">
            <a:normAutofit/>
          </a:bodyPr>
          <a:lstStyle/>
          <a:p>
            <a:pPr indent="0" marL="0">
              <a:buNone/>
            </a:pPr>
            <a:r>
              <a:rPr lang="en-US" sz="1750" b="1" dirty="0">
                <a:solidFill>
                  <a:srgbClr val="1F2328"/>
                </a:solidFill>
                <a:latin typeface="Calibri" pitchFamily="34" charset="0"/>
                <a:ea typeface="Calibri" pitchFamily="34" charset="-122"/>
                <a:cs typeface="Calibri" pitchFamily="34" charset="-120"/>
              </a:rPr>
              <a:t>Fix it, run it, commit it</a:t>
            </a:r>
            <a:endParaRPr lang="en-US" sz="1750" dirty="0"/>
          </a:p>
        </p:txBody>
      </p:sp>
      <p:sp>
        <p:nvSpPr>
          <p:cNvPr id="27" name="Text 23"/>
          <p:cNvSpPr txBox="1"/>
          <p:nvPr/>
        </p:nvSpPr>
        <p:spPr>
          <a:xfrm>
            <a:off x="1325880" y="5785104"/>
            <a:ext cx="6080760" cy="509016"/>
          </a:xfrm>
          <a:prstGeom prst="rect">
            <a:avLst/>
          </a:prstGeom>
          <a:noFill/>
          <a:ln/>
        </p:spPr>
        <p:txBody>
          <a:bodyPr wrap="square" lIns="0" tIns="0" rIns="0" bIns="0" rtlCol="0" anchor="t"/>
          <a:lstStyle/>
          <a:p>
            <a:pPr indent="0" marL="0">
              <a:buNone/>
            </a:pPr>
            <a:r>
              <a:rPr lang="en-US" sz="1550" dirty="0">
                <a:solidFill>
                  <a:srgbClr val="5B6470"/>
                </a:solidFill>
                <a:latin typeface="Calibri" pitchFamily="34" charset="0"/>
                <a:ea typeface="Calibri" pitchFamily="34" charset="-122"/>
                <a:cs typeface="Calibri" pitchFamily="34" charset="-120"/>
              </a:rPr>
              <a:t>Message, for example: Fix average: divide by 3.0 to keep the decimals.</a:t>
            </a:r>
            <a:endParaRPr lang="en-US" sz="1550" dirty="0"/>
          </a:p>
        </p:txBody>
      </p:sp>
      <p:sp>
        <p:nvSpPr>
          <p:cNvPr id="28" name="Shape 24"/>
          <p:cNvSpPr/>
          <p:nvPr/>
        </p:nvSpPr>
        <p:spPr>
          <a:xfrm>
            <a:off x="7863840" y="1490472"/>
            <a:ext cx="3779215" cy="3840480"/>
          </a:xfrm>
          <a:prstGeom prst="roundRect">
            <a:avLst>
              <a:gd name="adj" fmla="val 2903"/>
            </a:avLst>
          </a:prstGeom>
          <a:solidFill>
            <a:srgbClr val="FBECED"/>
          </a:solidFill>
          <a:ln w="12700">
            <a:solidFill>
              <a:srgbClr val="FBECED"/>
            </a:solidFill>
            <a:prstDash val="solid"/>
          </a:ln>
        </p:spPr>
      </p:sp>
      <p:sp>
        <p:nvSpPr>
          <p:cNvPr id="29" name="Shape 25"/>
          <p:cNvSpPr/>
          <p:nvPr/>
        </p:nvSpPr>
        <p:spPr>
          <a:xfrm>
            <a:off x="8138160" y="1764792"/>
            <a:ext cx="502920" cy="502920"/>
          </a:xfrm>
          <a:prstGeom prst="ellipse">
            <a:avLst/>
          </a:prstGeom>
          <a:solidFill>
            <a:srgbClr val="C6333B"/>
          </a:solidFill>
          <a:ln w="12700">
            <a:solidFill>
              <a:srgbClr val="C6333B"/>
            </a:solidFill>
            <a:prstDash val="solid"/>
          </a:ln>
        </p:spPr>
      </p:sp>
      <p:sp>
        <p:nvSpPr>
          <p:cNvPr id="30" name="Text 26"/>
          <p:cNvSpPr txBox="1"/>
          <p:nvPr/>
        </p:nvSpPr>
        <p:spPr>
          <a:xfrm>
            <a:off x="8778240" y="1764792"/>
            <a:ext cx="2590495" cy="502920"/>
          </a:xfrm>
          <a:prstGeom prst="rect">
            <a:avLst/>
          </a:prstGeom>
          <a:noFill/>
          <a:ln/>
        </p:spPr>
        <p:txBody>
          <a:bodyPr wrap="square" lIns="0" tIns="0" rIns="0" bIns="0" rtlCol="0" anchor="ctr"/>
          <a:lstStyle/>
          <a:p>
            <a:pPr indent="0" marL="0">
              <a:buNone/>
            </a:pPr>
            <a:r>
              <a:rPr lang="en-US" sz="1700" b="1" dirty="0">
                <a:solidFill>
                  <a:srgbClr val="9C2630"/>
                </a:solidFill>
                <a:latin typeface="Calibri" pitchFamily="34" charset="0"/>
                <a:ea typeface="Calibri" pitchFamily="34" charset="-122"/>
                <a:cs typeface="Calibri" pitchFamily="34" charset="-120"/>
              </a:rPr>
              <a:t>Why a debugger</a:t>
            </a:r>
            <a:endParaRPr lang="en-US" sz="1700" dirty="0"/>
          </a:p>
        </p:txBody>
      </p:sp>
      <p:sp>
        <p:nvSpPr>
          <p:cNvPr id="31" name="Text 27"/>
          <p:cNvSpPr txBox="1"/>
          <p:nvPr/>
        </p:nvSpPr>
        <p:spPr>
          <a:xfrm>
            <a:off x="8138160" y="2450592"/>
            <a:ext cx="3230575" cy="2606040"/>
          </a:xfrm>
          <a:prstGeom prst="rect">
            <a:avLst/>
          </a:prstGeom>
          <a:noFill/>
          <a:ln/>
        </p:spPr>
        <p:txBody>
          <a:bodyPr wrap="square" lIns="0" tIns="0" rIns="0" bIns="0" rtlCol="0" anchor="t"/>
          <a:lstStyle/>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Printing values works for small programs.</a:t>
            </a:r>
            <a:endParaRPr lang="en-US" sz="1800" dirty="0"/>
          </a:p>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A debugger shows every variable at every step, without changing your code. From now on it is your first tool when a result is wrong.</a:t>
            </a:r>
            <a:endParaRPr lang="en-US" sz="1800" dirty="0"/>
          </a:p>
        </p:txBody>
      </p:sp>
      <p:pic>
        <p:nvPicPr>
          <p:cNvPr id="32" name="Image 1" descr="preencoded.png">    </p:cNvPr>
          <p:cNvPicPr>
            <a:picLocks noChangeAspect="1"/>
          </p:cNvPicPr>
          <p:nvPr/>
        </p:nvPicPr>
        <p:blipFill>
          <a:blip r:embed="rId2"/>
          <a:stretch>
            <a:fillRect/>
          </a:stretch>
        </p:blipFill>
        <p:spPr>
          <a:xfrm>
            <a:off x="8258861" y="1885493"/>
            <a:ext cx="261518" cy="26151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 6  ·  STRETCH</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Change maker</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1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16</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8" name="Shape 4"/>
          <p:cNvSpPr/>
          <p:nvPr/>
        </p:nvSpPr>
        <p:spPr>
          <a:xfrm>
            <a:off x="10180015" y="411480"/>
            <a:ext cx="1463040" cy="329184"/>
          </a:xfrm>
          <a:prstGeom prst="roundRect">
            <a:avLst>
              <a:gd name="adj" fmla="val 50000"/>
            </a:avLst>
          </a:prstGeom>
          <a:solidFill>
            <a:srgbClr val="B25E00"/>
          </a:solidFill>
          <a:ln w="12700">
            <a:solidFill>
              <a:srgbClr val="B25E00"/>
            </a:solidFill>
            <a:prstDash val="solid"/>
          </a:ln>
        </p:spPr>
      </p:sp>
      <p:sp>
        <p:nvSpPr>
          <p:cNvPr id="9" name="Text 5"/>
          <p:cNvSpPr txBox="1"/>
          <p:nvPr/>
        </p:nvSpPr>
        <p:spPr>
          <a:xfrm>
            <a:off x="10180015" y="411480"/>
            <a:ext cx="146304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15 min</a:t>
            </a:r>
            <a:endParaRPr lang="en-US" sz="1250" dirty="0"/>
          </a:p>
        </p:txBody>
      </p:sp>
      <p:sp>
        <p:nvSpPr>
          <p:cNvPr id="10" name="Shape 6"/>
          <p:cNvSpPr/>
          <p:nvPr/>
        </p:nvSpPr>
        <p:spPr>
          <a:xfrm>
            <a:off x="548640" y="1508760"/>
            <a:ext cx="5760720" cy="1325880"/>
          </a:xfrm>
          <a:prstGeom prst="roundRect">
            <a:avLst>
              <a:gd name="adj" fmla="val 8276"/>
            </a:avLst>
          </a:prstGeom>
          <a:solidFill>
            <a:srgbClr val="FBECED"/>
          </a:solidFill>
          <a:ln w="12700">
            <a:solidFill>
              <a:srgbClr val="FBECED"/>
            </a:solidFill>
            <a:prstDash val="solid"/>
          </a:ln>
        </p:spPr>
      </p:sp>
      <p:sp>
        <p:nvSpPr>
          <p:cNvPr id="11" name="Text 7"/>
          <p:cNvSpPr txBox="1"/>
          <p:nvPr/>
        </p:nvSpPr>
        <p:spPr>
          <a:xfrm>
            <a:off x="822960" y="1600200"/>
            <a:ext cx="5212080" cy="1143000"/>
          </a:xfrm>
          <a:prstGeom prst="rect">
            <a:avLst/>
          </a:prstGeom>
          <a:noFill/>
          <a:ln/>
        </p:spPr>
        <p:txBody>
          <a:bodyPr wrap="square" lIns="0" tIns="0" rIns="0" bIns="0" rtlCol="0" anchor="t"/>
          <a:lstStyle/>
          <a:p>
            <a:pPr indent="0" marL="0">
              <a:buNone/>
            </a:pPr>
            <a:r>
              <a:rPr lang="en-US" sz="1200" b="1" spc="200" kern="0" dirty="0">
                <a:solidFill>
                  <a:srgbClr val="C6333B"/>
                </a:solidFill>
                <a:latin typeface="Calibri" pitchFamily="34" charset="0"/>
                <a:ea typeface="Calibri" pitchFamily="34" charset="-122"/>
                <a:cs typeface="Calibri" pitchFamily="34" charset="-120"/>
              </a:rPr>
              <a:t>GOAL  </a:t>
            </a:r>
            <a:endParaRPr lang="en-US" sz="1200" dirty="0"/>
          </a:p>
          <a:p>
            <a:pPr indent="0" marL="0">
              <a:buNone/>
            </a:pPr>
            <a:r>
              <a:rPr lang="en-US" sz="1700" dirty="0">
                <a:solidFill>
                  <a:srgbClr val="1F2328"/>
                </a:solidFill>
                <a:latin typeface="Calibri" pitchFamily="34" charset="0"/>
                <a:ea typeface="Calibri" pitchFamily="34" charset="-122"/>
                <a:cs typeface="Calibri" pitchFamily="34" charset="-120"/>
              </a:rPr>
              <a:t>Read an amount in denars and print how many pieces of 500, 100, 50, 10, 5 and 1 are needed, always taking the largest piece first.</a:t>
            </a:r>
            <a:endParaRPr lang="en-US" sz="1200" dirty="0"/>
          </a:p>
        </p:txBody>
      </p:sp>
      <p:sp>
        <p:nvSpPr>
          <p:cNvPr id="12" name="Text 8"/>
          <p:cNvSpPr txBox="1"/>
          <p:nvPr/>
        </p:nvSpPr>
        <p:spPr>
          <a:xfrm>
            <a:off x="548640" y="3017520"/>
            <a:ext cx="5760720" cy="274320"/>
          </a:xfrm>
          <a:prstGeom prst="rect">
            <a:avLst/>
          </a:prstGeom>
          <a:noFill/>
          <a:ln/>
        </p:spPr>
        <p:txBody>
          <a:bodyPr wrap="square" lIns="0" tIns="0" rIns="0" bIns="0" rtlCol="0" anchor="ctr"/>
          <a:lstStyle/>
          <a:p>
            <a:pPr indent="0" marL="0">
              <a:buNone/>
            </a:pPr>
            <a:r>
              <a:rPr lang="en-US" sz="1200" b="1" spc="200" kern="0" dirty="0">
                <a:solidFill>
                  <a:srgbClr val="5B6470"/>
                </a:solidFill>
                <a:latin typeface="Calibri" pitchFamily="34" charset="0"/>
                <a:ea typeface="Calibri" pitchFamily="34" charset="-122"/>
                <a:cs typeface="Calibri" pitchFamily="34" charset="-120"/>
              </a:rPr>
              <a:t>WHAT TO DO</a:t>
            </a:r>
            <a:endParaRPr lang="en-US" sz="1200" dirty="0"/>
          </a:p>
        </p:txBody>
      </p:sp>
      <p:sp>
        <p:nvSpPr>
          <p:cNvPr id="13" name="Text 9"/>
          <p:cNvSpPr txBox="1"/>
          <p:nvPr/>
        </p:nvSpPr>
        <p:spPr>
          <a:xfrm>
            <a:off x="548640" y="3337560"/>
            <a:ext cx="5760720" cy="27889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Copy ChangeMaker.java from the starter folder into week01.</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Work only with int, / and %.</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After each step, keep only the rest of the amount for the next step.</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Test with 1786 and with 499.</a:t>
            </a:r>
            <a:endParaRPr lang="en-US" sz="1800" dirty="0"/>
          </a:p>
        </p:txBody>
      </p:sp>
      <p:sp>
        <p:nvSpPr>
          <p:cNvPr id="14" name="Shape 10"/>
          <p:cNvSpPr/>
          <p:nvPr/>
        </p:nvSpPr>
        <p:spPr>
          <a:xfrm>
            <a:off x="6675120" y="1508760"/>
            <a:ext cx="4967935" cy="2478024"/>
          </a:xfrm>
          <a:prstGeom prst="roundRect">
            <a:avLst>
              <a:gd name="adj" fmla="val 3690"/>
            </a:avLst>
          </a:prstGeom>
          <a:solidFill>
            <a:srgbClr val="1B2029"/>
          </a:solidFill>
          <a:ln w="12700">
            <a:solidFill>
              <a:srgbClr val="1B2029"/>
            </a:solidFill>
            <a:prstDash val="solid"/>
          </a:ln>
        </p:spPr>
      </p:sp>
      <p:sp>
        <p:nvSpPr>
          <p:cNvPr id="15" name="Text 11"/>
          <p:cNvSpPr txBox="1"/>
          <p:nvPr/>
        </p:nvSpPr>
        <p:spPr>
          <a:xfrm>
            <a:off x="6931152" y="1618488"/>
            <a:ext cx="4455871" cy="256032"/>
          </a:xfrm>
          <a:prstGeom prst="rect">
            <a:avLst/>
          </a:prstGeom>
          <a:noFill/>
          <a:ln/>
        </p:spPr>
        <p:txBody>
          <a:bodyPr wrap="square" lIns="0" tIns="0" rIns="0" bIns="0" rtlCol="0" anchor="ctr"/>
          <a:lstStyle/>
          <a:p>
            <a:pPr indent="0" marL="0">
              <a:buNone/>
            </a:pPr>
            <a:r>
              <a:rPr lang="en-US" sz="1100" b="1" spc="100" kern="0" dirty="0">
                <a:solidFill>
                  <a:srgbClr val="8B97A6"/>
                </a:solidFill>
                <a:latin typeface="Calibri" pitchFamily="34" charset="0"/>
                <a:ea typeface="Calibri" pitchFamily="34" charset="-122"/>
                <a:cs typeface="Calibri" pitchFamily="34" charset="-120"/>
              </a:rPr>
              <a:t>EXPECTED CONSOLE SESSION</a:t>
            </a:r>
            <a:endParaRPr lang="en-US" sz="1100" dirty="0"/>
          </a:p>
        </p:txBody>
      </p:sp>
      <p:sp>
        <p:nvSpPr>
          <p:cNvPr id="16" name="Text 12"/>
          <p:cNvSpPr txBox="1"/>
          <p:nvPr/>
        </p:nvSpPr>
        <p:spPr>
          <a:xfrm>
            <a:off x="6931152" y="1965960"/>
            <a:ext cx="4455871" cy="1837944"/>
          </a:xfrm>
          <a:prstGeom prst="rect">
            <a:avLst/>
          </a:prstGeom>
          <a:noFill/>
          <a:ln/>
        </p:spPr>
        <p:txBody>
          <a:bodyPr wrap="none" lIns="0" tIns="0" rIns="0" bIns="0" rtlCol="0" anchor="t"/>
          <a:lstStyle/>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Amount: 1786</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500 x 3</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100 x 2</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50 x 1</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10 x 3</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5 x 1</a:t>
            </a:r>
            <a:endParaRPr lang="en-US" sz="1600" dirty="0"/>
          </a:p>
          <a:p>
            <a:pPr indent="0" marL="0">
              <a:lnSpc>
                <a:spcPct val="105000"/>
              </a:lnSpc>
              <a:buNone/>
            </a:pPr>
            <a:r>
              <a:rPr lang="en-US" sz="1600" dirty="0">
                <a:solidFill>
                  <a:srgbClr val="E6EDF3"/>
                </a:solidFill>
                <a:latin typeface="Consolas" pitchFamily="34" charset="0"/>
                <a:ea typeface="Consolas" pitchFamily="34" charset="-122"/>
                <a:cs typeface="Consolas" pitchFamily="34" charset="-120"/>
              </a:rPr>
              <a:t>1 x 1</a:t>
            </a:r>
            <a:endParaRPr lang="en-US" sz="1600" dirty="0"/>
          </a:p>
        </p:txBody>
      </p:sp>
      <p:sp>
        <p:nvSpPr>
          <p:cNvPr id="17" name="Shape 13"/>
          <p:cNvSpPr/>
          <p:nvPr/>
        </p:nvSpPr>
        <p:spPr>
          <a:xfrm>
            <a:off x="6675120" y="4169664"/>
            <a:ext cx="4967935" cy="1956816"/>
          </a:xfrm>
          <a:prstGeom prst="roundRect">
            <a:avLst>
              <a:gd name="adj" fmla="val 5607"/>
            </a:avLst>
          </a:prstGeom>
          <a:solidFill>
            <a:srgbClr val="E7F5EC"/>
          </a:solidFill>
          <a:ln w="12700">
            <a:solidFill>
              <a:srgbClr val="E7F5EC"/>
            </a:solidFill>
            <a:prstDash val="solid"/>
          </a:ln>
        </p:spPr>
      </p:sp>
      <p:sp>
        <p:nvSpPr>
          <p:cNvPr id="18" name="Text 14"/>
          <p:cNvSpPr txBox="1"/>
          <p:nvPr/>
        </p:nvSpPr>
        <p:spPr>
          <a:xfrm>
            <a:off x="6949440" y="4306824"/>
            <a:ext cx="4419295" cy="274320"/>
          </a:xfrm>
          <a:prstGeom prst="rect">
            <a:avLst/>
          </a:prstGeom>
          <a:noFill/>
          <a:ln/>
        </p:spPr>
        <p:txBody>
          <a:bodyPr wrap="square" lIns="0" tIns="0" rIns="0" bIns="0" rtlCol="0" anchor="ctr"/>
          <a:lstStyle/>
          <a:p>
            <a:pPr indent="0" marL="0">
              <a:buNone/>
            </a:pPr>
            <a:r>
              <a:rPr lang="en-US" sz="1200" b="1" spc="200" kern="0" dirty="0">
                <a:solidFill>
                  <a:srgbClr val="1E7F4F"/>
                </a:solidFill>
                <a:latin typeface="Calibri" pitchFamily="34" charset="0"/>
                <a:ea typeface="Calibri" pitchFamily="34" charset="-122"/>
                <a:cs typeface="Calibri" pitchFamily="34" charset="-120"/>
              </a:rPr>
              <a:t>DONE WHEN</a:t>
            </a:r>
            <a:endParaRPr lang="en-US" sz="1200" dirty="0"/>
          </a:p>
        </p:txBody>
      </p:sp>
      <p:sp>
        <p:nvSpPr>
          <p:cNvPr id="19" name="Text 15"/>
          <p:cNvSpPr txBox="1"/>
          <p:nvPr/>
        </p:nvSpPr>
        <p:spPr>
          <a:xfrm>
            <a:off x="6949440" y="4645152"/>
            <a:ext cx="4419295" cy="1362456"/>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1786 gives the output on the right</a:t>
            </a:r>
            <a:endParaRPr lang="en-US" sz="1700" dirty="0"/>
          </a:p>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The six numbers multiplied by their piece values add up to the amount</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BEFORE YOU LEAVE</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Done for today when all of this is true</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1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17</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8" name="Shape 4"/>
          <p:cNvSpPr/>
          <p:nvPr/>
        </p:nvSpPr>
        <p:spPr>
          <a:xfrm>
            <a:off x="548640" y="1600200"/>
            <a:ext cx="5364328" cy="740664"/>
          </a:xfrm>
          <a:prstGeom prst="roundRect">
            <a:avLst>
              <a:gd name="adj" fmla="val 14815"/>
            </a:avLst>
          </a:prstGeom>
          <a:solidFill>
            <a:srgbClr val="F3F4F6"/>
          </a:solidFill>
          <a:ln w="12700">
            <a:solidFill>
              <a:srgbClr val="F3F4F6"/>
            </a:solidFill>
            <a:prstDash val="solid"/>
          </a:ln>
        </p:spPr>
      </p:sp>
      <p:sp>
        <p:nvSpPr>
          <p:cNvPr id="9" name="Shape 5"/>
          <p:cNvSpPr/>
          <p:nvPr/>
        </p:nvSpPr>
        <p:spPr>
          <a:xfrm>
            <a:off x="777240" y="1815084"/>
            <a:ext cx="310896" cy="310896"/>
          </a:xfrm>
          <a:prstGeom prst="roundRect">
            <a:avLst>
              <a:gd name="adj" fmla="val 14706"/>
            </a:avLst>
          </a:prstGeom>
          <a:solidFill>
            <a:srgbClr val="FFFFFF"/>
          </a:solidFill>
          <a:ln w="19050">
            <a:solidFill>
              <a:srgbClr val="5B6470"/>
            </a:solidFill>
            <a:prstDash val="solid"/>
          </a:ln>
        </p:spPr>
      </p:sp>
      <p:sp>
        <p:nvSpPr>
          <p:cNvPr id="10" name="Text 6"/>
          <p:cNvSpPr txBox="1"/>
          <p:nvPr/>
        </p:nvSpPr>
        <p:spPr>
          <a:xfrm>
            <a:off x="1325880" y="1600200"/>
            <a:ext cx="4404208"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java -version shows 25 on your computer</a:t>
            </a:r>
            <a:endParaRPr lang="en-US" sz="1600" dirty="0"/>
          </a:p>
        </p:txBody>
      </p:sp>
      <p:sp>
        <p:nvSpPr>
          <p:cNvPr id="11" name="Shape 7"/>
          <p:cNvSpPr/>
          <p:nvPr/>
        </p:nvSpPr>
        <p:spPr>
          <a:xfrm>
            <a:off x="548640" y="2468880"/>
            <a:ext cx="5364328" cy="740664"/>
          </a:xfrm>
          <a:prstGeom prst="roundRect">
            <a:avLst>
              <a:gd name="adj" fmla="val 14815"/>
            </a:avLst>
          </a:prstGeom>
          <a:solidFill>
            <a:srgbClr val="F3F4F6"/>
          </a:solidFill>
          <a:ln w="12700">
            <a:solidFill>
              <a:srgbClr val="F3F4F6"/>
            </a:solidFill>
            <a:prstDash val="solid"/>
          </a:ln>
        </p:spPr>
      </p:sp>
      <p:sp>
        <p:nvSpPr>
          <p:cNvPr id="12" name="Shape 8"/>
          <p:cNvSpPr/>
          <p:nvPr/>
        </p:nvSpPr>
        <p:spPr>
          <a:xfrm>
            <a:off x="777240" y="2683764"/>
            <a:ext cx="310896" cy="310896"/>
          </a:xfrm>
          <a:prstGeom prst="roundRect">
            <a:avLst>
              <a:gd name="adj" fmla="val 14706"/>
            </a:avLst>
          </a:prstGeom>
          <a:solidFill>
            <a:srgbClr val="FFFFFF"/>
          </a:solidFill>
          <a:ln w="19050">
            <a:solidFill>
              <a:srgbClr val="5B6470"/>
            </a:solidFill>
            <a:prstDash val="solid"/>
          </a:ln>
        </p:spPr>
      </p:sp>
      <p:sp>
        <p:nvSpPr>
          <p:cNvPr id="13" name="Text 9"/>
          <p:cNvSpPr txBox="1"/>
          <p:nvPr/>
        </p:nvSpPr>
        <p:spPr>
          <a:xfrm>
            <a:off x="1325880" y="2468880"/>
            <a:ext cx="4404208"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Hello runs from the terminal and from the IDE</a:t>
            </a:r>
            <a:endParaRPr lang="en-US" sz="1600" dirty="0"/>
          </a:p>
        </p:txBody>
      </p:sp>
      <p:sp>
        <p:nvSpPr>
          <p:cNvPr id="14" name="Shape 10"/>
          <p:cNvSpPr/>
          <p:nvPr/>
        </p:nvSpPr>
        <p:spPr>
          <a:xfrm>
            <a:off x="548640" y="3337560"/>
            <a:ext cx="5364328" cy="740664"/>
          </a:xfrm>
          <a:prstGeom prst="roundRect">
            <a:avLst>
              <a:gd name="adj" fmla="val 14815"/>
            </a:avLst>
          </a:prstGeom>
          <a:solidFill>
            <a:srgbClr val="F3F4F6"/>
          </a:solidFill>
          <a:ln w="12700">
            <a:solidFill>
              <a:srgbClr val="F3F4F6"/>
            </a:solidFill>
            <a:prstDash val="solid"/>
          </a:ln>
        </p:spPr>
      </p:sp>
      <p:sp>
        <p:nvSpPr>
          <p:cNvPr id="15" name="Shape 11"/>
          <p:cNvSpPr/>
          <p:nvPr/>
        </p:nvSpPr>
        <p:spPr>
          <a:xfrm>
            <a:off x="777240" y="3552444"/>
            <a:ext cx="310896" cy="310896"/>
          </a:xfrm>
          <a:prstGeom prst="roundRect">
            <a:avLst>
              <a:gd name="adj" fmla="val 14706"/>
            </a:avLst>
          </a:prstGeom>
          <a:solidFill>
            <a:srgbClr val="FFFFFF"/>
          </a:solidFill>
          <a:ln w="19050">
            <a:solidFill>
              <a:srgbClr val="5B6470"/>
            </a:solidFill>
            <a:prstDash val="solid"/>
          </a:ln>
        </p:spPr>
      </p:sp>
      <p:sp>
        <p:nvSpPr>
          <p:cNvPr id="16" name="Text 12"/>
          <p:cNvSpPr txBox="1"/>
          <p:nvPr/>
        </p:nvSpPr>
        <p:spPr>
          <a:xfrm>
            <a:off x="1325880" y="3337560"/>
            <a:ext cx="4404208"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Tasks 3, 4 and 5 are solved and committed</a:t>
            </a:r>
            <a:endParaRPr lang="en-US" sz="1600" dirty="0"/>
          </a:p>
        </p:txBody>
      </p:sp>
      <p:sp>
        <p:nvSpPr>
          <p:cNvPr id="17" name="Shape 13"/>
          <p:cNvSpPr/>
          <p:nvPr/>
        </p:nvSpPr>
        <p:spPr>
          <a:xfrm>
            <a:off x="6278728" y="1600200"/>
            <a:ext cx="5364328" cy="740664"/>
          </a:xfrm>
          <a:prstGeom prst="roundRect">
            <a:avLst>
              <a:gd name="adj" fmla="val 14815"/>
            </a:avLst>
          </a:prstGeom>
          <a:solidFill>
            <a:srgbClr val="F3F4F6"/>
          </a:solidFill>
          <a:ln w="12700">
            <a:solidFill>
              <a:srgbClr val="F3F4F6"/>
            </a:solidFill>
            <a:prstDash val="solid"/>
          </a:ln>
        </p:spPr>
      </p:sp>
      <p:sp>
        <p:nvSpPr>
          <p:cNvPr id="18" name="Shape 14"/>
          <p:cNvSpPr/>
          <p:nvPr/>
        </p:nvSpPr>
        <p:spPr>
          <a:xfrm>
            <a:off x="6507328" y="1815084"/>
            <a:ext cx="310896" cy="310896"/>
          </a:xfrm>
          <a:prstGeom prst="roundRect">
            <a:avLst>
              <a:gd name="adj" fmla="val 14706"/>
            </a:avLst>
          </a:prstGeom>
          <a:solidFill>
            <a:srgbClr val="FFFFFF"/>
          </a:solidFill>
          <a:ln w="19050">
            <a:solidFill>
              <a:srgbClr val="5B6470"/>
            </a:solidFill>
            <a:prstDash val="solid"/>
          </a:ln>
        </p:spPr>
      </p:sp>
      <p:sp>
        <p:nvSpPr>
          <p:cNvPr id="19" name="Text 15"/>
          <p:cNvSpPr txBox="1"/>
          <p:nvPr/>
        </p:nvSpPr>
        <p:spPr>
          <a:xfrm>
            <a:off x="7055968" y="1600200"/>
            <a:ext cx="4404208"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Every commit has a message that says what changed</a:t>
            </a:r>
            <a:endParaRPr lang="en-US" sz="1600" dirty="0"/>
          </a:p>
        </p:txBody>
      </p:sp>
      <p:sp>
        <p:nvSpPr>
          <p:cNvPr id="20" name="Shape 16"/>
          <p:cNvSpPr/>
          <p:nvPr/>
        </p:nvSpPr>
        <p:spPr>
          <a:xfrm>
            <a:off x="6278728" y="2468880"/>
            <a:ext cx="5364328" cy="740664"/>
          </a:xfrm>
          <a:prstGeom prst="roundRect">
            <a:avLst>
              <a:gd name="adj" fmla="val 14815"/>
            </a:avLst>
          </a:prstGeom>
          <a:solidFill>
            <a:srgbClr val="F3F4F6"/>
          </a:solidFill>
          <a:ln w="12700">
            <a:solidFill>
              <a:srgbClr val="F3F4F6"/>
            </a:solidFill>
            <a:prstDash val="solid"/>
          </a:ln>
        </p:spPr>
      </p:sp>
      <p:sp>
        <p:nvSpPr>
          <p:cNvPr id="21" name="Shape 17"/>
          <p:cNvSpPr/>
          <p:nvPr/>
        </p:nvSpPr>
        <p:spPr>
          <a:xfrm>
            <a:off x="6507328" y="2683764"/>
            <a:ext cx="310896" cy="310896"/>
          </a:xfrm>
          <a:prstGeom prst="roundRect">
            <a:avLst>
              <a:gd name="adj" fmla="val 14706"/>
            </a:avLst>
          </a:prstGeom>
          <a:solidFill>
            <a:srgbClr val="FFFFFF"/>
          </a:solidFill>
          <a:ln w="19050">
            <a:solidFill>
              <a:srgbClr val="5B6470"/>
            </a:solidFill>
            <a:prstDash val="solid"/>
          </a:ln>
        </p:spPr>
      </p:sp>
      <p:sp>
        <p:nvSpPr>
          <p:cNvPr id="22" name="Text 18"/>
          <p:cNvSpPr txBox="1"/>
          <p:nvPr/>
        </p:nvSpPr>
        <p:spPr>
          <a:xfrm>
            <a:off x="7055968" y="2468880"/>
            <a:ext cx="4404208"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git push is done, and you checked it on github.com</a:t>
            </a:r>
            <a:endParaRPr lang="en-US" sz="1600" dirty="0"/>
          </a:p>
        </p:txBody>
      </p:sp>
      <p:sp>
        <p:nvSpPr>
          <p:cNvPr id="23" name="Shape 19"/>
          <p:cNvSpPr/>
          <p:nvPr/>
        </p:nvSpPr>
        <p:spPr>
          <a:xfrm>
            <a:off x="6278728" y="3337560"/>
            <a:ext cx="5364328" cy="740664"/>
          </a:xfrm>
          <a:prstGeom prst="roundRect">
            <a:avLst>
              <a:gd name="adj" fmla="val 14815"/>
            </a:avLst>
          </a:prstGeom>
          <a:solidFill>
            <a:srgbClr val="F3F4F6"/>
          </a:solidFill>
          <a:ln w="12700">
            <a:solidFill>
              <a:srgbClr val="F3F4F6"/>
            </a:solidFill>
            <a:prstDash val="solid"/>
          </a:ln>
        </p:spPr>
      </p:sp>
      <p:sp>
        <p:nvSpPr>
          <p:cNvPr id="24" name="Shape 20"/>
          <p:cNvSpPr/>
          <p:nvPr/>
        </p:nvSpPr>
        <p:spPr>
          <a:xfrm>
            <a:off x="6507328" y="3552444"/>
            <a:ext cx="310896" cy="310896"/>
          </a:xfrm>
          <a:prstGeom prst="roundRect">
            <a:avLst>
              <a:gd name="adj" fmla="val 14706"/>
            </a:avLst>
          </a:prstGeom>
          <a:solidFill>
            <a:srgbClr val="FFFFFF"/>
          </a:solidFill>
          <a:ln w="19050">
            <a:solidFill>
              <a:srgbClr val="5B6470"/>
            </a:solidFill>
            <a:prstDash val="solid"/>
          </a:ln>
        </p:spPr>
      </p:sp>
      <p:sp>
        <p:nvSpPr>
          <p:cNvPr id="25" name="Text 21"/>
          <p:cNvSpPr txBox="1"/>
          <p:nvPr/>
        </p:nvSpPr>
        <p:spPr>
          <a:xfrm>
            <a:off x="7055968" y="3337560"/>
            <a:ext cx="4404208"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Ivana and Dejan are collaborators on your repository</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62B33"/>
        </a:solidFill>
      </p:bgPr>
    </p:bg>
    <p:spTree>
      <p:nvGrpSpPr>
        <p:cNvPr id="1" name=""/>
        <p:cNvGrpSpPr/>
        <p:nvPr/>
      </p:nvGrpSpPr>
      <p:grpSpPr>
        <a:xfrm>
          <a:off x="0" y="0"/>
          <a:ext cx="0" cy="0"/>
          <a:chOff x="0" y="0"/>
          <a:chExt cx="0" cy="0"/>
        </a:xfrm>
      </p:grpSpPr>
      <p:sp>
        <p:nvSpPr>
          <p:cNvPr id="2" name="Text 0"/>
          <p:cNvSpPr txBox="1"/>
          <p:nvPr/>
        </p:nvSpPr>
        <p:spPr>
          <a:xfrm>
            <a:off x="731520" y="685800"/>
            <a:ext cx="7315200" cy="320040"/>
          </a:xfrm>
          <a:prstGeom prst="rect">
            <a:avLst/>
          </a:prstGeom>
          <a:noFill/>
          <a:ln/>
        </p:spPr>
        <p:txBody>
          <a:bodyPr wrap="square" lIns="0" tIns="0" rIns="0" bIns="0" rtlCol="0" anchor="ctr"/>
          <a:lstStyle/>
          <a:p>
            <a:pPr indent="0" marL="0">
              <a:buNone/>
            </a:pPr>
            <a:r>
              <a:rPr lang="en-US" sz="1400" b="1" spc="300" kern="0" dirty="0">
                <a:solidFill>
                  <a:srgbClr val="FFFFFF"/>
                </a:solidFill>
                <a:latin typeface="Calibri" pitchFamily="34" charset="0"/>
                <a:ea typeface="Calibri" pitchFamily="34" charset="-122"/>
                <a:cs typeface="Calibri" pitchFamily="34" charset="-120"/>
              </a:rPr>
              <a:t>WRAP UP</a:t>
            </a:r>
            <a:endParaRPr lang="en-US" sz="1400" dirty="0"/>
          </a:p>
        </p:txBody>
      </p:sp>
      <p:sp>
        <p:nvSpPr>
          <p:cNvPr id="3" name="Text 1"/>
          <p:cNvSpPr txBox="1"/>
          <p:nvPr/>
        </p:nvSpPr>
        <p:spPr>
          <a:xfrm>
            <a:off x="731520" y="1051560"/>
            <a:ext cx="1005840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What you can do now</a:t>
            </a:r>
            <a:endParaRPr lang="en-US" sz="3400" dirty="0"/>
          </a:p>
        </p:txBody>
      </p:sp>
      <p:sp>
        <p:nvSpPr>
          <p:cNvPr id="4" name="Shape 2"/>
          <p:cNvSpPr/>
          <p:nvPr/>
        </p:nvSpPr>
        <p:spPr>
          <a:xfrm>
            <a:off x="731520" y="2093976"/>
            <a:ext cx="420624" cy="420624"/>
          </a:xfrm>
          <a:prstGeom prst="ellipse">
            <a:avLst/>
          </a:prstGeom>
          <a:solidFill>
            <a:srgbClr val="FFFFFF"/>
          </a:solidFill>
          <a:ln w="12700">
            <a:solidFill>
              <a:srgbClr val="FFFFFF"/>
            </a:solidFill>
            <a:prstDash val="solid"/>
          </a:ln>
        </p:spPr>
      </p:sp>
      <p:sp>
        <p:nvSpPr>
          <p:cNvPr id="5" name="Text 3"/>
          <p:cNvSpPr txBox="1"/>
          <p:nvPr/>
        </p:nvSpPr>
        <p:spPr>
          <a:xfrm>
            <a:off x="731520" y="2093976"/>
            <a:ext cx="420624" cy="420624"/>
          </a:xfrm>
          <a:prstGeom prst="rect">
            <a:avLst/>
          </a:prstGeom>
          <a:noFill/>
          <a:ln/>
        </p:spPr>
        <p:txBody>
          <a:bodyPr wrap="square" lIns="0" tIns="0" rIns="0" bIns="0" rtlCol="0" anchor="ctr"/>
          <a:lstStyle/>
          <a:p>
            <a:pPr algn="ctr" indent="0" marL="0">
              <a:buNone/>
            </a:pPr>
            <a:r>
              <a:rPr lang="en-US" sz="1400" b="1" dirty="0">
                <a:solidFill>
                  <a:srgbClr val="262B33"/>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371600" y="2057400"/>
            <a:ext cx="10149840" cy="603504"/>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Run a Java program from the terminal and from IntelliJ IDEA.</a:t>
            </a:r>
            <a:endParaRPr lang="en-US" sz="1900" dirty="0"/>
          </a:p>
        </p:txBody>
      </p:sp>
      <p:sp>
        <p:nvSpPr>
          <p:cNvPr id="7" name="Shape 5"/>
          <p:cNvSpPr/>
          <p:nvPr/>
        </p:nvSpPr>
        <p:spPr>
          <a:xfrm>
            <a:off x="731520" y="2752344"/>
            <a:ext cx="420624" cy="420624"/>
          </a:xfrm>
          <a:prstGeom prst="ellipse">
            <a:avLst/>
          </a:prstGeom>
          <a:solidFill>
            <a:srgbClr val="FFFFFF"/>
          </a:solidFill>
          <a:ln w="12700">
            <a:solidFill>
              <a:srgbClr val="FFFFFF"/>
            </a:solidFill>
            <a:prstDash val="solid"/>
          </a:ln>
        </p:spPr>
      </p:sp>
      <p:sp>
        <p:nvSpPr>
          <p:cNvPr id="8" name="Text 6"/>
          <p:cNvSpPr txBox="1"/>
          <p:nvPr/>
        </p:nvSpPr>
        <p:spPr>
          <a:xfrm>
            <a:off x="731520" y="2752344"/>
            <a:ext cx="420624" cy="420624"/>
          </a:xfrm>
          <a:prstGeom prst="rect">
            <a:avLst/>
          </a:prstGeom>
          <a:noFill/>
          <a:ln/>
        </p:spPr>
        <p:txBody>
          <a:bodyPr wrap="square" lIns="0" tIns="0" rIns="0" bIns="0" rtlCol="0" anchor="ctr"/>
          <a:lstStyle/>
          <a:p>
            <a:pPr algn="ctr" indent="0" marL="0">
              <a:buNone/>
            </a:pPr>
            <a:r>
              <a:rPr lang="en-US" sz="1400" b="1" dirty="0">
                <a:solidFill>
                  <a:srgbClr val="262B33"/>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371600" y="2715768"/>
            <a:ext cx="10149840" cy="603504"/>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Read input, convert it to a number, calculate and print.</a:t>
            </a:r>
            <a:endParaRPr lang="en-US" sz="1900" dirty="0"/>
          </a:p>
        </p:txBody>
      </p:sp>
      <p:sp>
        <p:nvSpPr>
          <p:cNvPr id="10" name="Shape 8"/>
          <p:cNvSpPr/>
          <p:nvPr/>
        </p:nvSpPr>
        <p:spPr>
          <a:xfrm>
            <a:off x="731520" y="3410712"/>
            <a:ext cx="420624" cy="420624"/>
          </a:xfrm>
          <a:prstGeom prst="ellipse">
            <a:avLst/>
          </a:prstGeom>
          <a:solidFill>
            <a:srgbClr val="FFFFFF"/>
          </a:solidFill>
          <a:ln w="12700">
            <a:solidFill>
              <a:srgbClr val="FFFFFF"/>
            </a:solidFill>
            <a:prstDash val="solid"/>
          </a:ln>
        </p:spPr>
      </p:sp>
      <p:sp>
        <p:nvSpPr>
          <p:cNvPr id="11" name="Text 9"/>
          <p:cNvSpPr txBox="1"/>
          <p:nvPr/>
        </p:nvSpPr>
        <p:spPr>
          <a:xfrm>
            <a:off x="731520" y="3410712"/>
            <a:ext cx="420624" cy="420624"/>
          </a:xfrm>
          <a:prstGeom prst="rect">
            <a:avLst/>
          </a:prstGeom>
          <a:noFill/>
          <a:ln/>
        </p:spPr>
        <p:txBody>
          <a:bodyPr wrap="square" lIns="0" tIns="0" rIns="0" bIns="0" rtlCol="0" anchor="ctr"/>
          <a:lstStyle/>
          <a:p>
            <a:pPr algn="ctr" indent="0" marL="0">
              <a:buNone/>
            </a:pPr>
            <a:r>
              <a:rPr lang="en-US" sz="1400" b="1" dirty="0">
                <a:solidFill>
                  <a:srgbClr val="262B33"/>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371600" y="3374136"/>
            <a:ext cx="10149840" cy="603504"/>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Use / and % on whole numbers without surprises.</a:t>
            </a:r>
            <a:endParaRPr lang="en-US" sz="1900" dirty="0"/>
          </a:p>
        </p:txBody>
      </p:sp>
      <p:sp>
        <p:nvSpPr>
          <p:cNvPr id="13" name="Shape 11"/>
          <p:cNvSpPr/>
          <p:nvPr/>
        </p:nvSpPr>
        <p:spPr>
          <a:xfrm>
            <a:off x="731520" y="4069080"/>
            <a:ext cx="420624" cy="420624"/>
          </a:xfrm>
          <a:prstGeom prst="ellipse">
            <a:avLst/>
          </a:prstGeom>
          <a:solidFill>
            <a:srgbClr val="FFFFFF"/>
          </a:solidFill>
          <a:ln w="12700">
            <a:solidFill>
              <a:srgbClr val="FFFFFF"/>
            </a:solidFill>
            <a:prstDash val="solid"/>
          </a:ln>
        </p:spPr>
      </p:sp>
      <p:sp>
        <p:nvSpPr>
          <p:cNvPr id="14" name="Text 12"/>
          <p:cNvSpPr txBox="1"/>
          <p:nvPr/>
        </p:nvSpPr>
        <p:spPr>
          <a:xfrm>
            <a:off x="731520" y="4069080"/>
            <a:ext cx="420624" cy="420624"/>
          </a:xfrm>
          <a:prstGeom prst="rect">
            <a:avLst/>
          </a:prstGeom>
          <a:noFill/>
          <a:ln/>
        </p:spPr>
        <p:txBody>
          <a:bodyPr wrap="square" lIns="0" tIns="0" rIns="0" bIns="0" rtlCol="0" anchor="ctr"/>
          <a:lstStyle/>
          <a:p>
            <a:pPr algn="ctr" indent="0" marL="0">
              <a:buNone/>
            </a:pPr>
            <a:r>
              <a:rPr lang="en-US" sz="1400" b="1" dirty="0">
                <a:solidFill>
                  <a:srgbClr val="262B33"/>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1371600" y="4032504"/>
            <a:ext cx="10149840" cy="603504"/>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Stop a program at a breakpoint and read its variables.</a:t>
            </a:r>
            <a:endParaRPr lang="en-US" sz="1900" dirty="0"/>
          </a:p>
        </p:txBody>
      </p:sp>
      <p:sp>
        <p:nvSpPr>
          <p:cNvPr id="16" name="Shape 14"/>
          <p:cNvSpPr/>
          <p:nvPr/>
        </p:nvSpPr>
        <p:spPr>
          <a:xfrm>
            <a:off x="731520" y="4727448"/>
            <a:ext cx="420624" cy="420624"/>
          </a:xfrm>
          <a:prstGeom prst="ellipse">
            <a:avLst/>
          </a:prstGeom>
          <a:solidFill>
            <a:srgbClr val="FFFFFF"/>
          </a:solidFill>
          <a:ln w="12700">
            <a:solidFill>
              <a:srgbClr val="FFFFFF"/>
            </a:solidFill>
            <a:prstDash val="solid"/>
          </a:ln>
        </p:spPr>
      </p:sp>
      <p:sp>
        <p:nvSpPr>
          <p:cNvPr id="17" name="Text 15"/>
          <p:cNvSpPr txBox="1"/>
          <p:nvPr/>
        </p:nvSpPr>
        <p:spPr>
          <a:xfrm>
            <a:off x="731520" y="4727448"/>
            <a:ext cx="420624" cy="420624"/>
          </a:xfrm>
          <a:prstGeom prst="rect">
            <a:avLst/>
          </a:prstGeom>
          <a:noFill/>
          <a:ln/>
        </p:spPr>
        <p:txBody>
          <a:bodyPr wrap="square" lIns="0" tIns="0" rIns="0" bIns="0" rtlCol="0" anchor="ctr"/>
          <a:lstStyle/>
          <a:p>
            <a:pPr algn="ctr" indent="0" marL="0">
              <a:buNone/>
            </a:pPr>
            <a:r>
              <a:rPr lang="en-US" sz="1400" b="1" dirty="0">
                <a:solidFill>
                  <a:srgbClr val="262B33"/>
                </a:solidFill>
                <a:latin typeface="Calibri" pitchFamily="34" charset="0"/>
                <a:ea typeface="Calibri" pitchFamily="34" charset="-122"/>
                <a:cs typeface="Calibri" pitchFamily="34" charset="-120"/>
              </a:rPr>
              <a:t>5</a:t>
            </a:r>
            <a:endParaRPr lang="en-US" sz="1400" dirty="0"/>
          </a:p>
        </p:txBody>
      </p:sp>
      <p:sp>
        <p:nvSpPr>
          <p:cNvPr id="18" name="Text 16"/>
          <p:cNvSpPr txBox="1"/>
          <p:nvPr/>
        </p:nvSpPr>
        <p:spPr>
          <a:xfrm>
            <a:off x="1371600" y="4690872"/>
            <a:ext cx="10149840" cy="603504"/>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Save your work with add, commit and push.</a:t>
            </a:r>
            <a:endParaRPr lang="en-US" sz="1900" dirty="0"/>
          </a:p>
        </p:txBody>
      </p:sp>
      <p:sp>
        <p:nvSpPr>
          <p:cNvPr id="19" name="Shape 17"/>
          <p:cNvSpPr/>
          <p:nvPr/>
        </p:nvSpPr>
        <p:spPr>
          <a:xfrm>
            <a:off x="731520" y="5486400"/>
            <a:ext cx="10728655" cy="640080"/>
          </a:xfrm>
          <a:prstGeom prst="roundRect">
            <a:avLst>
              <a:gd name="adj" fmla="val 17143"/>
            </a:avLst>
          </a:prstGeom>
          <a:solidFill>
            <a:srgbClr val="FFFFFF"/>
          </a:solidFill>
          <a:ln w="12700">
            <a:solidFill>
              <a:srgbClr val="FFFFFF"/>
            </a:solidFill>
            <a:prstDash val="solid"/>
          </a:ln>
        </p:spPr>
      </p:sp>
      <p:sp>
        <p:nvSpPr>
          <p:cNvPr id="20" name="Text 18"/>
          <p:cNvSpPr txBox="1"/>
          <p:nvPr/>
        </p:nvSpPr>
        <p:spPr>
          <a:xfrm>
            <a:off x="960120" y="5486400"/>
            <a:ext cx="10271455" cy="640080"/>
          </a:xfrm>
          <a:prstGeom prst="rect">
            <a:avLst/>
          </a:prstGeom>
          <a:noFill/>
          <a:ln/>
        </p:spPr>
        <p:txBody>
          <a:bodyPr wrap="square" lIns="0" tIns="0" rIns="0" bIns="0" rtlCol="0" anchor="ctr">
            <a:normAutofit/>
          </a:bodyPr>
          <a:lstStyle/>
          <a:p>
            <a:pPr indent="0" marL="0">
              <a:buNone/>
            </a:pPr>
            <a:r>
              <a:rPr lang="en-US" sz="1600" b="1" dirty="0">
                <a:solidFill>
                  <a:srgbClr val="262B33"/>
                </a:solidFill>
                <a:latin typeface="Calibri" pitchFamily="34" charset="0"/>
                <a:ea typeface="Calibri" pitchFamily="34" charset="-122"/>
                <a:cs typeface="Calibri" pitchFamily="34" charset="-120"/>
              </a:rPr>
              <a:t>Next week:  </a:t>
            </a:r>
            <a:pPr indent="0" marL="0">
              <a:buNone/>
            </a:pPr>
            <a:r>
              <a:rPr lang="en-US" sz="1600" dirty="0">
                <a:solidFill>
                  <a:srgbClr val="1F2328"/>
                </a:solidFill>
                <a:latin typeface="Calibri" pitchFamily="34" charset="0"/>
                <a:ea typeface="Calibri" pitchFamily="34" charset="-122"/>
                <a:cs typeface="Calibri" pitchFamily="34" charset="-120"/>
              </a:rPr>
              <a:t>Loops and arrays. The tasks arrive as failing tests, and you make them pass.</a:t>
            </a:r>
            <a:endParaRPr lang="en-US" sz="1600" dirty="0"/>
          </a:p>
        </p:txBody>
      </p:sp>
      <p:sp>
        <p:nvSpPr>
          <p:cNvPr id="21" name="Text 19"/>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CSCI 2430 Programming Languages  ·  Week 1  ·  Lab</a:t>
            </a:r>
            <a:endParaRPr lang="en-US" sz="1050" dirty="0"/>
          </a:p>
        </p:txBody>
      </p:sp>
      <p:sp>
        <p:nvSpPr>
          <p:cNvPr id="22" name="Text 20"/>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FFFFFF"/>
                </a:solidFill>
                <a:latin typeface="Calibri" pitchFamily="34" charset="0"/>
                <a:ea typeface="Calibri" pitchFamily="34" charset="-122"/>
                <a:cs typeface="Calibri" pitchFamily="34" charset="-120"/>
              </a:rPr>
              <a:t>18</a:t>
            </a:r>
            <a:endParaRPr lang="en-US" sz="1050" dirty="0"/>
          </a:p>
        </p:txBody>
      </p:sp>
      <p:pic>
        <p:nvPicPr>
          <p:cNvPr id="23" name="Image 0" descr="/home/claude/decks/assets/logo-white-small.png">    </p:cNvPr>
          <p:cNvPicPr>
            <a:picLocks noChangeAspect="1"/>
          </p:cNvPicPr>
          <p:nvPr/>
        </p:nvPicPr>
        <p:blipFill>
          <a:blip r:embed="rId1"/>
          <a:stretch>
            <a:fillRect/>
          </a:stretch>
        </p:blipFill>
        <p:spPr>
          <a:xfrm>
            <a:off x="10518343" y="6291172"/>
            <a:ext cx="1124712" cy="4113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University American College Skopje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Lab: First program, first push, first bug</dc:title>
  <dc:subject>PptxGenJS Presentation</dc:subject>
  <dc:creator>Dejan Mitov</dc:creator>
  <cp:lastModifiedBy>Dejan Mitov</cp:lastModifiedBy>
  <cp:revision>1</cp:revision>
  <dcterms:created xsi:type="dcterms:W3CDTF">2026-09-20T20:05:25Z</dcterms:created>
  <dcterms:modified xsi:type="dcterms:W3CDTF">2026-09-20T20:05:25Z</dcterms:modified>
</cp:coreProperties>
</file>