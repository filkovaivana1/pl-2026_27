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Ivana. The starter does not compile until PrintedBook exists (Task 1), as in the weeks before. With the reference solution 12 of 12 tests are green. With the starter plus a correct PrintedBook, 6 are green and 6 are red. The last ten minutes are for the midterm information on the last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MUST COVER: the lab of this week depends on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test is the interesting one: an empty title becomes Untitled and an impossible year is refused, although PrintedBook contains no such rule. The rules are inherited through the constructor of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 student forgets @Override and misspells sizeInfo, the class compiles and the test shows a question mark as the size: the starter version of Book answers. This is the OverrideTypo prediction from the lecture in real life.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label() idea from the lecture: a finished method in the abstract class calls abstract methods, and each subclass fills the gap. The test task3_bookIsAbstract asks Java through reflection whether the class is abstract. The students do not need to understand that line yet, reflection is the topic of week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MUST COVER: the lab of this week depends on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to the last question: Library was written against the type Book. Every subclass is a Book, so addBook, findBooks and contains work for all of them. This is the benefit of inheritance that the students should take home.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rules follow the syllabus: paper assignment, GitHub submission shared with the instructor, presentation of about five minutes to verify authorship. Please adjust the list of allowed tools to what you and Dejan decide.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7589520" cy="6858000"/>
          </a:xfrm>
          <a:prstGeom prst="rect">
            <a:avLst/>
          </a:prstGeom>
          <a:solidFill>
            <a:srgbClr val="262B33"/>
          </a:solidFill>
          <a:ln w="12700">
            <a:solidFill>
              <a:srgbClr val="262B33"/>
            </a:solidFill>
            <a:prstDash val="solid"/>
          </a:ln>
        </p:spPr>
      </p:sp>
      <p:sp>
        <p:nvSpPr>
          <p:cNvPr id="3" name="Text 1"/>
          <p:cNvSpPr txBox="1"/>
          <p:nvPr/>
        </p:nvSpPr>
        <p:spPr>
          <a:xfrm>
            <a:off x="731520" y="1188720"/>
            <a:ext cx="6309360" cy="365760"/>
          </a:xfrm>
          <a:prstGeom prst="rect">
            <a:avLst/>
          </a:prstGeom>
          <a:noFill/>
          <a:ln/>
        </p:spPr>
        <p:txBody>
          <a:bodyPr wrap="square" lIns="0" tIns="0" rIns="0" bIns="0" rtlCol="0" anchor="ctr"/>
          <a:lstStyle/>
          <a:p>
            <a:pPr indent="0" marL="0">
              <a:buNone/>
            </a:pPr>
            <a:r>
              <a:rPr lang="en-US" sz="1600" b="1" spc="300" kern="0" dirty="0">
                <a:solidFill>
                  <a:srgbClr val="FFFFFF"/>
                </a:solidFill>
                <a:latin typeface="Calibri" pitchFamily="34" charset="0"/>
                <a:ea typeface="Calibri" pitchFamily="34" charset="-122"/>
                <a:cs typeface="Calibri" pitchFamily="34" charset="-120"/>
              </a:rPr>
              <a:t>WEEK 5  ·  LAB</a:t>
            </a:r>
            <a:endParaRPr lang="en-US" sz="1600" dirty="0"/>
          </a:p>
        </p:txBody>
      </p:sp>
      <p:sp>
        <p:nvSpPr>
          <p:cNvPr id="4" name="Text 2"/>
          <p:cNvSpPr txBox="1"/>
          <p:nvPr/>
        </p:nvSpPr>
        <p:spPr>
          <a:xfrm>
            <a:off x="731520" y="1737360"/>
            <a:ext cx="6309360" cy="2377440"/>
          </a:xfrm>
          <a:prstGeom prst="rect">
            <a:avLst/>
          </a:prstGeom>
          <a:noFill/>
          <a:ln/>
        </p:spPr>
        <p:txBody>
          <a:bodyPr wrap="square" lIns="0" tIns="0" rIns="0" bIns="0" rtlCol="0" anchor="t">
            <a:normAutofit/>
          </a:bodyPr>
          <a:lstStyle/>
          <a:p>
            <a:pPr indent="0" marL="0">
              <a:buNone/>
            </a:pPr>
            <a:r>
              <a:rPr lang="en-US" sz="4400" b="1" dirty="0">
                <a:solidFill>
                  <a:srgbClr val="FFFFFF"/>
                </a:solidFill>
                <a:latin typeface="Calibri" pitchFamily="34" charset="0"/>
                <a:ea typeface="Calibri" pitchFamily="34" charset="-122"/>
                <a:cs typeface="Calibri" pitchFamily="34" charset="-120"/>
              </a:rPr>
              <a:t>One book type becomes three</a:t>
            </a:r>
            <a:endParaRPr lang="en-US" sz="4400" dirty="0"/>
          </a:p>
        </p:txBody>
      </p:sp>
      <p:sp>
        <p:nvSpPr>
          <p:cNvPr id="5" name="Text 3"/>
          <p:cNvSpPr txBox="1"/>
          <p:nvPr/>
        </p:nvSpPr>
        <p:spPr>
          <a:xfrm>
            <a:off x="731520" y="3447288"/>
            <a:ext cx="6309360" cy="1097280"/>
          </a:xfrm>
          <a:prstGeom prst="rect">
            <a:avLst/>
          </a:prstGeom>
          <a:noFill/>
          <a:ln/>
        </p:spPr>
        <p:txBody>
          <a:bodyPr wrap="square" lIns="0" tIns="0" rIns="0" bIns="0" rtlCol="0" anchor="t"/>
          <a:lstStyle/>
          <a:p>
            <a:pPr indent="0" marL="0">
              <a:buNone/>
            </a:pPr>
            <a:r>
              <a:rPr lang="en-US" sz="2000" dirty="0">
                <a:solidFill>
                  <a:srgbClr val="FFFFFF"/>
                </a:solidFill>
                <a:latin typeface="Calibri" pitchFamily="34" charset="0"/>
                <a:ea typeface="Calibri" pitchFamily="34" charset="-122"/>
                <a:cs typeface="Calibri" pitchFamily="34" charset="-120"/>
              </a:rPr>
              <a:t>PrintedBook, EBook and AudioBook extend an abstract Book, and the library works with all of them at once</a:t>
            </a:r>
            <a:endParaRPr lang="en-US" sz="2000" dirty="0"/>
          </a:p>
        </p:txBody>
      </p:sp>
      <p:sp>
        <p:nvSpPr>
          <p:cNvPr id="6" name="Text 4"/>
          <p:cNvSpPr txBox="1"/>
          <p:nvPr/>
        </p:nvSpPr>
        <p:spPr>
          <a:xfrm>
            <a:off x="731520" y="5806440"/>
            <a:ext cx="6309360" cy="32004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Laboratory exercises: Ivana Filkova</a:t>
            </a:r>
            <a:endParaRPr lang="en-US" sz="1500" dirty="0"/>
          </a:p>
        </p:txBody>
      </p:sp>
      <p:pic>
        <p:nvPicPr>
          <p:cNvPr id="7" name="Image 0" descr="/home/claude/decks/assets/logo-color-md.png">    </p:cNvPr>
          <p:cNvPicPr>
            <a:picLocks noChangeAspect="1"/>
          </p:cNvPicPr>
          <p:nvPr/>
        </p:nvPicPr>
        <p:blipFill>
          <a:blip r:embed="rId1"/>
          <a:stretch>
            <a:fillRect/>
          </a:stretch>
        </p:blipFill>
        <p:spPr>
          <a:xfrm>
            <a:off x="8107528" y="1554480"/>
            <a:ext cx="3566160" cy="1304375"/>
          </a:xfrm>
          <a:prstGeom prst="rect">
            <a:avLst/>
          </a:prstGeom>
        </p:spPr>
      </p:pic>
      <p:sp>
        <p:nvSpPr>
          <p:cNvPr id="8" name="Text 5"/>
          <p:cNvSpPr txBox="1"/>
          <p:nvPr/>
        </p:nvSpPr>
        <p:spPr>
          <a:xfrm>
            <a:off x="7955280" y="3291840"/>
            <a:ext cx="3870655" cy="640080"/>
          </a:xfrm>
          <a:prstGeom prst="rect">
            <a:avLst/>
          </a:prstGeom>
          <a:noFill/>
          <a:ln/>
        </p:spPr>
        <p:txBody>
          <a:bodyPr wrap="square" lIns="0" tIns="0" rIns="0" bIns="0" rtlCol="0" anchor="ctr"/>
          <a:lstStyle/>
          <a:p>
            <a:pPr algn="ctr" indent="0" marL="0">
              <a:buNone/>
            </a:pPr>
            <a:r>
              <a:rPr lang="en-US" sz="1500" dirty="0">
                <a:solidFill>
                  <a:srgbClr val="1F2328"/>
                </a:solidFill>
                <a:latin typeface="Calibri" pitchFamily="34" charset="0"/>
                <a:ea typeface="Calibri" pitchFamily="34" charset="-122"/>
                <a:cs typeface="Calibri" pitchFamily="34" charset="-120"/>
              </a:rPr>
              <a:t>School of Computer Science and Information Technology</a:t>
            </a:r>
            <a:endParaRPr lang="en-US" sz="1500" dirty="0"/>
          </a:p>
        </p:txBody>
      </p:sp>
      <p:sp>
        <p:nvSpPr>
          <p:cNvPr id="9" name="Text 6"/>
          <p:cNvSpPr txBox="1"/>
          <p:nvPr/>
        </p:nvSpPr>
        <p:spPr>
          <a:xfrm>
            <a:off x="7955280" y="3977640"/>
            <a:ext cx="3870655" cy="365760"/>
          </a:xfrm>
          <a:prstGeom prst="rect">
            <a:avLst/>
          </a:prstGeom>
          <a:noFill/>
          <a:ln/>
        </p:spPr>
        <p:txBody>
          <a:bodyPr wrap="square" lIns="0" tIns="0" rIns="0" bIns="0" rtlCol="0" anchor="ctr"/>
          <a:lstStyle/>
          <a:p>
            <a:pPr algn="ctr" indent="0" marL="0">
              <a:buNone/>
            </a:pPr>
            <a:r>
              <a:rPr lang="en-US" sz="1500" b="1" dirty="0">
                <a:solidFill>
                  <a:srgbClr val="C6333B"/>
                </a:solidFill>
                <a:latin typeface="Calibri" pitchFamily="34" charset="0"/>
                <a:ea typeface="Calibri" pitchFamily="34" charset="-122"/>
                <a:cs typeface="Calibri" pitchFamily="34" charset="-120"/>
              </a:rPr>
              <a:t>Programming Languages  ·  CSCI 2430</a:t>
            </a:r>
            <a:endParaRPr lang="en-US" sz="1500" dirty="0"/>
          </a:p>
        </p:txBody>
      </p:sp>
      <p:sp>
        <p:nvSpPr>
          <p:cNvPr id="10" name="Text 7"/>
          <p:cNvSpPr txBox="1"/>
          <p:nvPr/>
        </p:nvSpPr>
        <p:spPr>
          <a:xfrm>
            <a:off x="7955280" y="4389120"/>
            <a:ext cx="3870655" cy="365760"/>
          </a:xfrm>
          <a:prstGeom prst="rect">
            <a:avLst/>
          </a:prstGeom>
          <a:noFill/>
          <a:ln/>
        </p:spPr>
        <p:txBody>
          <a:bodyPr wrap="square" lIns="0" tIns="0" rIns="0" bIns="0" rtlCol="0" anchor="ctr"/>
          <a:lstStyle/>
          <a:p>
            <a:pPr algn="ctr" indent="0" marL="0">
              <a:buNone/>
            </a:pPr>
            <a:r>
              <a:rPr lang="en-US" sz="1400" dirty="0">
                <a:solidFill>
                  <a:srgbClr val="5B6470"/>
                </a:solidFill>
                <a:latin typeface="Calibri" pitchFamily="34" charset="0"/>
                <a:ea typeface="Calibri" pitchFamily="34" charset="-122"/>
                <a:cs typeface="Calibri" pitchFamily="34" charset="-120"/>
              </a:rPr>
              <a:t>Academic year 2026/27</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56032"/>
          </a:xfrm>
          <a:prstGeom prst="rect">
            <a:avLst/>
          </a:prstGeom>
          <a:noFill/>
          <a:ln/>
        </p:spPr>
        <p:txBody>
          <a:bodyPr wrap="square" lIns="0" tIns="0" rIns="0" bIns="0" rtlCol="0" anchor="ctr"/>
          <a:lstStyle/>
          <a:p>
            <a:pPr indent="0" marL="0">
              <a:buNone/>
            </a:pPr>
            <a:r>
              <a:rPr lang="en-US" sz="1200" b="1" spc="200" kern="0" dirty="0">
                <a:solidFill>
                  <a:srgbClr val="C6333B"/>
                </a:solidFill>
                <a:latin typeface="Calibri" pitchFamily="34" charset="0"/>
                <a:ea typeface="Calibri" pitchFamily="34" charset="-122"/>
                <a:cs typeface="Calibri" pitchFamily="34" charset="-120"/>
              </a:rPr>
              <a:t>PLAN FOR THE LAB</a:t>
            </a:r>
            <a:endParaRPr lang="en-US" sz="1200" dirty="0"/>
          </a:p>
        </p:txBody>
      </p:sp>
      <p:sp>
        <p:nvSpPr>
          <p:cNvPr id="3" name="Text 1"/>
          <p:cNvSpPr txBox="1"/>
          <p:nvPr/>
        </p:nvSpPr>
        <p:spPr>
          <a:xfrm>
            <a:off x="548640" y="640080"/>
            <a:ext cx="11064240" cy="640080"/>
          </a:xfrm>
          <a:prstGeom prst="rect">
            <a:avLst/>
          </a:prstGeom>
          <a:noFill/>
          <a:ln/>
        </p:spPr>
        <p:txBody>
          <a:bodyPr wrap="square" lIns="0" tIns="0" rIns="0" bIns="0" rtlCol="0" anchor="t">
            <a:normAutofit/>
          </a:bodyPr>
          <a:lstStyle/>
          <a:p>
            <a:pPr indent="0" marL="0">
              <a:buNone/>
            </a:pPr>
            <a:r>
              <a:rPr lang="en-US" sz="3200" b="1" dirty="0">
                <a:solidFill>
                  <a:srgbClr val="1F2328"/>
                </a:solidFill>
                <a:latin typeface="Calibri" pitchFamily="34" charset="0"/>
                <a:ea typeface="Calibri" pitchFamily="34" charset="-122"/>
                <a:cs typeface="Calibri" pitchFamily="34" charset="-120"/>
              </a:rPr>
              <a:t>What we do in these 90 minutes</a:t>
            </a:r>
            <a:endParaRPr lang="en-US" sz="3200" dirty="0"/>
          </a:p>
        </p:txBody>
      </p:sp>
      <p:sp>
        <p:nvSpPr>
          <p:cNvPr id="4" name="Text 2"/>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1050" dirty="0">
                <a:solidFill>
                  <a:srgbClr val="5B6470"/>
                </a:solidFill>
                <a:latin typeface="Calibri" pitchFamily="34" charset="0"/>
                <a:ea typeface="Calibri" pitchFamily="34" charset="-122"/>
                <a:cs typeface="Calibri" pitchFamily="34" charset="-120"/>
              </a:rPr>
              <a:t>CSCI 2430 Programming Languages  ·  Week 5  ·  Lab</a:t>
            </a:r>
            <a:endParaRPr lang="en-US" sz="1050" dirty="0"/>
          </a:p>
        </p:txBody>
      </p:sp>
      <p:sp>
        <p:nvSpPr>
          <p:cNvPr id="5" name="Text 3"/>
          <p:cNvSpPr txBox="1"/>
          <p:nvPr/>
        </p:nvSpPr>
        <p:spPr>
          <a:xfrm>
            <a:off x="9677095" y="6400800"/>
            <a:ext cx="548640" cy="274320"/>
          </a:xfrm>
          <a:prstGeom prst="rect">
            <a:avLst/>
          </a:prstGeom>
          <a:noFill/>
          <a:ln/>
        </p:spPr>
        <p:txBody>
          <a:bodyPr wrap="square" lIns="0" tIns="0" rIns="0" bIns="0" rtlCol="0" anchor="ctr"/>
          <a:lstStyle/>
          <a:p>
            <a:pPr algn="r" indent="0" marL="0">
              <a:buNone/>
            </a:pPr>
            <a:r>
              <a:rPr lang="en-US" sz="1050" dirty="0">
                <a:solidFill>
                  <a:srgbClr val="5B6470"/>
                </a:solidFill>
                <a:latin typeface="Calibri" pitchFamily="34" charset="0"/>
                <a:ea typeface="Calibri" pitchFamily="34" charset="-122"/>
                <a:cs typeface="Calibri" pitchFamily="34" charset="-120"/>
              </a:rPr>
              <a:t>2</a:t>
            </a:r>
            <a:endParaRPr lang="en-US" sz="1050" dirty="0"/>
          </a:p>
        </p:txBody>
      </p:sp>
      <p:pic>
        <p:nvPicPr>
          <p:cNvPr id="6" name="Image 0" descr="/home/claude/decks/assets/logo-red-transparent-small.png">    </p:cNvPr>
          <p:cNvPicPr>
            <a:picLocks noChangeAspect="1"/>
          </p:cNvPicPr>
          <p:nvPr/>
        </p:nvPicPr>
        <p:blipFill>
          <a:blip r:embed="rId1"/>
          <a:stretch>
            <a:fillRect/>
          </a:stretch>
        </p:blipFill>
        <p:spPr>
          <a:xfrm>
            <a:off x="10518343" y="6291172"/>
            <a:ext cx="1124712" cy="411380"/>
          </a:xfrm>
          <a:prstGeom prst="rect">
            <a:avLst/>
          </a:prstGeom>
        </p:spPr>
      </p:pic>
      <p:sp>
        <p:nvSpPr>
          <p:cNvPr id="8" name="Shape 4"/>
          <p:cNvSpPr/>
          <p:nvPr/>
        </p:nvSpPr>
        <p:spPr>
          <a:xfrm>
            <a:off x="548640" y="1508760"/>
            <a:ext cx="11094415" cy="512064"/>
          </a:xfrm>
          <a:prstGeom prst="roundRect">
            <a:avLst>
              <a:gd name="adj" fmla="val 14286"/>
            </a:avLst>
          </a:prstGeom>
          <a:solidFill>
            <a:srgbClr val="F3F4F6"/>
          </a:solidFill>
          <a:ln w="12700">
            <a:solidFill>
              <a:srgbClr val="F3F4F6"/>
            </a:solidFill>
            <a:prstDash val="solid"/>
          </a:ln>
        </p:spPr>
      </p:sp>
      <p:sp>
        <p:nvSpPr>
          <p:cNvPr id="9" name="Text 5"/>
          <p:cNvSpPr txBox="1"/>
          <p:nvPr/>
        </p:nvSpPr>
        <p:spPr>
          <a:xfrm>
            <a:off x="777240" y="1508760"/>
            <a:ext cx="1737360" cy="512064"/>
          </a:xfrm>
          <a:prstGeom prst="rect">
            <a:avLst/>
          </a:prstGeom>
          <a:noFill/>
          <a:ln/>
        </p:spPr>
        <p:txBody>
          <a:bodyPr wrap="square" lIns="0" tIns="0" rIns="0" bIns="0" rtlCol="0" anchor="ctr"/>
          <a:lstStyle/>
          <a:p>
            <a:pPr indent="0" marL="0">
              <a:buNone/>
            </a:pPr>
            <a:r>
              <a:rPr lang="en-US" sz="1400" dirty="0">
                <a:solidFill>
                  <a:srgbClr val="5B6470"/>
                </a:solidFill>
                <a:latin typeface="Consolas" pitchFamily="34" charset="0"/>
                <a:ea typeface="Consolas" pitchFamily="34" charset="-122"/>
                <a:cs typeface="Consolas" pitchFamily="34" charset="-120"/>
              </a:rPr>
              <a:t>0:00 to 0:06</a:t>
            </a:r>
            <a:endParaRPr lang="en-US" sz="1400" dirty="0"/>
          </a:p>
        </p:txBody>
      </p:sp>
      <p:sp>
        <p:nvSpPr>
          <p:cNvPr id="10" name="Text 6"/>
          <p:cNvSpPr txBox="1"/>
          <p:nvPr/>
        </p:nvSpPr>
        <p:spPr>
          <a:xfrm>
            <a:off x="2560320" y="1508760"/>
            <a:ext cx="7863840" cy="512064"/>
          </a:xfrm>
          <a:prstGeom prst="rect">
            <a:avLst/>
          </a:prstGeom>
          <a:noFill/>
          <a:ln/>
        </p:spPr>
        <p:txBody>
          <a:bodyPr wrap="square" lIns="0" tIns="0" rIns="0" bIns="0" rtlCol="0" anchor="ctr"/>
          <a:lstStyle/>
          <a:p>
            <a:pPr indent="0" marL="0">
              <a:buNone/>
            </a:pPr>
            <a:r>
              <a:rPr lang="en-US" sz="1800" b="1" dirty="0">
                <a:solidFill>
                  <a:srgbClr val="1F2328"/>
                </a:solidFill>
                <a:latin typeface="Calibri" pitchFamily="34" charset="0"/>
                <a:ea typeface="Calibri" pitchFamily="34" charset="-122"/>
                <a:cs typeface="Calibri" pitchFamily="34" charset="-120"/>
              </a:rPr>
              <a:t>The plan and the starter</a:t>
            </a:r>
            <a:pPr indent="0" marL="0">
              <a:buNone/>
            </a:pPr>
            <a:endParaRPr lang="en-US" sz="1800" dirty="0"/>
          </a:p>
        </p:txBody>
      </p:sp>
      <p:sp>
        <p:nvSpPr>
          <p:cNvPr id="11" name="Shape 7"/>
          <p:cNvSpPr/>
          <p:nvPr/>
        </p:nvSpPr>
        <p:spPr>
          <a:xfrm>
            <a:off x="10408615" y="1609344"/>
            <a:ext cx="1005840" cy="310896"/>
          </a:xfrm>
          <a:prstGeom prst="roundRect">
            <a:avLst>
              <a:gd name="adj" fmla="val 50000"/>
            </a:avLst>
          </a:prstGeom>
          <a:solidFill>
            <a:srgbClr val="262B33"/>
          </a:solidFill>
          <a:ln w="12700">
            <a:solidFill>
              <a:srgbClr val="262B33"/>
            </a:solidFill>
            <a:prstDash val="solid"/>
          </a:ln>
        </p:spPr>
      </p:sp>
      <p:sp>
        <p:nvSpPr>
          <p:cNvPr id="12" name="Text 8"/>
          <p:cNvSpPr txBox="1"/>
          <p:nvPr/>
        </p:nvSpPr>
        <p:spPr>
          <a:xfrm>
            <a:off x="10408615" y="1609344"/>
            <a:ext cx="100584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 min</a:t>
            </a:r>
            <a:endParaRPr lang="en-US" sz="1200" dirty="0"/>
          </a:p>
        </p:txBody>
      </p:sp>
      <p:sp>
        <p:nvSpPr>
          <p:cNvPr id="13" name="Text 9"/>
          <p:cNvSpPr txBox="1"/>
          <p:nvPr/>
        </p:nvSpPr>
        <p:spPr>
          <a:xfrm>
            <a:off x="777240" y="2075688"/>
            <a:ext cx="1737360" cy="512064"/>
          </a:xfrm>
          <a:prstGeom prst="rect">
            <a:avLst/>
          </a:prstGeom>
          <a:noFill/>
          <a:ln/>
        </p:spPr>
        <p:txBody>
          <a:bodyPr wrap="square" lIns="0" tIns="0" rIns="0" bIns="0" rtlCol="0" anchor="ctr"/>
          <a:lstStyle/>
          <a:p>
            <a:pPr indent="0" marL="0">
              <a:buNone/>
            </a:pPr>
            <a:r>
              <a:rPr lang="en-US" sz="1400" dirty="0">
                <a:solidFill>
                  <a:srgbClr val="5B6470"/>
                </a:solidFill>
                <a:latin typeface="Consolas" pitchFamily="34" charset="0"/>
                <a:ea typeface="Consolas" pitchFamily="34" charset="-122"/>
                <a:cs typeface="Consolas" pitchFamily="34" charset="-120"/>
              </a:rPr>
              <a:t>0:06 to 0:21</a:t>
            </a:r>
            <a:endParaRPr lang="en-US" sz="1400" dirty="0"/>
          </a:p>
        </p:txBody>
      </p:sp>
      <p:sp>
        <p:nvSpPr>
          <p:cNvPr id="14" name="Text 10"/>
          <p:cNvSpPr txBox="1"/>
          <p:nvPr/>
        </p:nvSpPr>
        <p:spPr>
          <a:xfrm>
            <a:off x="2560320" y="2075688"/>
            <a:ext cx="7863840" cy="512064"/>
          </a:xfrm>
          <a:prstGeom prst="rect">
            <a:avLst/>
          </a:prstGeom>
          <a:noFill/>
          <a:ln/>
        </p:spPr>
        <p:txBody>
          <a:bodyPr wrap="square" lIns="0" tIns="0" rIns="0" bIns="0" rtlCol="0" anchor="ctr"/>
          <a:lstStyle/>
          <a:p>
            <a:pPr indent="0" marL="0">
              <a:buNone/>
            </a:pPr>
            <a:r>
              <a:rPr lang="en-US" sz="1800" b="1" dirty="0">
                <a:solidFill>
                  <a:srgbClr val="1F2328"/>
                </a:solidFill>
                <a:latin typeface="Calibri" pitchFamily="34" charset="0"/>
                <a:ea typeface="Calibri" pitchFamily="34" charset="-122"/>
                <a:cs typeface="Calibri" pitchFamily="34" charset="-120"/>
              </a:rPr>
              <a:t>Task 1  Warm up: PrintedBook extends Book</a:t>
            </a:r>
            <a:pPr indent="0" marL="0">
              <a:buNone/>
            </a:pPr>
            <a:endParaRPr lang="en-US" sz="1800" dirty="0"/>
          </a:p>
        </p:txBody>
      </p:sp>
      <p:sp>
        <p:nvSpPr>
          <p:cNvPr id="15" name="Shape 11"/>
          <p:cNvSpPr/>
          <p:nvPr/>
        </p:nvSpPr>
        <p:spPr>
          <a:xfrm>
            <a:off x="10408615" y="2176272"/>
            <a:ext cx="1005840" cy="310896"/>
          </a:xfrm>
          <a:prstGeom prst="roundRect">
            <a:avLst>
              <a:gd name="adj" fmla="val 50000"/>
            </a:avLst>
          </a:prstGeom>
          <a:solidFill>
            <a:srgbClr val="262B33"/>
          </a:solidFill>
          <a:ln w="12700">
            <a:solidFill>
              <a:srgbClr val="262B33"/>
            </a:solidFill>
            <a:prstDash val="solid"/>
          </a:ln>
        </p:spPr>
      </p:sp>
      <p:sp>
        <p:nvSpPr>
          <p:cNvPr id="16" name="Text 12"/>
          <p:cNvSpPr txBox="1"/>
          <p:nvPr/>
        </p:nvSpPr>
        <p:spPr>
          <a:xfrm>
            <a:off x="10408615" y="2176272"/>
            <a:ext cx="100584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15 min</a:t>
            </a:r>
            <a:endParaRPr lang="en-US" sz="1200" dirty="0"/>
          </a:p>
        </p:txBody>
      </p:sp>
      <p:sp>
        <p:nvSpPr>
          <p:cNvPr id="17" name="Shape 13"/>
          <p:cNvSpPr/>
          <p:nvPr/>
        </p:nvSpPr>
        <p:spPr>
          <a:xfrm>
            <a:off x="548640" y="2642616"/>
            <a:ext cx="11094415" cy="512064"/>
          </a:xfrm>
          <a:prstGeom prst="roundRect">
            <a:avLst>
              <a:gd name="adj" fmla="val 14286"/>
            </a:avLst>
          </a:prstGeom>
          <a:solidFill>
            <a:srgbClr val="F3F4F6"/>
          </a:solidFill>
          <a:ln w="12700">
            <a:solidFill>
              <a:srgbClr val="F3F4F6"/>
            </a:solidFill>
            <a:prstDash val="solid"/>
          </a:ln>
        </p:spPr>
      </p:sp>
      <p:sp>
        <p:nvSpPr>
          <p:cNvPr id="18" name="Text 14"/>
          <p:cNvSpPr txBox="1"/>
          <p:nvPr/>
        </p:nvSpPr>
        <p:spPr>
          <a:xfrm>
            <a:off x="777240" y="2642616"/>
            <a:ext cx="1737360" cy="512064"/>
          </a:xfrm>
          <a:prstGeom prst="rect">
            <a:avLst/>
          </a:prstGeom>
          <a:noFill/>
          <a:ln/>
        </p:spPr>
        <p:txBody>
          <a:bodyPr wrap="square" lIns="0" tIns="0" rIns="0" bIns="0" rtlCol="0" anchor="ctr"/>
          <a:lstStyle/>
          <a:p>
            <a:pPr indent="0" marL="0">
              <a:buNone/>
            </a:pPr>
            <a:r>
              <a:rPr lang="en-US" sz="1400" dirty="0">
                <a:solidFill>
                  <a:srgbClr val="5B6470"/>
                </a:solidFill>
                <a:latin typeface="Consolas" pitchFamily="34" charset="0"/>
                <a:ea typeface="Consolas" pitchFamily="34" charset="-122"/>
                <a:cs typeface="Consolas" pitchFamily="34" charset="-120"/>
              </a:rPr>
              <a:t>0:21 to 0:36</a:t>
            </a:r>
            <a:endParaRPr lang="en-US" sz="1400" dirty="0"/>
          </a:p>
        </p:txBody>
      </p:sp>
      <p:sp>
        <p:nvSpPr>
          <p:cNvPr id="19" name="Text 15"/>
          <p:cNvSpPr txBox="1"/>
          <p:nvPr/>
        </p:nvSpPr>
        <p:spPr>
          <a:xfrm>
            <a:off x="2560320" y="2642616"/>
            <a:ext cx="7863840" cy="512064"/>
          </a:xfrm>
          <a:prstGeom prst="rect">
            <a:avLst/>
          </a:prstGeom>
          <a:noFill/>
          <a:ln/>
        </p:spPr>
        <p:txBody>
          <a:bodyPr wrap="square" lIns="0" tIns="0" rIns="0" bIns="0" rtlCol="0" anchor="ctr"/>
          <a:lstStyle/>
          <a:p>
            <a:pPr indent="0" marL="0">
              <a:buNone/>
            </a:pPr>
            <a:r>
              <a:rPr lang="en-US" sz="1800" b="1" dirty="0">
                <a:solidFill>
                  <a:srgbClr val="1F2328"/>
                </a:solidFill>
                <a:latin typeface="Calibri" pitchFamily="34" charset="0"/>
                <a:ea typeface="Calibri" pitchFamily="34" charset="-122"/>
                <a:cs typeface="Calibri" pitchFamily="34" charset="-120"/>
              </a:rPr>
              <a:t>Task 2  EBook and AudioBook</a:t>
            </a:r>
            <a:pPr indent="0" marL="0">
              <a:buNone/>
            </a:pPr>
            <a:endParaRPr lang="en-US" sz="1800" dirty="0"/>
          </a:p>
        </p:txBody>
      </p:sp>
      <p:sp>
        <p:nvSpPr>
          <p:cNvPr id="20" name="Shape 16"/>
          <p:cNvSpPr/>
          <p:nvPr/>
        </p:nvSpPr>
        <p:spPr>
          <a:xfrm>
            <a:off x="10408615" y="2743200"/>
            <a:ext cx="1005840" cy="310896"/>
          </a:xfrm>
          <a:prstGeom prst="roundRect">
            <a:avLst>
              <a:gd name="adj" fmla="val 50000"/>
            </a:avLst>
          </a:prstGeom>
          <a:solidFill>
            <a:srgbClr val="262B33"/>
          </a:solidFill>
          <a:ln w="12700">
            <a:solidFill>
              <a:srgbClr val="262B33"/>
            </a:solidFill>
            <a:prstDash val="solid"/>
          </a:ln>
        </p:spPr>
      </p:sp>
      <p:sp>
        <p:nvSpPr>
          <p:cNvPr id="21" name="Text 17"/>
          <p:cNvSpPr txBox="1"/>
          <p:nvPr/>
        </p:nvSpPr>
        <p:spPr>
          <a:xfrm>
            <a:off x="10408615" y="2743200"/>
            <a:ext cx="100584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15 min</a:t>
            </a:r>
            <a:endParaRPr lang="en-US" sz="1200" dirty="0"/>
          </a:p>
        </p:txBody>
      </p:sp>
      <p:sp>
        <p:nvSpPr>
          <p:cNvPr id="22" name="Text 18"/>
          <p:cNvSpPr txBox="1"/>
          <p:nvPr/>
        </p:nvSpPr>
        <p:spPr>
          <a:xfrm>
            <a:off x="777240" y="3209544"/>
            <a:ext cx="1737360" cy="512064"/>
          </a:xfrm>
          <a:prstGeom prst="rect">
            <a:avLst/>
          </a:prstGeom>
          <a:noFill/>
          <a:ln/>
        </p:spPr>
        <p:txBody>
          <a:bodyPr wrap="square" lIns="0" tIns="0" rIns="0" bIns="0" rtlCol="0" anchor="ctr"/>
          <a:lstStyle/>
          <a:p>
            <a:pPr indent="0" marL="0">
              <a:buNone/>
            </a:pPr>
            <a:r>
              <a:rPr lang="en-US" sz="1400" dirty="0">
                <a:solidFill>
                  <a:srgbClr val="5B6470"/>
                </a:solidFill>
                <a:latin typeface="Consolas" pitchFamily="34" charset="0"/>
                <a:ea typeface="Consolas" pitchFamily="34" charset="-122"/>
                <a:cs typeface="Consolas" pitchFamily="34" charset="-120"/>
              </a:rPr>
              <a:t>0:36 to 0:53</a:t>
            </a:r>
            <a:endParaRPr lang="en-US" sz="1400" dirty="0"/>
          </a:p>
        </p:txBody>
      </p:sp>
      <p:sp>
        <p:nvSpPr>
          <p:cNvPr id="23" name="Text 19"/>
          <p:cNvSpPr txBox="1"/>
          <p:nvPr/>
        </p:nvSpPr>
        <p:spPr>
          <a:xfrm>
            <a:off x="2560320" y="3209544"/>
            <a:ext cx="7863840" cy="512064"/>
          </a:xfrm>
          <a:prstGeom prst="rect">
            <a:avLst/>
          </a:prstGeom>
          <a:noFill/>
          <a:ln/>
        </p:spPr>
        <p:txBody>
          <a:bodyPr wrap="square" lIns="0" tIns="0" rIns="0" bIns="0" rtlCol="0" anchor="ctr"/>
          <a:lstStyle/>
          <a:p>
            <a:pPr indent="0" marL="0">
              <a:buNone/>
            </a:pPr>
            <a:r>
              <a:rPr lang="en-US" sz="1800" b="1" dirty="0">
                <a:solidFill>
                  <a:srgbClr val="1F2328"/>
                </a:solidFill>
                <a:latin typeface="Calibri" pitchFamily="34" charset="0"/>
                <a:ea typeface="Calibri" pitchFamily="34" charset="-122"/>
                <a:cs typeface="Calibri" pitchFamily="34" charset="-120"/>
              </a:rPr>
              <a:t>Task 3  Book becomes abstract</a:t>
            </a:r>
            <a:pPr indent="0" marL="0">
              <a:buNone/>
            </a:pPr>
            <a:r>
              <a:rPr lang="en-US" sz="1800" dirty="0">
                <a:solidFill>
                  <a:srgbClr val="5B6470"/>
                </a:solidFill>
                <a:latin typeface="Calibri" pitchFamily="34" charset="0"/>
                <a:ea typeface="Calibri" pitchFamily="34" charset="-122"/>
                <a:cs typeface="Calibri" pitchFamily="34" charset="-120"/>
              </a:rPr>
              <a:t>   abstract methods, toString uses them</a:t>
            </a:r>
            <a:endParaRPr lang="en-US" sz="1800" dirty="0"/>
          </a:p>
        </p:txBody>
      </p:sp>
      <p:sp>
        <p:nvSpPr>
          <p:cNvPr id="24" name="Shape 20"/>
          <p:cNvSpPr/>
          <p:nvPr/>
        </p:nvSpPr>
        <p:spPr>
          <a:xfrm>
            <a:off x="10408615" y="3310128"/>
            <a:ext cx="1005840" cy="310896"/>
          </a:xfrm>
          <a:prstGeom prst="roundRect">
            <a:avLst>
              <a:gd name="adj" fmla="val 50000"/>
            </a:avLst>
          </a:prstGeom>
          <a:solidFill>
            <a:srgbClr val="262B33"/>
          </a:solidFill>
          <a:ln w="12700">
            <a:solidFill>
              <a:srgbClr val="262B33"/>
            </a:solidFill>
            <a:prstDash val="solid"/>
          </a:ln>
        </p:spPr>
      </p:sp>
      <p:sp>
        <p:nvSpPr>
          <p:cNvPr id="25" name="Text 21"/>
          <p:cNvSpPr txBox="1"/>
          <p:nvPr/>
        </p:nvSpPr>
        <p:spPr>
          <a:xfrm>
            <a:off x="10408615" y="3310128"/>
            <a:ext cx="100584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17 min</a:t>
            </a:r>
            <a:endParaRPr lang="en-US" sz="1200" dirty="0"/>
          </a:p>
        </p:txBody>
      </p:sp>
      <p:sp>
        <p:nvSpPr>
          <p:cNvPr id="26" name="Shape 22"/>
          <p:cNvSpPr/>
          <p:nvPr/>
        </p:nvSpPr>
        <p:spPr>
          <a:xfrm>
            <a:off x="548640" y="3776472"/>
            <a:ext cx="11094415" cy="512064"/>
          </a:xfrm>
          <a:prstGeom prst="roundRect">
            <a:avLst>
              <a:gd name="adj" fmla="val 14286"/>
            </a:avLst>
          </a:prstGeom>
          <a:solidFill>
            <a:srgbClr val="F3F4F6"/>
          </a:solidFill>
          <a:ln w="12700">
            <a:solidFill>
              <a:srgbClr val="F3F4F6"/>
            </a:solidFill>
            <a:prstDash val="solid"/>
          </a:ln>
        </p:spPr>
      </p:sp>
      <p:sp>
        <p:nvSpPr>
          <p:cNvPr id="27" name="Text 23"/>
          <p:cNvSpPr txBox="1"/>
          <p:nvPr/>
        </p:nvSpPr>
        <p:spPr>
          <a:xfrm>
            <a:off x="777240" y="3776472"/>
            <a:ext cx="1737360" cy="512064"/>
          </a:xfrm>
          <a:prstGeom prst="rect">
            <a:avLst/>
          </a:prstGeom>
          <a:noFill/>
          <a:ln/>
        </p:spPr>
        <p:txBody>
          <a:bodyPr wrap="square" lIns="0" tIns="0" rIns="0" bIns="0" rtlCol="0" anchor="ctr"/>
          <a:lstStyle/>
          <a:p>
            <a:pPr indent="0" marL="0">
              <a:buNone/>
            </a:pPr>
            <a:r>
              <a:rPr lang="en-US" sz="1400" dirty="0">
                <a:solidFill>
                  <a:srgbClr val="5B6470"/>
                </a:solidFill>
                <a:latin typeface="Consolas" pitchFamily="34" charset="0"/>
                <a:ea typeface="Consolas" pitchFamily="34" charset="-122"/>
                <a:cs typeface="Consolas" pitchFamily="34" charset="-120"/>
              </a:rPr>
              <a:t>0:53 to 1:13</a:t>
            </a:r>
            <a:endParaRPr lang="en-US" sz="1400" dirty="0"/>
          </a:p>
        </p:txBody>
      </p:sp>
      <p:sp>
        <p:nvSpPr>
          <p:cNvPr id="28" name="Text 24"/>
          <p:cNvSpPr txBox="1"/>
          <p:nvPr/>
        </p:nvSpPr>
        <p:spPr>
          <a:xfrm>
            <a:off x="2560320" y="3776472"/>
            <a:ext cx="7863840" cy="512064"/>
          </a:xfrm>
          <a:prstGeom prst="rect">
            <a:avLst/>
          </a:prstGeom>
          <a:noFill/>
          <a:ln/>
        </p:spPr>
        <p:txBody>
          <a:bodyPr wrap="square" lIns="0" tIns="0" rIns="0" bIns="0" rtlCol="0" anchor="ctr"/>
          <a:lstStyle/>
          <a:p>
            <a:pPr indent="0" marL="0">
              <a:buNone/>
            </a:pPr>
            <a:r>
              <a:rPr lang="en-US" sz="1800" b="1" dirty="0">
                <a:solidFill>
                  <a:srgbClr val="1F2328"/>
                </a:solidFill>
                <a:latin typeface="Calibri" pitchFamily="34" charset="0"/>
                <a:ea typeface="Calibri" pitchFamily="34" charset="-122"/>
                <a:cs typeface="Calibri" pitchFamily="34" charset="-120"/>
              </a:rPr>
              <a:t>Task 4  The library and the three kinds</a:t>
            </a:r>
            <a:pPr indent="0" marL="0">
              <a:buNone/>
            </a:pPr>
            <a:r>
              <a:rPr lang="en-US" sz="1800" dirty="0">
                <a:solidFill>
                  <a:srgbClr val="5B6470"/>
                </a:solidFill>
                <a:latin typeface="Calibri" pitchFamily="34" charset="0"/>
                <a:ea typeface="Calibri" pitchFamily="34" charset="-122"/>
                <a:cs typeface="Calibri" pitchFamily="34" charset="-120"/>
              </a:rPr>
              <a:t>   polymorphism and instanceof</a:t>
            </a:r>
            <a:endParaRPr lang="en-US" sz="1800" dirty="0"/>
          </a:p>
        </p:txBody>
      </p:sp>
      <p:sp>
        <p:nvSpPr>
          <p:cNvPr id="29" name="Shape 25"/>
          <p:cNvSpPr/>
          <p:nvPr/>
        </p:nvSpPr>
        <p:spPr>
          <a:xfrm>
            <a:off x="10408615" y="3877056"/>
            <a:ext cx="1005840" cy="310896"/>
          </a:xfrm>
          <a:prstGeom prst="roundRect">
            <a:avLst>
              <a:gd name="adj" fmla="val 50000"/>
            </a:avLst>
          </a:prstGeom>
          <a:solidFill>
            <a:srgbClr val="262B33"/>
          </a:solidFill>
          <a:ln w="12700">
            <a:solidFill>
              <a:srgbClr val="262B33"/>
            </a:solidFill>
            <a:prstDash val="solid"/>
          </a:ln>
        </p:spPr>
      </p:sp>
      <p:sp>
        <p:nvSpPr>
          <p:cNvPr id="30" name="Text 26"/>
          <p:cNvSpPr txBox="1"/>
          <p:nvPr/>
        </p:nvSpPr>
        <p:spPr>
          <a:xfrm>
            <a:off x="10408615" y="3877056"/>
            <a:ext cx="100584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20 min</a:t>
            </a:r>
            <a:endParaRPr lang="en-US" sz="1200" dirty="0"/>
          </a:p>
        </p:txBody>
      </p:sp>
      <p:sp>
        <p:nvSpPr>
          <p:cNvPr id="31" name="Text 27"/>
          <p:cNvSpPr txBox="1"/>
          <p:nvPr/>
        </p:nvSpPr>
        <p:spPr>
          <a:xfrm>
            <a:off x="777240" y="4343400"/>
            <a:ext cx="1737360" cy="512064"/>
          </a:xfrm>
          <a:prstGeom prst="rect">
            <a:avLst/>
          </a:prstGeom>
          <a:noFill/>
          <a:ln/>
        </p:spPr>
        <p:txBody>
          <a:bodyPr wrap="square" lIns="0" tIns="0" rIns="0" bIns="0" rtlCol="0" anchor="ctr"/>
          <a:lstStyle/>
          <a:p>
            <a:pPr indent="0" marL="0">
              <a:buNone/>
            </a:pPr>
            <a:r>
              <a:rPr lang="en-US" sz="1400" dirty="0">
                <a:solidFill>
                  <a:srgbClr val="5B6470"/>
                </a:solidFill>
                <a:latin typeface="Consolas" pitchFamily="34" charset="0"/>
                <a:ea typeface="Consolas" pitchFamily="34" charset="-122"/>
                <a:cs typeface="Consolas" pitchFamily="34" charset="-120"/>
              </a:rPr>
              <a:t>1:13 to 1:20</a:t>
            </a:r>
            <a:endParaRPr lang="en-US" sz="1400" dirty="0"/>
          </a:p>
        </p:txBody>
      </p:sp>
      <p:sp>
        <p:nvSpPr>
          <p:cNvPr id="32" name="Text 28"/>
          <p:cNvSpPr txBox="1"/>
          <p:nvPr/>
        </p:nvSpPr>
        <p:spPr>
          <a:xfrm>
            <a:off x="2560320" y="4343400"/>
            <a:ext cx="7863840" cy="512064"/>
          </a:xfrm>
          <a:prstGeom prst="rect">
            <a:avLst/>
          </a:prstGeom>
          <a:noFill/>
          <a:ln/>
        </p:spPr>
        <p:txBody>
          <a:bodyPr wrap="square" lIns="0" tIns="0" rIns="0" bIns="0" rtlCol="0" anchor="ctr"/>
          <a:lstStyle/>
          <a:p>
            <a:pPr indent="0" marL="0">
              <a:buNone/>
            </a:pPr>
            <a:r>
              <a:rPr lang="en-US" sz="1800" b="1" dirty="0">
                <a:solidFill>
                  <a:srgbClr val="1F2328"/>
                </a:solidFill>
                <a:latin typeface="Calibri" pitchFamily="34" charset="0"/>
                <a:ea typeface="Calibri" pitchFamily="34" charset="-122"/>
                <a:cs typeface="Calibri" pitchFamily="34" charset="-120"/>
              </a:rPr>
              <a:t>Task 5  Run Main and read the output</a:t>
            </a:r>
            <a:pPr indent="0" marL="0">
              <a:buNone/>
            </a:pPr>
            <a:endParaRPr lang="en-US" sz="1800" dirty="0"/>
          </a:p>
        </p:txBody>
      </p:sp>
      <p:sp>
        <p:nvSpPr>
          <p:cNvPr id="33" name="Shape 29"/>
          <p:cNvSpPr/>
          <p:nvPr/>
        </p:nvSpPr>
        <p:spPr>
          <a:xfrm>
            <a:off x="10408615" y="4443984"/>
            <a:ext cx="1005840" cy="310896"/>
          </a:xfrm>
          <a:prstGeom prst="roundRect">
            <a:avLst>
              <a:gd name="adj" fmla="val 50000"/>
            </a:avLst>
          </a:prstGeom>
          <a:solidFill>
            <a:srgbClr val="262B33"/>
          </a:solidFill>
          <a:ln w="12700">
            <a:solidFill>
              <a:srgbClr val="262B33"/>
            </a:solidFill>
            <a:prstDash val="solid"/>
          </a:ln>
        </p:spPr>
      </p:sp>
      <p:sp>
        <p:nvSpPr>
          <p:cNvPr id="34" name="Text 30"/>
          <p:cNvSpPr txBox="1"/>
          <p:nvPr/>
        </p:nvSpPr>
        <p:spPr>
          <a:xfrm>
            <a:off x="10408615" y="4443984"/>
            <a:ext cx="100584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7 min</a:t>
            </a:r>
            <a:endParaRPr lang="en-US" sz="1200" dirty="0"/>
          </a:p>
        </p:txBody>
      </p:sp>
      <p:sp>
        <p:nvSpPr>
          <p:cNvPr id="35" name="Shape 31"/>
          <p:cNvSpPr/>
          <p:nvPr/>
        </p:nvSpPr>
        <p:spPr>
          <a:xfrm>
            <a:off x="548640" y="4910328"/>
            <a:ext cx="11094415" cy="512064"/>
          </a:xfrm>
          <a:prstGeom prst="roundRect">
            <a:avLst>
              <a:gd name="adj" fmla="val 14286"/>
            </a:avLst>
          </a:prstGeom>
          <a:solidFill>
            <a:srgbClr val="F3F4F6"/>
          </a:solidFill>
          <a:ln w="12700">
            <a:solidFill>
              <a:srgbClr val="F3F4F6"/>
            </a:solidFill>
            <a:prstDash val="solid"/>
          </a:ln>
        </p:spPr>
      </p:sp>
      <p:sp>
        <p:nvSpPr>
          <p:cNvPr id="36" name="Text 32"/>
          <p:cNvSpPr txBox="1"/>
          <p:nvPr/>
        </p:nvSpPr>
        <p:spPr>
          <a:xfrm>
            <a:off x="777240" y="4910328"/>
            <a:ext cx="1737360" cy="512064"/>
          </a:xfrm>
          <a:prstGeom prst="rect">
            <a:avLst/>
          </a:prstGeom>
          <a:noFill/>
          <a:ln/>
        </p:spPr>
        <p:txBody>
          <a:bodyPr wrap="square" lIns="0" tIns="0" rIns="0" bIns="0" rtlCol="0" anchor="ctr"/>
          <a:lstStyle/>
          <a:p>
            <a:pPr indent="0" marL="0">
              <a:buNone/>
            </a:pPr>
            <a:r>
              <a:rPr lang="en-US" sz="1400" dirty="0">
                <a:solidFill>
                  <a:srgbClr val="5B6470"/>
                </a:solidFill>
                <a:latin typeface="Consolas" pitchFamily="34" charset="0"/>
                <a:ea typeface="Consolas" pitchFamily="34" charset="-122"/>
                <a:cs typeface="Consolas" pitchFamily="34" charset="-120"/>
              </a:rPr>
              <a:t>1:20 to 1:30</a:t>
            </a:r>
            <a:endParaRPr lang="en-US" sz="1400" dirty="0"/>
          </a:p>
        </p:txBody>
      </p:sp>
      <p:sp>
        <p:nvSpPr>
          <p:cNvPr id="37" name="Text 33"/>
          <p:cNvSpPr txBox="1"/>
          <p:nvPr/>
        </p:nvSpPr>
        <p:spPr>
          <a:xfrm>
            <a:off x="2560320" y="4910328"/>
            <a:ext cx="7863840" cy="512064"/>
          </a:xfrm>
          <a:prstGeom prst="rect">
            <a:avLst/>
          </a:prstGeom>
          <a:noFill/>
          <a:ln/>
        </p:spPr>
        <p:txBody>
          <a:bodyPr wrap="square" lIns="0" tIns="0" rIns="0" bIns="0" rtlCol="0" anchor="ctr"/>
          <a:lstStyle/>
          <a:p>
            <a:pPr indent="0" marL="0">
              <a:buNone/>
            </a:pPr>
            <a:r>
              <a:rPr lang="en-US" sz="1800" b="1" dirty="0">
                <a:solidFill>
                  <a:srgbClr val="1F2328"/>
                </a:solidFill>
                <a:latin typeface="Calibri" pitchFamily="34" charset="0"/>
                <a:ea typeface="Calibri" pitchFamily="34" charset="-122"/>
                <a:cs typeface="Calibri" pitchFamily="34" charset="-120"/>
              </a:rPr>
              <a:t>Commit, push, midterm information</a:t>
            </a:r>
            <a:pPr indent="0" marL="0">
              <a:buNone/>
            </a:pPr>
            <a:endParaRPr lang="en-US" sz="1800" dirty="0"/>
          </a:p>
        </p:txBody>
      </p:sp>
      <p:sp>
        <p:nvSpPr>
          <p:cNvPr id="38" name="Shape 34"/>
          <p:cNvSpPr/>
          <p:nvPr/>
        </p:nvSpPr>
        <p:spPr>
          <a:xfrm>
            <a:off x="10408615" y="5010912"/>
            <a:ext cx="1005840" cy="310896"/>
          </a:xfrm>
          <a:prstGeom prst="roundRect">
            <a:avLst>
              <a:gd name="adj" fmla="val 50000"/>
            </a:avLst>
          </a:prstGeom>
          <a:solidFill>
            <a:srgbClr val="262B33"/>
          </a:solidFill>
          <a:ln w="12700">
            <a:solidFill>
              <a:srgbClr val="262B33"/>
            </a:solidFill>
            <a:prstDash val="solid"/>
          </a:ln>
        </p:spPr>
      </p:sp>
      <p:sp>
        <p:nvSpPr>
          <p:cNvPr id="39" name="Text 35"/>
          <p:cNvSpPr txBox="1"/>
          <p:nvPr/>
        </p:nvSpPr>
        <p:spPr>
          <a:xfrm>
            <a:off x="10408615" y="5010912"/>
            <a:ext cx="100584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min</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62B33"/>
        </a:solidFill>
      </p:bgPr>
    </p:bg>
    <p:spTree>
      <p:nvGrpSpPr>
        <p:cNvPr id="1" name=""/>
        <p:cNvGrpSpPr/>
        <p:nvPr/>
      </p:nvGrpSpPr>
      <p:grpSpPr>
        <a:xfrm>
          <a:off x="0" y="0"/>
          <a:ext cx="0" cy="0"/>
          <a:chOff x="0" y="0"/>
          <a:chExt cx="0" cy="0"/>
        </a:xfrm>
      </p:grpSpPr>
      <p:sp>
        <p:nvSpPr>
          <p:cNvPr id="2" name="Text 0"/>
          <p:cNvSpPr txBox="1"/>
          <p:nvPr/>
        </p:nvSpPr>
        <p:spPr>
          <a:xfrm>
            <a:off x="731520" y="1371600"/>
            <a:ext cx="2743200" cy="1463040"/>
          </a:xfrm>
          <a:prstGeom prst="rect">
            <a:avLst/>
          </a:prstGeom>
          <a:noFill/>
          <a:ln/>
        </p:spPr>
        <p:txBody>
          <a:bodyPr wrap="square" lIns="0" tIns="0" rIns="0" bIns="0" rtlCol="0" anchor="ctr"/>
          <a:lstStyle/>
          <a:p>
            <a:pPr indent="0" marL="0">
              <a:buNone/>
            </a:pPr>
            <a:r>
              <a:rPr lang="en-US" sz="9600" b="1" dirty="0">
                <a:solidFill>
                  <a:srgbClr val="8A919C"/>
                </a:solidFill>
                <a:latin typeface="Calibri" pitchFamily="34" charset="0"/>
                <a:ea typeface="Calibri" pitchFamily="34" charset="-122"/>
                <a:cs typeface="Calibri" pitchFamily="34" charset="-120"/>
              </a:rPr>
              <a:t>01</a:t>
            </a:r>
            <a:endParaRPr lang="en-US" sz="9600" dirty="0"/>
          </a:p>
        </p:txBody>
      </p:sp>
      <p:sp>
        <p:nvSpPr>
          <p:cNvPr id="3" name="Text 1"/>
          <p:cNvSpPr txBox="1"/>
          <p:nvPr/>
        </p:nvSpPr>
        <p:spPr>
          <a:xfrm>
            <a:off x="731520" y="2880360"/>
            <a:ext cx="9601200" cy="1188720"/>
          </a:xfrm>
          <a:prstGeom prst="rect">
            <a:avLst/>
          </a:prstGeom>
          <a:noFill/>
          <a:ln/>
        </p:spPr>
        <p:txBody>
          <a:bodyPr wrap="square" lIns="0" tIns="0" rIns="0" bIns="0" rtlCol="0" anchor="t">
            <a:normAutofit/>
          </a:bodyPr>
          <a:lstStyle/>
          <a:p>
            <a:pPr indent="0" marL="0">
              <a:buNone/>
            </a:pPr>
            <a:r>
              <a:rPr lang="en-US" sz="4000" b="1" dirty="0">
                <a:solidFill>
                  <a:srgbClr val="FFFFFF"/>
                </a:solidFill>
                <a:latin typeface="Calibri" pitchFamily="34" charset="0"/>
                <a:ea typeface="Calibri" pitchFamily="34" charset="-122"/>
                <a:cs typeface="Calibri" pitchFamily="34" charset="-120"/>
              </a:rPr>
              <a:t>The plan</a:t>
            </a:r>
            <a:endParaRPr lang="en-US" sz="4000" dirty="0"/>
          </a:p>
        </p:txBody>
      </p:sp>
      <p:sp>
        <p:nvSpPr>
          <p:cNvPr id="4" name="Text 2"/>
          <p:cNvSpPr txBox="1"/>
          <p:nvPr/>
        </p:nvSpPr>
        <p:spPr>
          <a:xfrm>
            <a:off x="731520" y="4114800"/>
            <a:ext cx="8686800" cy="914400"/>
          </a:xfrm>
          <a:prstGeom prst="rect">
            <a:avLst/>
          </a:prstGeom>
          <a:noFill/>
          <a:ln/>
        </p:spPr>
        <p:txBody>
          <a:bodyPr wrap="square" lIns="0" tIns="0" rIns="0" bIns="0" rtlCol="0" anchor="t"/>
          <a:lstStyle/>
          <a:p>
            <a:pPr indent="0" marL="0">
              <a:buNone/>
            </a:pPr>
            <a:r>
              <a:rPr lang="en-US" sz="2000" dirty="0">
                <a:solidFill>
                  <a:srgbClr val="FFFFFF"/>
                </a:solidFill>
                <a:latin typeface="Calibri" pitchFamily="34" charset="0"/>
                <a:ea typeface="Calibri" pitchFamily="34" charset="-122"/>
                <a:cs typeface="Calibri" pitchFamily="34" charset="-120"/>
              </a:rPr>
              <a:t>What is common stays in Book. What is special moves into subclasses.</a:t>
            </a:r>
            <a:endParaRPr lang="en-US" sz="2000" dirty="0"/>
          </a:p>
        </p:txBody>
      </p:sp>
      <p:sp>
        <p:nvSpPr>
          <p:cNvPr id="5" name="Shape 3"/>
          <p:cNvSpPr/>
          <p:nvPr/>
        </p:nvSpPr>
        <p:spPr>
          <a:xfrm>
            <a:off x="731520" y="5257800"/>
            <a:ext cx="1737360" cy="384048"/>
          </a:xfrm>
          <a:prstGeom prst="roundRect">
            <a:avLst>
              <a:gd name="adj" fmla="val 50000"/>
            </a:avLst>
          </a:prstGeom>
          <a:solidFill>
            <a:srgbClr val="FFFFFF"/>
          </a:solidFill>
          <a:ln w="12700">
            <a:solidFill>
              <a:srgbClr val="FFFFFF"/>
            </a:solidFill>
            <a:prstDash val="solid"/>
          </a:ln>
        </p:spPr>
      </p:sp>
      <p:sp>
        <p:nvSpPr>
          <p:cNvPr id="6" name="Text 4"/>
          <p:cNvSpPr txBox="1"/>
          <p:nvPr/>
        </p:nvSpPr>
        <p:spPr>
          <a:xfrm>
            <a:off x="731520" y="5257800"/>
            <a:ext cx="1737360" cy="384048"/>
          </a:xfrm>
          <a:prstGeom prst="rect">
            <a:avLst/>
          </a:prstGeom>
          <a:noFill/>
          <a:ln/>
        </p:spPr>
        <p:txBody>
          <a:bodyPr wrap="square" lIns="0" tIns="0" rIns="0" bIns="0" rtlCol="0" anchor="ctr"/>
          <a:lstStyle/>
          <a:p>
            <a:pPr algn="ctr" indent="0" marL="0">
              <a:buNone/>
            </a:pPr>
            <a:r>
              <a:rPr lang="en-US" sz="1300" b="1" dirty="0">
                <a:solidFill>
                  <a:srgbClr val="262B33"/>
                </a:solidFill>
                <a:latin typeface="Calibri" pitchFamily="34" charset="0"/>
                <a:ea typeface="Calibri" pitchFamily="34" charset="-122"/>
                <a:cs typeface="Calibri" pitchFamily="34" charset="-120"/>
              </a:rPr>
              <a:t>about 6 min</a:t>
            </a:r>
            <a:endParaRPr lang="en-US" sz="1300" dirty="0"/>
          </a:p>
        </p:txBody>
      </p:sp>
      <p:sp>
        <p:nvSpPr>
          <p:cNvPr id="7" name="Text 5"/>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CSCI 2430 Programming Languages  ·  Week 5  ·  Lab</a:t>
            </a:r>
            <a:endParaRPr lang="en-US" sz="1050" dirty="0"/>
          </a:p>
        </p:txBody>
      </p:sp>
      <p:sp>
        <p:nvSpPr>
          <p:cNvPr id="8" name="Text 6"/>
          <p:cNvSpPr txBox="1"/>
          <p:nvPr/>
        </p:nvSpPr>
        <p:spPr>
          <a:xfrm>
            <a:off x="9677095" y="6400800"/>
            <a:ext cx="548640" cy="274320"/>
          </a:xfrm>
          <a:prstGeom prst="rect">
            <a:avLst/>
          </a:prstGeom>
          <a:noFill/>
          <a:ln/>
        </p:spPr>
        <p:txBody>
          <a:bodyPr wrap="square" lIns="0" tIns="0" rIns="0" bIns="0" rtlCol="0" anchor="ctr"/>
          <a:lstStyle/>
          <a:p>
            <a:pPr algn="r" indent="0" marL="0">
              <a:buNone/>
            </a:pPr>
            <a:r>
              <a:rPr lang="en-US" sz="1050" dirty="0">
                <a:solidFill>
                  <a:srgbClr val="FFFFFF"/>
                </a:solidFill>
                <a:latin typeface="Calibri" pitchFamily="34" charset="0"/>
                <a:ea typeface="Calibri" pitchFamily="34" charset="-122"/>
                <a:cs typeface="Calibri" pitchFamily="34" charset="-120"/>
              </a:rPr>
              <a:t>3</a:t>
            </a:r>
            <a:endParaRPr lang="en-US" sz="1050" dirty="0"/>
          </a:p>
        </p:txBody>
      </p:sp>
      <p:pic>
        <p:nvPicPr>
          <p:cNvPr id="9" name="Image 0" descr="/home/claude/decks/assets/logo-white-small.png">    </p:cNvPr>
          <p:cNvPicPr>
            <a:picLocks noChangeAspect="1"/>
          </p:cNvPicPr>
          <p:nvPr/>
        </p:nvPicPr>
        <p:blipFill>
          <a:blip r:embed="rId1"/>
          <a:stretch>
            <a:fillRect/>
          </a:stretch>
        </p:blipFill>
        <p:spPr>
          <a:xfrm>
            <a:off x="10518343" y="6291172"/>
            <a:ext cx="1124712" cy="41138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56032"/>
          </a:xfrm>
          <a:prstGeom prst="rect">
            <a:avLst/>
          </a:prstGeom>
          <a:noFill/>
          <a:ln/>
        </p:spPr>
        <p:txBody>
          <a:bodyPr wrap="square" lIns="0" tIns="0" rIns="0" bIns="0" rtlCol="0" anchor="ctr"/>
          <a:lstStyle/>
          <a:p>
            <a:pPr indent="0" marL="0">
              <a:buNone/>
            </a:pPr>
            <a:r>
              <a:rPr lang="en-US" sz="1200" b="1" spc="200" kern="0" dirty="0">
                <a:solidFill>
                  <a:srgbClr val="C6333B"/>
                </a:solidFill>
                <a:latin typeface="Calibri" pitchFamily="34" charset="0"/>
                <a:ea typeface="Calibri" pitchFamily="34" charset="-122"/>
                <a:cs typeface="Calibri" pitchFamily="34" charset="-120"/>
              </a:rPr>
              <a:t>TARGET OF TODAY</a:t>
            </a:r>
            <a:endParaRPr lang="en-US" sz="1200" dirty="0"/>
          </a:p>
        </p:txBody>
      </p:sp>
      <p:sp>
        <p:nvSpPr>
          <p:cNvPr id="3" name="Text 1"/>
          <p:cNvSpPr txBox="1"/>
          <p:nvPr/>
        </p:nvSpPr>
        <p:spPr>
          <a:xfrm>
            <a:off x="548640" y="640080"/>
            <a:ext cx="9418320" cy="640080"/>
          </a:xfrm>
          <a:prstGeom prst="rect">
            <a:avLst/>
          </a:prstGeom>
          <a:noFill/>
          <a:ln/>
        </p:spPr>
        <p:txBody>
          <a:bodyPr wrap="square" lIns="0" tIns="0" rIns="0" bIns="0" rtlCol="0" anchor="t">
            <a:normAutofit/>
          </a:bodyPr>
          <a:lstStyle/>
          <a:p>
            <a:pPr indent="0" marL="0">
              <a:buNone/>
            </a:pPr>
            <a:r>
              <a:rPr lang="en-US" sz="3200" b="1" dirty="0">
                <a:solidFill>
                  <a:srgbClr val="1F2328"/>
                </a:solidFill>
                <a:latin typeface="Calibri" pitchFamily="34" charset="0"/>
                <a:ea typeface="Calibri" pitchFamily="34" charset="-122"/>
                <a:cs typeface="Calibri" pitchFamily="34" charset="-120"/>
              </a:rPr>
              <a:t>The hierarchy you build</a:t>
            </a:r>
            <a:endParaRPr lang="en-US" sz="3200" dirty="0"/>
          </a:p>
        </p:txBody>
      </p:sp>
      <p:sp>
        <p:nvSpPr>
          <p:cNvPr id="4" name="Shape 2"/>
          <p:cNvSpPr/>
          <p:nvPr/>
        </p:nvSpPr>
        <p:spPr>
          <a:xfrm>
            <a:off x="10042855" y="411480"/>
            <a:ext cx="1600200" cy="310896"/>
          </a:xfrm>
          <a:prstGeom prst="roundRect">
            <a:avLst>
              <a:gd name="adj" fmla="val 50000"/>
            </a:avLst>
          </a:prstGeom>
          <a:solidFill>
            <a:srgbClr val="C6333B"/>
          </a:solidFill>
          <a:ln w="12700">
            <a:solidFill>
              <a:srgbClr val="C6333B"/>
            </a:solidFill>
            <a:prstDash val="solid"/>
          </a:ln>
        </p:spPr>
      </p:sp>
      <p:sp>
        <p:nvSpPr>
          <p:cNvPr id="5" name="Text 3"/>
          <p:cNvSpPr txBox="1"/>
          <p:nvPr/>
        </p:nvSpPr>
        <p:spPr>
          <a:xfrm>
            <a:off x="10042855" y="411480"/>
            <a:ext cx="160020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LAB NEEDS THIS</a:t>
            </a:r>
            <a:endParaRPr lang="en-US" sz="1050" dirty="0"/>
          </a:p>
        </p:txBody>
      </p:sp>
      <p:sp>
        <p:nvSpPr>
          <p:cNvPr id="6" name="Text 4"/>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1050" dirty="0">
                <a:solidFill>
                  <a:srgbClr val="5B6470"/>
                </a:solidFill>
                <a:latin typeface="Calibri" pitchFamily="34" charset="0"/>
                <a:ea typeface="Calibri" pitchFamily="34" charset="-122"/>
                <a:cs typeface="Calibri" pitchFamily="34" charset="-120"/>
              </a:rPr>
              <a:t>CSCI 2430 Programming Languages  ·  Week 5  ·  Lab</a:t>
            </a:r>
            <a:endParaRPr lang="en-US" sz="1050" dirty="0"/>
          </a:p>
        </p:txBody>
      </p:sp>
      <p:sp>
        <p:nvSpPr>
          <p:cNvPr id="7" name="Text 5"/>
          <p:cNvSpPr txBox="1"/>
          <p:nvPr/>
        </p:nvSpPr>
        <p:spPr>
          <a:xfrm>
            <a:off x="9677095" y="6400800"/>
            <a:ext cx="548640" cy="274320"/>
          </a:xfrm>
          <a:prstGeom prst="rect">
            <a:avLst/>
          </a:prstGeom>
          <a:noFill/>
          <a:ln/>
        </p:spPr>
        <p:txBody>
          <a:bodyPr wrap="square" lIns="0" tIns="0" rIns="0" bIns="0" rtlCol="0" anchor="ctr"/>
          <a:lstStyle/>
          <a:p>
            <a:pPr algn="r" indent="0" marL="0">
              <a:buNone/>
            </a:pPr>
            <a:r>
              <a:rPr lang="en-US" sz="1050" dirty="0">
                <a:solidFill>
                  <a:srgbClr val="5B6470"/>
                </a:solidFill>
                <a:latin typeface="Calibri" pitchFamily="34" charset="0"/>
                <a:ea typeface="Calibri" pitchFamily="34" charset="-122"/>
                <a:cs typeface="Calibri" pitchFamily="34" charset="-120"/>
              </a:rPr>
              <a:t>4</a:t>
            </a:r>
            <a:endParaRPr lang="en-US" sz="1050" dirty="0"/>
          </a:p>
        </p:txBody>
      </p:sp>
      <p:pic>
        <p:nvPicPr>
          <p:cNvPr id="8" name="Image 0" descr="/home/claude/decks/assets/logo-red-transparent-small.png">    </p:cNvPr>
          <p:cNvPicPr>
            <a:picLocks noChangeAspect="1"/>
          </p:cNvPicPr>
          <p:nvPr/>
        </p:nvPicPr>
        <p:blipFill>
          <a:blip r:embed="rId1"/>
          <a:stretch>
            <a:fillRect/>
          </a:stretch>
        </p:blipFill>
        <p:spPr>
          <a:xfrm>
            <a:off x="10518343" y="6291172"/>
            <a:ext cx="1124712" cy="411380"/>
          </a:xfrm>
          <a:prstGeom prst="rect">
            <a:avLst/>
          </a:prstGeom>
        </p:spPr>
      </p:pic>
      <p:sp>
        <p:nvSpPr>
          <p:cNvPr id="10" name="Shape 6"/>
          <p:cNvSpPr/>
          <p:nvPr/>
        </p:nvSpPr>
        <p:spPr>
          <a:xfrm>
            <a:off x="2834640" y="1600200"/>
            <a:ext cx="2651760" cy="777240"/>
          </a:xfrm>
          <a:prstGeom prst="roundRect">
            <a:avLst>
              <a:gd name="adj" fmla="val 9412"/>
            </a:avLst>
          </a:prstGeom>
          <a:solidFill>
            <a:srgbClr val="FFFFFF"/>
          </a:solidFill>
          <a:ln w="12700">
            <a:solidFill>
              <a:srgbClr val="C6333B"/>
            </a:solidFill>
            <a:prstDash val="solid"/>
          </a:ln>
        </p:spPr>
      </p:sp>
      <p:sp>
        <p:nvSpPr>
          <p:cNvPr id="11" name="Text 7"/>
          <p:cNvSpPr txBox="1"/>
          <p:nvPr/>
        </p:nvSpPr>
        <p:spPr>
          <a:xfrm>
            <a:off x="2834640" y="1600200"/>
            <a:ext cx="2651760" cy="777240"/>
          </a:xfrm>
          <a:prstGeom prst="rect">
            <a:avLst/>
          </a:prstGeom>
          <a:noFill/>
          <a:ln/>
        </p:spPr>
        <p:txBody>
          <a:bodyPr wrap="square" lIns="25400" tIns="25400" rIns="25400" bIns="25400" rtlCol="0" anchor="ctr">
            <a:normAutofit/>
          </a:bodyPr>
          <a:lstStyle/>
          <a:p>
            <a:pPr algn="ctr" indent="0" marL="0">
              <a:buNone/>
            </a:pPr>
            <a:r>
              <a:rPr lang="en-US" sz="1500" b="1" i="1" dirty="0">
                <a:solidFill>
                  <a:srgbClr val="9C2630"/>
                </a:solidFill>
                <a:latin typeface="Calibri" pitchFamily="34" charset="0"/>
                <a:ea typeface="Calibri" pitchFamily="34" charset="-122"/>
                <a:cs typeface="Calibri" pitchFamily="34" charset="-120"/>
              </a:rPr>
              <a:t>Book</a:t>
            </a:r>
            <a:endParaRPr lang="en-US" sz="1500" dirty="0"/>
          </a:p>
          <a:p>
            <a:pPr algn="ctr" indent="0" marL="0">
              <a:buNone/>
            </a:pPr>
            <a:r>
              <a:rPr lang="en-US" sz="1150" dirty="0">
                <a:solidFill>
                  <a:srgbClr val="5B6470"/>
                </a:solidFill>
                <a:latin typeface="Calibri" pitchFamily="34" charset="0"/>
                <a:ea typeface="Calibri" pitchFamily="34" charset="-122"/>
                <a:cs typeface="Calibri" pitchFamily="34" charset="-120"/>
              </a:rPr>
              <a:t>abstract: format(), sizeInfo()</a:t>
            </a:r>
            <a:endParaRPr lang="en-US" sz="1500" dirty="0"/>
          </a:p>
        </p:txBody>
      </p:sp>
      <p:sp>
        <p:nvSpPr>
          <p:cNvPr id="12" name="Shape 8"/>
          <p:cNvSpPr/>
          <p:nvPr/>
        </p:nvSpPr>
        <p:spPr>
          <a:xfrm>
            <a:off x="548640" y="2971800"/>
            <a:ext cx="2225040" cy="777240"/>
          </a:xfrm>
          <a:prstGeom prst="roundRect">
            <a:avLst>
              <a:gd name="adj" fmla="val 9412"/>
            </a:avLst>
          </a:prstGeom>
          <a:solidFill>
            <a:srgbClr val="F3F4F6"/>
          </a:solidFill>
          <a:ln w="12700">
            <a:solidFill>
              <a:srgbClr val="F3F4F6"/>
            </a:solidFill>
            <a:prstDash val="solid"/>
          </a:ln>
        </p:spPr>
      </p:sp>
      <p:sp>
        <p:nvSpPr>
          <p:cNvPr id="13" name="Text 9"/>
          <p:cNvSpPr txBox="1"/>
          <p:nvPr/>
        </p:nvSpPr>
        <p:spPr>
          <a:xfrm>
            <a:off x="548640" y="2971800"/>
            <a:ext cx="2225040" cy="777240"/>
          </a:xfrm>
          <a:prstGeom prst="rect">
            <a:avLst/>
          </a:prstGeom>
          <a:noFill/>
          <a:ln/>
        </p:spPr>
        <p:txBody>
          <a:bodyPr wrap="square" lIns="25400" tIns="25400" rIns="25400" bIns="25400" rtlCol="0" anchor="ctr">
            <a:normAutofit/>
          </a:bodyPr>
          <a:lstStyle/>
          <a:p>
            <a:pPr algn="ctr" indent="0" marL="0">
              <a:buNone/>
            </a:pPr>
            <a:r>
              <a:rPr lang="en-US" sz="1500" b="1" dirty="0">
                <a:solidFill>
                  <a:srgbClr val="1F2328"/>
                </a:solidFill>
                <a:latin typeface="Calibri" pitchFamily="34" charset="0"/>
                <a:ea typeface="Calibri" pitchFamily="34" charset="-122"/>
                <a:cs typeface="Calibri" pitchFamily="34" charset="-120"/>
              </a:rPr>
              <a:t>PrintedBook</a:t>
            </a:r>
            <a:endParaRPr lang="en-US" sz="1500" dirty="0"/>
          </a:p>
          <a:p>
            <a:pPr algn="ctr" indent="0" marL="0">
              <a:buNone/>
            </a:pPr>
            <a:r>
              <a:rPr lang="en-US" sz="1150" dirty="0">
                <a:solidFill>
                  <a:srgbClr val="5B6470"/>
                </a:solidFill>
                <a:latin typeface="Calibri" pitchFamily="34" charset="0"/>
                <a:ea typeface="Calibri" pitchFamily="34" charset="-122"/>
                <a:cs typeface="Calibri" pitchFamily="34" charset="-120"/>
              </a:rPr>
              <a:t>pages</a:t>
            </a:r>
            <a:endParaRPr lang="en-US" sz="1500" dirty="0"/>
          </a:p>
        </p:txBody>
      </p:sp>
      <p:sp>
        <p:nvSpPr>
          <p:cNvPr id="14" name="Shape 10"/>
          <p:cNvSpPr/>
          <p:nvPr/>
        </p:nvSpPr>
        <p:spPr>
          <a:xfrm>
            <a:off x="3048000" y="2971800"/>
            <a:ext cx="2225040" cy="777240"/>
          </a:xfrm>
          <a:prstGeom prst="roundRect">
            <a:avLst>
              <a:gd name="adj" fmla="val 9412"/>
            </a:avLst>
          </a:prstGeom>
          <a:solidFill>
            <a:srgbClr val="F3F4F6"/>
          </a:solidFill>
          <a:ln w="12700">
            <a:solidFill>
              <a:srgbClr val="F3F4F6"/>
            </a:solidFill>
            <a:prstDash val="solid"/>
          </a:ln>
        </p:spPr>
      </p:sp>
      <p:sp>
        <p:nvSpPr>
          <p:cNvPr id="15" name="Text 11"/>
          <p:cNvSpPr txBox="1"/>
          <p:nvPr/>
        </p:nvSpPr>
        <p:spPr>
          <a:xfrm>
            <a:off x="3048000" y="2971800"/>
            <a:ext cx="2225040" cy="777240"/>
          </a:xfrm>
          <a:prstGeom prst="rect">
            <a:avLst/>
          </a:prstGeom>
          <a:noFill/>
          <a:ln/>
        </p:spPr>
        <p:txBody>
          <a:bodyPr wrap="square" lIns="25400" tIns="25400" rIns="25400" bIns="25400" rtlCol="0" anchor="ctr">
            <a:normAutofit/>
          </a:bodyPr>
          <a:lstStyle/>
          <a:p>
            <a:pPr algn="ctr" indent="0" marL="0">
              <a:buNone/>
            </a:pPr>
            <a:r>
              <a:rPr lang="en-US" sz="1500" b="1" dirty="0">
                <a:solidFill>
                  <a:srgbClr val="1F2328"/>
                </a:solidFill>
                <a:latin typeface="Calibri" pitchFamily="34" charset="0"/>
                <a:ea typeface="Calibri" pitchFamily="34" charset="-122"/>
                <a:cs typeface="Calibri" pitchFamily="34" charset="-120"/>
              </a:rPr>
              <a:t>EBook</a:t>
            </a:r>
            <a:endParaRPr lang="en-US" sz="1500" dirty="0"/>
          </a:p>
          <a:p>
            <a:pPr algn="ctr" indent="0" marL="0">
              <a:buNone/>
            </a:pPr>
            <a:r>
              <a:rPr lang="en-US" sz="1150" dirty="0">
                <a:solidFill>
                  <a:srgbClr val="5B6470"/>
                </a:solidFill>
                <a:latin typeface="Calibri" pitchFamily="34" charset="0"/>
                <a:ea typeface="Calibri" pitchFamily="34" charset="-122"/>
                <a:cs typeface="Calibri" pitchFamily="34" charset="-120"/>
              </a:rPr>
              <a:t>megabytes</a:t>
            </a:r>
            <a:endParaRPr lang="en-US" sz="1500" dirty="0"/>
          </a:p>
        </p:txBody>
      </p:sp>
      <p:sp>
        <p:nvSpPr>
          <p:cNvPr id="16" name="Shape 12"/>
          <p:cNvSpPr/>
          <p:nvPr/>
        </p:nvSpPr>
        <p:spPr>
          <a:xfrm>
            <a:off x="5547360" y="2971800"/>
            <a:ext cx="2225040" cy="777240"/>
          </a:xfrm>
          <a:prstGeom prst="roundRect">
            <a:avLst>
              <a:gd name="adj" fmla="val 9412"/>
            </a:avLst>
          </a:prstGeom>
          <a:solidFill>
            <a:srgbClr val="F3F4F6"/>
          </a:solidFill>
          <a:ln w="12700">
            <a:solidFill>
              <a:srgbClr val="F3F4F6"/>
            </a:solidFill>
            <a:prstDash val="solid"/>
          </a:ln>
        </p:spPr>
      </p:sp>
      <p:sp>
        <p:nvSpPr>
          <p:cNvPr id="17" name="Text 13"/>
          <p:cNvSpPr txBox="1"/>
          <p:nvPr/>
        </p:nvSpPr>
        <p:spPr>
          <a:xfrm>
            <a:off x="5547360" y="2971800"/>
            <a:ext cx="2225040" cy="777240"/>
          </a:xfrm>
          <a:prstGeom prst="rect">
            <a:avLst/>
          </a:prstGeom>
          <a:noFill/>
          <a:ln/>
        </p:spPr>
        <p:txBody>
          <a:bodyPr wrap="square" lIns="25400" tIns="25400" rIns="25400" bIns="25400" rtlCol="0" anchor="ctr">
            <a:normAutofit/>
          </a:bodyPr>
          <a:lstStyle/>
          <a:p>
            <a:pPr algn="ctr" indent="0" marL="0">
              <a:buNone/>
            </a:pPr>
            <a:r>
              <a:rPr lang="en-US" sz="1500" b="1" dirty="0">
                <a:solidFill>
                  <a:srgbClr val="1F2328"/>
                </a:solidFill>
                <a:latin typeface="Calibri" pitchFamily="34" charset="0"/>
                <a:ea typeface="Calibri" pitchFamily="34" charset="-122"/>
                <a:cs typeface="Calibri" pitchFamily="34" charset="-120"/>
              </a:rPr>
              <a:t>AudioBook</a:t>
            </a:r>
            <a:endParaRPr lang="en-US" sz="1500" dirty="0"/>
          </a:p>
          <a:p>
            <a:pPr algn="ctr" indent="0" marL="0">
              <a:buNone/>
            </a:pPr>
            <a:r>
              <a:rPr lang="en-US" sz="1150" dirty="0">
                <a:solidFill>
                  <a:srgbClr val="5B6470"/>
                </a:solidFill>
                <a:latin typeface="Calibri" pitchFamily="34" charset="0"/>
                <a:ea typeface="Calibri" pitchFamily="34" charset="-122"/>
                <a:cs typeface="Calibri" pitchFamily="34" charset="-120"/>
              </a:rPr>
              <a:t>minutes</a:t>
            </a:r>
            <a:endParaRPr lang="en-US" sz="1500" dirty="0"/>
          </a:p>
        </p:txBody>
      </p:sp>
      <p:sp>
        <p:nvSpPr>
          <p:cNvPr id="18" name="Shape 14"/>
          <p:cNvSpPr/>
          <p:nvPr/>
        </p:nvSpPr>
        <p:spPr>
          <a:xfrm>
            <a:off x="2834640" y="4343400"/>
            <a:ext cx="2651760" cy="777240"/>
          </a:xfrm>
          <a:prstGeom prst="roundRect">
            <a:avLst>
              <a:gd name="adj" fmla="val 9412"/>
            </a:avLst>
          </a:prstGeom>
          <a:solidFill>
            <a:srgbClr val="F3F4F6"/>
          </a:solidFill>
          <a:ln w="12700">
            <a:solidFill>
              <a:srgbClr val="F3F4F6"/>
            </a:solidFill>
            <a:prstDash val="solid"/>
          </a:ln>
        </p:spPr>
      </p:sp>
      <p:sp>
        <p:nvSpPr>
          <p:cNvPr id="19" name="Text 15"/>
          <p:cNvSpPr txBox="1"/>
          <p:nvPr/>
        </p:nvSpPr>
        <p:spPr>
          <a:xfrm>
            <a:off x="2834640" y="4343400"/>
            <a:ext cx="2651760" cy="777240"/>
          </a:xfrm>
          <a:prstGeom prst="rect">
            <a:avLst/>
          </a:prstGeom>
          <a:noFill/>
          <a:ln/>
        </p:spPr>
        <p:txBody>
          <a:bodyPr wrap="square" lIns="25400" tIns="25400" rIns="25400" bIns="25400" rtlCol="0" anchor="ctr">
            <a:normAutofit/>
          </a:bodyPr>
          <a:lstStyle/>
          <a:p>
            <a:pPr algn="ctr" indent="0" marL="0">
              <a:buNone/>
            </a:pPr>
            <a:r>
              <a:rPr lang="en-US" sz="1500" b="1" dirty="0">
                <a:solidFill>
                  <a:srgbClr val="1F2328"/>
                </a:solidFill>
                <a:latin typeface="Calibri" pitchFamily="34" charset="0"/>
                <a:ea typeface="Calibri" pitchFamily="34" charset="-122"/>
                <a:cs typeface="Calibri" pitchFamily="34" charset="-120"/>
              </a:rPr>
              <a:t>Comic (stretch)</a:t>
            </a:r>
            <a:endParaRPr lang="en-US" sz="1500" dirty="0"/>
          </a:p>
          <a:p>
            <a:pPr algn="ctr" indent="0" marL="0">
              <a:buNone/>
            </a:pPr>
            <a:r>
              <a:rPr lang="en-US" sz="1150" dirty="0">
                <a:solidFill>
                  <a:srgbClr val="5B6470"/>
                </a:solidFill>
                <a:latin typeface="Calibri" pitchFamily="34" charset="0"/>
                <a:ea typeface="Calibri" pitchFamily="34" charset="-122"/>
                <a:cs typeface="Calibri" pitchFamily="34" charset="-120"/>
              </a:rPr>
              <a:t>colour</a:t>
            </a:r>
            <a:endParaRPr lang="en-US" sz="1500" dirty="0"/>
          </a:p>
        </p:txBody>
      </p:sp>
      <p:sp>
        <p:nvSpPr>
          <p:cNvPr id="20" name="Shape 16"/>
          <p:cNvSpPr/>
          <p:nvPr/>
        </p:nvSpPr>
        <p:spPr>
          <a:xfrm flipV="1">
            <a:off x="1661160" y="2404872"/>
            <a:ext cx="2499360" cy="566928"/>
          </a:xfrm>
          <a:prstGeom prst="line">
            <a:avLst/>
          </a:prstGeom>
          <a:noFill/>
          <a:ln w="22225">
            <a:solidFill>
              <a:srgbClr val="5B6470"/>
            </a:solidFill>
            <a:prstDash val="solid"/>
            <a:tailEnd type="triangle"/>
          </a:ln>
        </p:spPr>
      </p:sp>
      <p:sp>
        <p:nvSpPr>
          <p:cNvPr id="21" name="Shape 17"/>
          <p:cNvSpPr/>
          <p:nvPr/>
        </p:nvSpPr>
        <p:spPr>
          <a:xfrm>
            <a:off x="4160520" y="2404872"/>
            <a:ext cx="0" cy="566928"/>
          </a:xfrm>
          <a:prstGeom prst="line">
            <a:avLst/>
          </a:prstGeom>
          <a:noFill/>
          <a:ln w="22225">
            <a:solidFill>
              <a:srgbClr val="5B6470"/>
            </a:solidFill>
            <a:prstDash val="solid"/>
            <a:headEnd type="triangle"/>
          </a:ln>
        </p:spPr>
      </p:sp>
      <p:sp>
        <p:nvSpPr>
          <p:cNvPr id="22" name="Shape 18"/>
          <p:cNvSpPr/>
          <p:nvPr/>
        </p:nvSpPr>
        <p:spPr>
          <a:xfrm>
            <a:off x="4160520" y="2404872"/>
            <a:ext cx="2499360" cy="566928"/>
          </a:xfrm>
          <a:prstGeom prst="line">
            <a:avLst/>
          </a:prstGeom>
          <a:noFill/>
          <a:ln w="22225">
            <a:solidFill>
              <a:srgbClr val="5B6470"/>
            </a:solidFill>
            <a:prstDash val="solid"/>
            <a:headEnd type="triangle"/>
          </a:ln>
        </p:spPr>
      </p:sp>
      <p:sp>
        <p:nvSpPr>
          <p:cNvPr id="23" name="Shape 19"/>
          <p:cNvSpPr/>
          <p:nvPr/>
        </p:nvSpPr>
        <p:spPr>
          <a:xfrm>
            <a:off x="1661160" y="3776472"/>
            <a:ext cx="2499360" cy="566928"/>
          </a:xfrm>
          <a:prstGeom prst="line">
            <a:avLst/>
          </a:prstGeom>
          <a:noFill/>
          <a:ln w="22225">
            <a:solidFill>
              <a:srgbClr val="5B6470"/>
            </a:solidFill>
            <a:prstDash val="solid"/>
            <a:headEnd type="triangle"/>
          </a:ln>
        </p:spPr>
      </p:sp>
      <p:sp>
        <p:nvSpPr>
          <p:cNvPr id="24" name="Shape 20"/>
          <p:cNvSpPr/>
          <p:nvPr/>
        </p:nvSpPr>
        <p:spPr>
          <a:xfrm>
            <a:off x="548640" y="5440680"/>
            <a:ext cx="7223760" cy="685800"/>
          </a:xfrm>
          <a:prstGeom prst="roundRect">
            <a:avLst>
              <a:gd name="adj" fmla="val 16000"/>
            </a:avLst>
          </a:prstGeom>
          <a:solidFill>
            <a:srgbClr val="FBECED"/>
          </a:solidFill>
          <a:ln w="12700">
            <a:solidFill>
              <a:srgbClr val="FBECED"/>
            </a:solidFill>
            <a:prstDash val="solid"/>
          </a:ln>
        </p:spPr>
      </p:sp>
      <p:sp>
        <p:nvSpPr>
          <p:cNvPr id="25" name="Text 21"/>
          <p:cNvSpPr txBox="1"/>
          <p:nvPr/>
        </p:nvSpPr>
        <p:spPr>
          <a:xfrm>
            <a:off x="822960" y="5440680"/>
            <a:ext cx="6675120" cy="685800"/>
          </a:xfrm>
          <a:prstGeom prst="rect">
            <a:avLst/>
          </a:prstGeom>
          <a:noFill/>
          <a:ln/>
        </p:spPr>
        <p:txBody>
          <a:bodyPr wrap="square" lIns="0" tIns="0" rIns="0" bIns="0" rtlCol="0" anchor="ctr">
            <a:normAutofit/>
          </a:bodyPr>
          <a:lstStyle/>
          <a:p>
            <a:pPr indent="0" marL="0">
              <a:buNone/>
            </a:pPr>
            <a:r>
              <a:rPr lang="en-US" sz="1550" dirty="0">
                <a:solidFill>
                  <a:srgbClr val="1F2328"/>
                </a:solidFill>
                <a:latin typeface="Calibri" pitchFamily="34" charset="0"/>
                <a:ea typeface="Calibri" pitchFamily="34" charset="-122"/>
                <a:cs typeface="Calibri" pitchFamily="34" charset="-120"/>
              </a:rPr>
              <a:t>id, title, author, genre, year, the rules for them, equals and hashCode stay in Book. They are written once.</a:t>
            </a:r>
            <a:endParaRPr lang="en-US" sz="1550" dirty="0"/>
          </a:p>
        </p:txBody>
      </p:sp>
      <p:sp>
        <p:nvSpPr>
          <p:cNvPr id="26" name="Shape 22"/>
          <p:cNvSpPr/>
          <p:nvPr/>
        </p:nvSpPr>
        <p:spPr>
          <a:xfrm>
            <a:off x="8138160" y="1508760"/>
            <a:ext cx="3504895" cy="4206240"/>
          </a:xfrm>
          <a:prstGeom prst="roundRect">
            <a:avLst>
              <a:gd name="adj" fmla="val 3131"/>
            </a:avLst>
          </a:prstGeom>
          <a:solidFill>
            <a:srgbClr val="FBECED"/>
          </a:solidFill>
          <a:ln w="12700">
            <a:solidFill>
              <a:srgbClr val="FBECED"/>
            </a:solidFill>
            <a:prstDash val="solid"/>
          </a:ln>
        </p:spPr>
      </p:sp>
      <p:sp>
        <p:nvSpPr>
          <p:cNvPr id="27" name="Shape 23"/>
          <p:cNvSpPr/>
          <p:nvPr/>
        </p:nvSpPr>
        <p:spPr>
          <a:xfrm>
            <a:off x="8412480" y="1783080"/>
            <a:ext cx="502920" cy="502920"/>
          </a:xfrm>
          <a:prstGeom prst="ellipse">
            <a:avLst/>
          </a:prstGeom>
          <a:solidFill>
            <a:srgbClr val="C6333B"/>
          </a:solidFill>
          <a:ln w="12700">
            <a:solidFill>
              <a:srgbClr val="C6333B"/>
            </a:solidFill>
            <a:prstDash val="solid"/>
          </a:ln>
        </p:spPr>
      </p:sp>
      <p:sp>
        <p:nvSpPr>
          <p:cNvPr id="28" name="Text 24"/>
          <p:cNvSpPr txBox="1"/>
          <p:nvPr/>
        </p:nvSpPr>
        <p:spPr>
          <a:xfrm>
            <a:off x="9052560" y="1783080"/>
            <a:ext cx="2316175" cy="502920"/>
          </a:xfrm>
          <a:prstGeom prst="rect">
            <a:avLst/>
          </a:prstGeom>
          <a:noFill/>
          <a:ln/>
        </p:spPr>
        <p:txBody>
          <a:bodyPr wrap="square" lIns="0" tIns="0" rIns="0" bIns="0" rtlCol="0" anchor="ctr"/>
          <a:lstStyle/>
          <a:p>
            <a:pPr indent="0" marL="0">
              <a:buNone/>
            </a:pPr>
            <a:r>
              <a:rPr lang="en-US" sz="1700" b="1" dirty="0">
                <a:solidFill>
                  <a:srgbClr val="9C2630"/>
                </a:solidFill>
                <a:latin typeface="Calibri" pitchFamily="34" charset="0"/>
                <a:ea typeface="Calibri" pitchFamily="34" charset="-122"/>
                <a:cs typeface="Calibri" pitchFamily="34" charset="-120"/>
              </a:rPr>
              <a:t>In the starter</a:t>
            </a:r>
            <a:endParaRPr lang="en-US" sz="1700" dirty="0"/>
          </a:p>
        </p:txBody>
      </p:sp>
      <p:sp>
        <p:nvSpPr>
          <p:cNvPr id="29" name="Text 25"/>
          <p:cNvSpPr txBox="1"/>
          <p:nvPr/>
        </p:nvSpPr>
        <p:spPr>
          <a:xfrm>
            <a:off x="8412480" y="2468880"/>
            <a:ext cx="2956255" cy="2971800"/>
          </a:xfrm>
          <a:prstGeom prst="rect">
            <a:avLst/>
          </a:prstGeom>
          <a:noFill/>
          <a:ln/>
        </p:spPr>
        <p:txBody>
          <a:bodyPr wrap="square" lIns="0" tIns="0" rIns="0" bIns="0" rtlCol="0" anchor="t"/>
          <a:lstStyle/>
          <a:p>
            <a:pPr indent="0" marL="0">
              <a:spcAft>
                <a:spcPts val="900"/>
              </a:spcAft>
              <a:buNone/>
            </a:pPr>
            <a:r>
              <a:rPr lang="en-US" sz="1800" dirty="0">
                <a:solidFill>
                  <a:srgbClr val="1F2328"/>
                </a:solidFill>
                <a:latin typeface="Calibri" pitchFamily="34" charset="0"/>
                <a:ea typeface="Calibri" pitchFamily="34" charset="-122"/>
                <a:cs typeface="Calibri" pitchFamily="34" charset="-120"/>
              </a:rPr>
              <a:t>Book is still a normal class.</a:t>
            </a:r>
            <a:endParaRPr lang="en-US" sz="1800" dirty="0"/>
          </a:p>
          <a:p>
            <a:pPr indent="0" marL="0">
              <a:spcAft>
                <a:spcPts val="900"/>
              </a:spcAft>
              <a:buNone/>
            </a:pPr>
            <a:r>
              <a:rPr lang="en-US" sz="1800" dirty="0">
                <a:solidFill>
                  <a:srgbClr val="1F2328"/>
                </a:solidFill>
                <a:latin typeface="Calibri" pitchFamily="34" charset="0"/>
                <a:ea typeface="Calibri" pitchFamily="34" charset="-122"/>
                <a:cs typeface="Calibri" pitchFamily="34" charset="-120"/>
              </a:rPr>
              <a:t>EBook and AudioBook exist as stubs.</a:t>
            </a:r>
            <a:endParaRPr lang="en-US" sz="1800" dirty="0"/>
          </a:p>
          <a:p>
            <a:pPr indent="0" marL="0">
              <a:spcAft>
                <a:spcPts val="900"/>
              </a:spcAft>
              <a:buNone/>
            </a:pPr>
            <a:r>
              <a:rPr lang="en-US" sz="1800" dirty="0">
                <a:solidFill>
                  <a:srgbClr val="1F2328"/>
                </a:solidFill>
                <a:latin typeface="Calibri" pitchFamily="34" charset="0"/>
                <a:ea typeface="Calibri" pitchFamily="34" charset="-122"/>
                <a:cs typeface="Calibri" pitchFamily="34" charset="-120"/>
              </a:rPr>
              <a:t>PrintedBook does not exist. That is your warm up.</a:t>
            </a:r>
            <a:endParaRPr lang="en-US" sz="1800" dirty="0"/>
          </a:p>
          <a:p>
            <a:pPr indent="0" marL="0">
              <a:spcAft>
                <a:spcPts val="900"/>
              </a:spcAft>
              <a:buNone/>
            </a:pPr>
            <a:r>
              <a:rPr lang="en-US" sz="1800" dirty="0">
                <a:solidFill>
                  <a:srgbClr val="1F2328"/>
                </a:solidFill>
                <a:latin typeface="Calibri" pitchFamily="34" charset="0"/>
                <a:ea typeface="Calibri" pitchFamily="34" charset="-122"/>
                <a:cs typeface="Calibri" pitchFamily="34" charset="-120"/>
              </a:rPr>
              <a:t>Library, User and Review are the solutions of last week.</a:t>
            </a:r>
            <a:endParaRPr lang="en-US" sz="1800" dirty="0"/>
          </a:p>
        </p:txBody>
      </p:sp>
      <p:pic>
        <p:nvPicPr>
          <p:cNvPr id="30" name="Image 1" descr="preencoded.png">    </p:cNvPr>
          <p:cNvPicPr>
            <a:picLocks noChangeAspect="1"/>
          </p:cNvPicPr>
          <p:nvPr/>
        </p:nvPicPr>
        <p:blipFill>
          <a:blip r:embed="rId2"/>
          <a:stretch>
            <a:fillRect/>
          </a:stretch>
        </p:blipFill>
        <p:spPr>
          <a:xfrm>
            <a:off x="8533181" y="1903781"/>
            <a:ext cx="261518" cy="26151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62B33"/>
        </a:solidFill>
      </p:bgPr>
    </p:bg>
    <p:spTree>
      <p:nvGrpSpPr>
        <p:cNvPr id="1" name=""/>
        <p:cNvGrpSpPr/>
        <p:nvPr/>
      </p:nvGrpSpPr>
      <p:grpSpPr>
        <a:xfrm>
          <a:off x="0" y="0"/>
          <a:ext cx="0" cy="0"/>
          <a:chOff x="0" y="0"/>
          <a:chExt cx="0" cy="0"/>
        </a:xfrm>
      </p:grpSpPr>
      <p:sp>
        <p:nvSpPr>
          <p:cNvPr id="2" name="Text 0"/>
          <p:cNvSpPr txBox="1"/>
          <p:nvPr/>
        </p:nvSpPr>
        <p:spPr>
          <a:xfrm>
            <a:off x="731520" y="1371600"/>
            <a:ext cx="2743200" cy="1463040"/>
          </a:xfrm>
          <a:prstGeom prst="rect">
            <a:avLst/>
          </a:prstGeom>
          <a:noFill/>
          <a:ln/>
        </p:spPr>
        <p:txBody>
          <a:bodyPr wrap="square" lIns="0" tIns="0" rIns="0" bIns="0" rtlCol="0" anchor="ctr"/>
          <a:lstStyle/>
          <a:p>
            <a:pPr indent="0" marL="0">
              <a:buNone/>
            </a:pPr>
            <a:r>
              <a:rPr lang="en-US" sz="9600" b="1" dirty="0">
                <a:solidFill>
                  <a:srgbClr val="8A919C"/>
                </a:solidFill>
                <a:latin typeface="Calibri" pitchFamily="34" charset="0"/>
                <a:ea typeface="Calibri" pitchFamily="34" charset="-122"/>
                <a:cs typeface="Calibri" pitchFamily="34" charset="-120"/>
              </a:rPr>
              <a:t>02</a:t>
            </a:r>
            <a:endParaRPr lang="en-US" sz="9600" dirty="0"/>
          </a:p>
        </p:txBody>
      </p:sp>
      <p:sp>
        <p:nvSpPr>
          <p:cNvPr id="3" name="Text 1"/>
          <p:cNvSpPr txBox="1"/>
          <p:nvPr/>
        </p:nvSpPr>
        <p:spPr>
          <a:xfrm>
            <a:off x="731520" y="2880360"/>
            <a:ext cx="9601200" cy="1188720"/>
          </a:xfrm>
          <a:prstGeom prst="rect">
            <a:avLst/>
          </a:prstGeom>
          <a:noFill/>
          <a:ln/>
        </p:spPr>
        <p:txBody>
          <a:bodyPr wrap="square" lIns="0" tIns="0" rIns="0" bIns="0" rtlCol="0" anchor="t">
            <a:normAutofit/>
          </a:bodyPr>
          <a:lstStyle/>
          <a:p>
            <a:pPr indent="0" marL="0">
              <a:buNone/>
            </a:pPr>
            <a:r>
              <a:rPr lang="en-US" sz="4000" b="1" dirty="0">
                <a:solidFill>
                  <a:srgbClr val="FFFFFF"/>
                </a:solidFill>
                <a:latin typeface="Calibri" pitchFamily="34" charset="0"/>
                <a:ea typeface="Calibri" pitchFamily="34" charset="-122"/>
                <a:cs typeface="Calibri" pitchFamily="34" charset="-120"/>
              </a:rPr>
              <a:t>Tasks</a:t>
            </a:r>
            <a:endParaRPr lang="en-US" sz="4000" dirty="0"/>
          </a:p>
        </p:txBody>
      </p:sp>
      <p:sp>
        <p:nvSpPr>
          <p:cNvPr id="4" name="Text 2"/>
          <p:cNvSpPr txBox="1"/>
          <p:nvPr/>
        </p:nvSpPr>
        <p:spPr>
          <a:xfrm>
            <a:off x="731520" y="4114800"/>
            <a:ext cx="8686800" cy="914400"/>
          </a:xfrm>
          <a:prstGeom prst="rect">
            <a:avLst/>
          </a:prstGeom>
          <a:noFill/>
          <a:ln/>
        </p:spPr>
        <p:txBody>
          <a:bodyPr wrap="square" lIns="0" tIns="0" rIns="0" bIns="0" rtlCol="0" anchor="t"/>
          <a:lstStyle/>
          <a:p>
            <a:pPr indent="0" marL="0">
              <a:buNone/>
            </a:pPr>
            <a:r>
              <a:rPr lang="en-US" sz="2000" dirty="0">
                <a:solidFill>
                  <a:srgbClr val="FFFFFF"/>
                </a:solidFill>
                <a:latin typeface="Calibri" pitchFamily="34" charset="0"/>
                <a:ea typeface="Calibri" pitchFamily="34" charset="-122"/>
                <a:cs typeface="Calibri" pitchFamily="34" charset="-120"/>
              </a:rPr>
              <a:t>Four core tasks and a demo run.</a:t>
            </a:r>
            <a:endParaRPr lang="en-US" sz="2000" dirty="0"/>
          </a:p>
        </p:txBody>
      </p:sp>
      <p:sp>
        <p:nvSpPr>
          <p:cNvPr id="5" name="Shape 3"/>
          <p:cNvSpPr/>
          <p:nvPr/>
        </p:nvSpPr>
        <p:spPr>
          <a:xfrm>
            <a:off x="731520" y="5257800"/>
            <a:ext cx="1737360" cy="384048"/>
          </a:xfrm>
          <a:prstGeom prst="roundRect">
            <a:avLst>
              <a:gd name="adj" fmla="val 50000"/>
            </a:avLst>
          </a:prstGeom>
          <a:solidFill>
            <a:srgbClr val="FFFFFF"/>
          </a:solidFill>
          <a:ln w="12700">
            <a:solidFill>
              <a:srgbClr val="FFFFFF"/>
            </a:solidFill>
            <a:prstDash val="solid"/>
          </a:ln>
        </p:spPr>
      </p:sp>
      <p:sp>
        <p:nvSpPr>
          <p:cNvPr id="6" name="Text 4"/>
          <p:cNvSpPr txBox="1"/>
          <p:nvPr/>
        </p:nvSpPr>
        <p:spPr>
          <a:xfrm>
            <a:off x="731520" y="5257800"/>
            <a:ext cx="1737360" cy="384048"/>
          </a:xfrm>
          <a:prstGeom prst="rect">
            <a:avLst/>
          </a:prstGeom>
          <a:noFill/>
          <a:ln/>
        </p:spPr>
        <p:txBody>
          <a:bodyPr wrap="square" lIns="0" tIns="0" rIns="0" bIns="0" rtlCol="0" anchor="ctr"/>
          <a:lstStyle/>
          <a:p>
            <a:pPr algn="ctr" indent="0" marL="0">
              <a:buNone/>
            </a:pPr>
            <a:r>
              <a:rPr lang="en-US" sz="1300" b="1" dirty="0">
                <a:solidFill>
                  <a:srgbClr val="262B33"/>
                </a:solidFill>
                <a:latin typeface="Calibri" pitchFamily="34" charset="0"/>
                <a:ea typeface="Calibri" pitchFamily="34" charset="-122"/>
                <a:cs typeface="Calibri" pitchFamily="34" charset="-120"/>
              </a:rPr>
              <a:t>about 84 min</a:t>
            </a:r>
            <a:endParaRPr lang="en-US" sz="1300" dirty="0"/>
          </a:p>
        </p:txBody>
      </p:sp>
      <p:sp>
        <p:nvSpPr>
          <p:cNvPr id="7" name="Text 5"/>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CSCI 2430 Programming Languages  ·  Week 5  ·  Lab</a:t>
            </a:r>
            <a:endParaRPr lang="en-US" sz="1050" dirty="0"/>
          </a:p>
        </p:txBody>
      </p:sp>
      <p:sp>
        <p:nvSpPr>
          <p:cNvPr id="8" name="Text 6"/>
          <p:cNvSpPr txBox="1"/>
          <p:nvPr/>
        </p:nvSpPr>
        <p:spPr>
          <a:xfrm>
            <a:off x="9677095" y="6400800"/>
            <a:ext cx="548640" cy="274320"/>
          </a:xfrm>
          <a:prstGeom prst="rect">
            <a:avLst/>
          </a:prstGeom>
          <a:noFill/>
          <a:ln/>
        </p:spPr>
        <p:txBody>
          <a:bodyPr wrap="square" lIns="0" tIns="0" rIns="0" bIns="0" rtlCol="0" anchor="ctr"/>
          <a:lstStyle/>
          <a:p>
            <a:pPr algn="r" indent="0" marL="0">
              <a:buNone/>
            </a:pPr>
            <a:r>
              <a:rPr lang="en-US" sz="1050" dirty="0">
                <a:solidFill>
                  <a:srgbClr val="FFFFFF"/>
                </a:solidFill>
                <a:latin typeface="Calibri" pitchFamily="34" charset="0"/>
                <a:ea typeface="Calibri" pitchFamily="34" charset="-122"/>
                <a:cs typeface="Calibri" pitchFamily="34" charset="-120"/>
              </a:rPr>
              <a:t>5</a:t>
            </a:r>
            <a:endParaRPr lang="en-US" sz="1050" dirty="0"/>
          </a:p>
        </p:txBody>
      </p:sp>
      <p:pic>
        <p:nvPicPr>
          <p:cNvPr id="9" name="Image 0" descr="/home/claude/decks/assets/logo-white-small.png">    </p:cNvPr>
          <p:cNvPicPr>
            <a:picLocks noChangeAspect="1"/>
          </p:cNvPicPr>
          <p:nvPr/>
        </p:nvPicPr>
        <p:blipFill>
          <a:blip r:embed="rId1"/>
          <a:stretch>
            <a:fillRect/>
          </a:stretch>
        </p:blipFill>
        <p:spPr>
          <a:xfrm>
            <a:off x="10518343" y="6291172"/>
            <a:ext cx="1124712" cy="41138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56032"/>
          </a:xfrm>
          <a:prstGeom prst="rect">
            <a:avLst/>
          </a:prstGeom>
          <a:noFill/>
          <a:ln/>
        </p:spPr>
        <p:txBody>
          <a:bodyPr wrap="square" lIns="0" tIns="0" rIns="0" bIns="0" rtlCol="0" anchor="ctr"/>
          <a:lstStyle/>
          <a:p>
            <a:pPr indent="0" marL="0">
              <a:buNone/>
            </a:pPr>
            <a:r>
              <a:rPr lang="en-US" sz="1200" b="1" spc="200" kern="0" dirty="0">
                <a:solidFill>
                  <a:srgbClr val="C6333B"/>
                </a:solidFill>
                <a:latin typeface="Calibri" pitchFamily="34" charset="0"/>
                <a:ea typeface="Calibri" pitchFamily="34" charset="-122"/>
                <a:cs typeface="Calibri" pitchFamily="34" charset="-120"/>
              </a:rPr>
              <a:t>TASK 1  ·  WARM UP</a:t>
            </a:r>
            <a:endParaRPr lang="en-US" sz="1200" dirty="0"/>
          </a:p>
        </p:txBody>
      </p:sp>
      <p:sp>
        <p:nvSpPr>
          <p:cNvPr id="3" name="Text 1"/>
          <p:cNvSpPr txBox="1"/>
          <p:nvPr/>
        </p:nvSpPr>
        <p:spPr>
          <a:xfrm>
            <a:off x="548640" y="640080"/>
            <a:ext cx="11064240" cy="640080"/>
          </a:xfrm>
          <a:prstGeom prst="rect">
            <a:avLst/>
          </a:prstGeom>
          <a:noFill/>
          <a:ln/>
        </p:spPr>
        <p:txBody>
          <a:bodyPr wrap="square" lIns="0" tIns="0" rIns="0" bIns="0" rtlCol="0" anchor="t">
            <a:normAutofit/>
          </a:bodyPr>
          <a:lstStyle/>
          <a:p>
            <a:pPr indent="0" marL="0">
              <a:buNone/>
            </a:pPr>
            <a:r>
              <a:rPr lang="en-US" sz="3200" b="1" dirty="0">
                <a:solidFill>
                  <a:srgbClr val="1F2328"/>
                </a:solidFill>
                <a:latin typeface="Calibri" pitchFamily="34" charset="0"/>
                <a:ea typeface="Calibri" pitchFamily="34" charset="-122"/>
                <a:cs typeface="Calibri" pitchFamily="34" charset="-120"/>
              </a:rPr>
              <a:t>PrintedBook extends Book</a:t>
            </a:r>
            <a:endParaRPr lang="en-US" sz="3200" dirty="0"/>
          </a:p>
        </p:txBody>
      </p:sp>
      <p:sp>
        <p:nvSpPr>
          <p:cNvPr id="4" name="Text 2"/>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1050" dirty="0">
                <a:solidFill>
                  <a:srgbClr val="5B6470"/>
                </a:solidFill>
                <a:latin typeface="Calibri" pitchFamily="34" charset="0"/>
                <a:ea typeface="Calibri" pitchFamily="34" charset="-122"/>
                <a:cs typeface="Calibri" pitchFamily="34" charset="-120"/>
              </a:rPr>
              <a:t>CSCI 2430 Programming Languages  ·  Week 5  ·  Lab</a:t>
            </a:r>
            <a:endParaRPr lang="en-US" sz="1050" dirty="0"/>
          </a:p>
        </p:txBody>
      </p:sp>
      <p:sp>
        <p:nvSpPr>
          <p:cNvPr id="5" name="Text 3"/>
          <p:cNvSpPr txBox="1"/>
          <p:nvPr/>
        </p:nvSpPr>
        <p:spPr>
          <a:xfrm>
            <a:off x="9677095" y="6400800"/>
            <a:ext cx="548640" cy="274320"/>
          </a:xfrm>
          <a:prstGeom prst="rect">
            <a:avLst/>
          </a:prstGeom>
          <a:noFill/>
          <a:ln/>
        </p:spPr>
        <p:txBody>
          <a:bodyPr wrap="square" lIns="0" tIns="0" rIns="0" bIns="0" rtlCol="0" anchor="ctr"/>
          <a:lstStyle/>
          <a:p>
            <a:pPr algn="r" indent="0" marL="0">
              <a:buNone/>
            </a:pPr>
            <a:r>
              <a:rPr lang="en-US" sz="1050" dirty="0">
                <a:solidFill>
                  <a:srgbClr val="5B6470"/>
                </a:solidFill>
                <a:latin typeface="Calibri" pitchFamily="34" charset="0"/>
                <a:ea typeface="Calibri" pitchFamily="34" charset="-122"/>
                <a:cs typeface="Calibri" pitchFamily="34" charset="-120"/>
              </a:rPr>
              <a:t>6</a:t>
            </a:r>
            <a:endParaRPr lang="en-US" sz="1050" dirty="0"/>
          </a:p>
        </p:txBody>
      </p:sp>
      <p:pic>
        <p:nvPicPr>
          <p:cNvPr id="6" name="Image 0" descr="/home/claude/decks/assets/logo-red-transparent-small.png">    </p:cNvPr>
          <p:cNvPicPr>
            <a:picLocks noChangeAspect="1"/>
          </p:cNvPicPr>
          <p:nvPr/>
        </p:nvPicPr>
        <p:blipFill>
          <a:blip r:embed="rId1"/>
          <a:stretch>
            <a:fillRect/>
          </a:stretch>
        </p:blipFill>
        <p:spPr>
          <a:xfrm>
            <a:off x="10518343" y="6291172"/>
            <a:ext cx="1124712" cy="411380"/>
          </a:xfrm>
          <a:prstGeom prst="rect">
            <a:avLst/>
          </a:prstGeom>
        </p:spPr>
      </p:pic>
      <p:sp>
        <p:nvSpPr>
          <p:cNvPr id="8" name="Shape 4"/>
          <p:cNvSpPr/>
          <p:nvPr/>
        </p:nvSpPr>
        <p:spPr>
          <a:xfrm>
            <a:off x="10180015" y="411480"/>
            <a:ext cx="1463040" cy="329184"/>
          </a:xfrm>
          <a:prstGeom prst="roundRect">
            <a:avLst>
              <a:gd name="adj" fmla="val 50000"/>
            </a:avLst>
          </a:prstGeom>
          <a:solidFill>
            <a:srgbClr val="1E7F4F"/>
          </a:solidFill>
          <a:ln w="12700">
            <a:solidFill>
              <a:srgbClr val="1E7F4F"/>
            </a:solidFill>
            <a:prstDash val="solid"/>
          </a:ln>
        </p:spPr>
      </p:sp>
      <p:sp>
        <p:nvSpPr>
          <p:cNvPr id="9" name="Text 5"/>
          <p:cNvSpPr txBox="1"/>
          <p:nvPr/>
        </p:nvSpPr>
        <p:spPr>
          <a:xfrm>
            <a:off x="10180015" y="411480"/>
            <a:ext cx="1463040"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15 min</a:t>
            </a:r>
            <a:endParaRPr lang="en-US" sz="1250" dirty="0"/>
          </a:p>
        </p:txBody>
      </p:sp>
      <p:sp>
        <p:nvSpPr>
          <p:cNvPr id="10" name="Shape 6"/>
          <p:cNvSpPr/>
          <p:nvPr/>
        </p:nvSpPr>
        <p:spPr>
          <a:xfrm>
            <a:off x="548640" y="1508760"/>
            <a:ext cx="5120640" cy="1325880"/>
          </a:xfrm>
          <a:prstGeom prst="roundRect">
            <a:avLst>
              <a:gd name="adj" fmla="val 8276"/>
            </a:avLst>
          </a:prstGeom>
          <a:solidFill>
            <a:srgbClr val="FBECED"/>
          </a:solidFill>
          <a:ln w="12700">
            <a:solidFill>
              <a:srgbClr val="FBECED"/>
            </a:solidFill>
            <a:prstDash val="solid"/>
          </a:ln>
        </p:spPr>
      </p:sp>
      <p:sp>
        <p:nvSpPr>
          <p:cNvPr id="11" name="Text 7"/>
          <p:cNvSpPr txBox="1"/>
          <p:nvPr/>
        </p:nvSpPr>
        <p:spPr>
          <a:xfrm>
            <a:off x="822960" y="1600200"/>
            <a:ext cx="4572000" cy="1143000"/>
          </a:xfrm>
          <a:prstGeom prst="rect">
            <a:avLst/>
          </a:prstGeom>
          <a:noFill/>
          <a:ln/>
        </p:spPr>
        <p:txBody>
          <a:bodyPr wrap="square" lIns="0" tIns="0" rIns="0" bIns="0" rtlCol="0" anchor="t"/>
          <a:lstStyle/>
          <a:p>
            <a:pPr indent="0" marL="0">
              <a:buNone/>
            </a:pPr>
            <a:r>
              <a:rPr lang="en-US" sz="1200" b="1" spc="200" kern="0" dirty="0">
                <a:solidFill>
                  <a:srgbClr val="C6333B"/>
                </a:solidFill>
                <a:latin typeface="Calibri" pitchFamily="34" charset="0"/>
                <a:ea typeface="Calibri" pitchFamily="34" charset="-122"/>
                <a:cs typeface="Calibri" pitchFamily="34" charset="-120"/>
              </a:rPr>
              <a:t>GOAL  </a:t>
            </a:r>
            <a:endParaRPr lang="en-US" sz="1200" dirty="0"/>
          </a:p>
          <a:p>
            <a:pPr indent="0" marL="0">
              <a:buNone/>
            </a:pPr>
            <a:r>
              <a:rPr lang="en-US" sz="1700" dirty="0">
                <a:solidFill>
                  <a:srgbClr val="1F2328"/>
                </a:solidFill>
                <a:latin typeface="Calibri" pitchFamily="34" charset="0"/>
                <a:ea typeface="Calibri" pitchFamily="34" charset="-122"/>
                <a:cs typeface="Calibri" pitchFamily="34" charset="-120"/>
              </a:rPr>
              <a:t>Your first subclass, written from an empty file. It adds the number of pages and answers two questions about itself.</a:t>
            </a:r>
            <a:endParaRPr lang="en-US" sz="1200" dirty="0"/>
          </a:p>
        </p:txBody>
      </p:sp>
      <p:sp>
        <p:nvSpPr>
          <p:cNvPr id="12" name="Text 8"/>
          <p:cNvSpPr txBox="1"/>
          <p:nvPr/>
        </p:nvSpPr>
        <p:spPr>
          <a:xfrm>
            <a:off x="548640" y="3017520"/>
            <a:ext cx="5120640" cy="274320"/>
          </a:xfrm>
          <a:prstGeom prst="rect">
            <a:avLst/>
          </a:prstGeom>
          <a:noFill/>
          <a:ln/>
        </p:spPr>
        <p:txBody>
          <a:bodyPr wrap="square" lIns="0" tIns="0" rIns="0" bIns="0" rtlCol="0" anchor="ctr"/>
          <a:lstStyle/>
          <a:p>
            <a:pPr indent="0" marL="0">
              <a:buNone/>
            </a:pPr>
            <a:r>
              <a:rPr lang="en-US" sz="1200" b="1" spc="200" kern="0" dirty="0">
                <a:solidFill>
                  <a:srgbClr val="5B6470"/>
                </a:solidFill>
                <a:latin typeface="Calibri" pitchFamily="34" charset="0"/>
                <a:ea typeface="Calibri" pitchFamily="34" charset="-122"/>
                <a:cs typeface="Calibri" pitchFamily="34" charset="-120"/>
              </a:rPr>
              <a:t>WHAT TO DO</a:t>
            </a:r>
            <a:endParaRPr lang="en-US" sz="1200" dirty="0"/>
          </a:p>
        </p:txBody>
      </p:sp>
      <p:sp>
        <p:nvSpPr>
          <p:cNvPr id="13" name="Text 9"/>
          <p:cNvSpPr txBox="1"/>
          <p:nvPr/>
        </p:nvSpPr>
        <p:spPr>
          <a:xfrm>
            <a:off x="548640" y="3337560"/>
            <a:ext cx="5120640" cy="2788920"/>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550" dirty="0">
                <a:solidFill>
                  <a:srgbClr val="1F2328"/>
                </a:solidFill>
                <a:latin typeface="Calibri" pitchFamily="34" charset="0"/>
                <a:ea typeface="Calibri" pitchFamily="34" charset="-122"/>
                <a:cs typeface="Calibri" pitchFamily="34" charset="-120"/>
              </a:rPr>
              <a:t>New class in the package bookreview: public class PrintedBook extends Book.</a:t>
            </a:r>
            <a:endParaRPr lang="en-US" sz="1550" dirty="0"/>
          </a:p>
          <a:p>
            <a:pPr marL="342900" indent="-342900">
              <a:spcAft>
                <a:spcPts val="600"/>
              </a:spcAft>
              <a:buSzPct val="100000"/>
              <a:buFont typeface="+mj-lt"/>
              <a:buAutoNum type="arabicPeriod" startAt="1"/>
            </a:pPr>
            <a:r>
              <a:rPr lang="en-US" sz="1550" dirty="0">
                <a:solidFill>
                  <a:srgbClr val="1F2328"/>
                </a:solidFill>
                <a:latin typeface="Calibri" pitchFamily="34" charset="0"/>
                <a:ea typeface="Calibri" pitchFamily="34" charset="-122"/>
                <a:cs typeface="Calibri" pitchFamily="34" charset="-120"/>
              </a:rPr>
              <a:t>One private field: int pages, with a getter.</a:t>
            </a:r>
            <a:endParaRPr lang="en-US" sz="1550" dirty="0"/>
          </a:p>
          <a:p>
            <a:pPr marL="342900" indent="-342900">
              <a:spcAft>
                <a:spcPts val="600"/>
              </a:spcAft>
              <a:buSzPct val="100000"/>
              <a:buFont typeface="+mj-lt"/>
              <a:buAutoNum type="arabicPeriod" startAt="1"/>
            </a:pPr>
            <a:r>
              <a:rPr lang="en-US" sz="1550" dirty="0">
                <a:solidFill>
                  <a:srgbClr val="1F2328"/>
                </a:solidFill>
                <a:latin typeface="Calibri" pitchFamily="34" charset="0"/>
                <a:ea typeface="Calibri" pitchFamily="34" charset="-122"/>
                <a:cs typeface="Calibri" pitchFamily="34" charset="-120"/>
              </a:rPr>
              <a:t>Constructor with title, author, genre, year and pages. The first four go up with super(...).</a:t>
            </a:r>
            <a:endParaRPr lang="en-US" sz="1550" dirty="0"/>
          </a:p>
          <a:p>
            <a:pPr marL="342900" indent="-342900">
              <a:spcAft>
                <a:spcPts val="600"/>
              </a:spcAft>
              <a:buSzPct val="100000"/>
              <a:buFont typeface="+mj-lt"/>
              <a:buAutoNum type="arabicPeriod" startAt="1"/>
            </a:pPr>
            <a:r>
              <a:rPr lang="en-US" sz="1550" dirty="0">
                <a:solidFill>
                  <a:srgbClr val="1F2328"/>
                </a:solidFill>
                <a:latin typeface="Calibri" pitchFamily="34" charset="0"/>
                <a:ea typeface="Calibri" pitchFamily="34" charset="-122"/>
                <a:cs typeface="Calibri" pitchFamily="34" charset="-120"/>
              </a:rPr>
              <a:t>Override format(): it returns "printed".</a:t>
            </a:r>
            <a:endParaRPr lang="en-US" sz="1550" dirty="0"/>
          </a:p>
          <a:p>
            <a:pPr marL="342900" indent="-342900">
              <a:spcAft>
                <a:spcPts val="600"/>
              </a:spcAft>
              <a:buSzPct val="100000"/>
              <a:buFont typeface="+mj-lt"/>
              <a:buAutoNum type="arabicPeriod" startAt="1"/>
            </a:pPr>
            <a:r>
              <a:rPr lang="en-US" sz="1550" dirty="0">
                <a:solidFill>
                  <a:srgbClr val="1F2328"/>
                </a:solidFill>
                <a:latin typeface="Calibri" pitchFamily="34" charset="0"/>
                <a:ea typeface="Calibri" pitchFamily="34" charset="-122"/>
                <a:cs typeface="Calibri" pitchFamily="34" charset="-120"/>
              </a:rPr>
              <a:t>Override sizeInfo(): it returns for example "474 pages".</a:t>
            </a:r>
            <a:endParaRPr lang="en-US" sz="1550" dirty="0"/>
          </a:p>
          <a:p>
            <a:pPr marL="342900" indent="-342900">
              <a:spcAft>
                <a:spcPts val="600"/>
              </a:spcAft>
              <a:buSzPct val="100000"/>
              <a:buFont typeface="+mj-lt"/>
              <a:buAutoNum type="arabicPeriod" startAt="1"/>
            </a:pPr>
            <a:r>
              <a:rPr lang="en-US" sz="1550" dirty="0">
                <a:solidFill>
                  <a:srgbClr val="1F2328"/>
                </a:solidFill>
                <a:latin typeface="Calibri" pitchFamily="34" charset="0"/>
                <a:ea typeface="Calibri" pitchFamily="34" charset="-122"/>
                <a:cs typeface="Calibri" pitchFamily="34" charset="-120"/>
              </a:rPr>
              <a:t>Both overrides carry @Override. Run PrintedBookTest.</a:t>
            </a:r>
            <a:endParaRPr lang="en-US" sz="1550" dirty="0"/>
          </a:p>
        </p:txBody>
      </p:sp>
      <p:sp>
        <p:nvSpPr>
          <p:cNvPr id="14" name="Shape 10"/>
          <p:cNvSpPr/>
          <p:nvPr/>
        </p:nvSpPr>
        <p:spPr>
          <a:xfrm>
            <a:off x="6035040" y="1508760"/>
            <a:ext cx="5608015" cy="2350008"/>
          </a:xfrm>
          <a:prstGeom prst="roundRect">
            <a:avLst>
              <a:gd name="adj" fmla="val 3891"/>
            </a:avLst>
          </a:prstGeom>
          <a:solidFill>
            <a:srgbClr val="1B2029"/>
          </a:solidFill>
          <a:ln w="12700">
            <a:solidFill>
              <a:srgbClr val="1B2029"/>
            </a:solidFill>
            <a:prstDash val="solid"/>
          </a:ln>
        </p:spPr>
      </p:sp>
      <p:sp>
        <p:nvSpPr>
          <p:cNvPr id="15" name="Text 11"/>
          <p:cNvSpPr txBox="1"/>
          <p:nvPr/>
        </p:nvSpPr>
        <p:spPr>
          <a:xfrm>
            <a:off x="6291072" y="1618488"/>
            <a:ext cx="5095951" cy="256032"/>
          </a:xfrm>
          <a:prstGeom prst="rect">
            <a:avLst/>
          </a:prstGeom>
          <a:noFill/>
          <a:ln/>
        </p:spPr>
        <p:txBody>
          <a:bodyPr wrap="square" lIns="0" tIns="0" rIns="0" bIns="0" rtlCol="0" anchor="ctr"/>
          <a:lstStyle/>
          <a:p>
            <a:pPr indent="0" marL="0">
              <a:buNone/>
            </a:pPr>
            <a:r>
              <a:rPr lang="en-US" sz="1100" b="1" spc="100" kern="0" dirty="0">
                <a:solidFill>
                  <a:srgbClr val="8B97A6"/>
                </a:solidFill>
                <a:latin typeface="Calibri" pitchFamily="34" charset="0"/>
                <a:ea typeface="Calibri" pitchFamily="34" charset="-122"/>
                <a:cs typeface="Calibri" pitchFamily="34" charset="-120"/>
              </a:rPr>
              <a:t>FROM THE LECTURE</a:t>
            </a:r>
            <a:endParaRPr lang="en-US" sz="1100" dirty="0"/>
          </a:p>
        </p:txBody>
      </p:sp>
      <p:sp>
        <p:nvSpPr>
          <p:cNvPr id="16" name="Text 12"/>
          <p:cNvSpPr txBox="1"/>
          <p:nvPr/>
        </p:nvSpPr>
        <p:spPr>
          <a:xfrm>
            <a:off x="6291072" y="1965960"/>
            <a:ext cx="5095951" cy="1709928"/>
          </a:xfrm>
          <a:prstGeom prst="rect">
            <a:avLst/>
          </a:prstGeom>
          <a:noFill/>
          <a:ln/>
        </p:spPr>
        <p:txBody>
          <a:bodyPr wrap="none" lIns="0" tIns="0" rIns="0" bIns="0" rtlCol="0" anchor="t"/>
          <a:lstStyle/>
          <a:p>
            <a:pPr indent="0" marL="0">
              <a:lnSpc>
                <a:spcPct val="105000"/>
              </a:lnSpc>
              <a:buNone/>
            </a:pPr>
            <a:r>
              <a:rPr lang="en-US" sz="1300" dirty="0">
                <a:solidFill>
                  <a:srgbClr val="FF8A93"/>
                </a:solidFill>
                <a:latin typeface="Consolas" pitchFamily="34" charset="0"/>
                <a:ea typeface="Consolas" pitchFamily="34" charset="-122"/>
                <a:cs typeface="Consolas" pitchFamily="34" charset="-120"/>
              </a:rPr>
              <a:t>class</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AudioBook </a:t>
            </a:r>
            <a:pPr indent="0" marL="0">
              <a:lnSpc>
                <a:spcPct val="105000"/>
              </a:lnSpc>
              <a:buNone/>
            </a:pPr>
            <a:r>
              <a:rPr lang="en-US" sz="1300" dirty="0">
                <a:solidFill>
                  <a:srgbClr val="FF8A93"/>
                </a:solidFill>
                <a:latin typeface="Consolas" pitchFamily="34" charset="0"/>
                <a:ea typeface="Consolas" pitchFamily="34" charset="-122"/>
                <a:cs typeface="Consolas" pitchFamily="34" charset="-120"/>
              </a:rPr>
              <a:t>extends</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Book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FF8A93"/>
                </a:solidFill>
                <a:latin typeface="Consolas" pitchFamily="34" charset="0"/>
                <a:ea typeface="Consolas" pitchFamily="34" charset="-122"/>
                <a:cs typeface="Consolas" pitchFamily="34" charset="-120"/>
              </a:rPr>
              <a:t>private</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FF8A93"/>
                </a:solidFill>
                <a:latin typeface="Consolas" pitchFamily="34" charset="0"/>
                <a:ea typeface="Consolas" pitchFamily="34" charset="-122"/>
                <a:cs typeface="Consolas" pitchFamily="34" charset="-120"/>
              </a:rPr>
              <a:t>int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minutes;</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AudioBook(String title, </a:t>
            </a:r>
            <a:pPr indent="0" marL="0">
              <a:lnSpc>
                <a:spcPct val="105000"/>
              </a:lnSpc>
              <a:buNone/>
            </a:pPr>
            <a:r>
              <a:rPr lang="en-US" sz="1300" dirty="0">
                <a:solidFill>
                  <a:srgbClr val="FF8A93"/>
                </a:solidFill>
                <a:latin typeface="Consolas" pitchFamily="34" charset="0"/>
                <a:ea typeface="Consolas" pitchFamily="34" charset="-122"/>
                <a:cs typeface="Consolas" pitchFamily="34" charset="-120"/>
              </a:rPr>
              <a:t>int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minutes)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FF8A93"/>
                </a:solidFill>
                <a:latin typeface="Consolas" pitchFamily="34" charset="0"/>
                <a:ea typeface="Consolas" pitchFamily="34" charset="-122"/>
                <a:cs typeface="Consolas" pitchFamily="34" charset="-120"/>
              </a:rPr>
              <a:t>super</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(title);            </a:t>
            </a:r>
            <a:pPr indent="0" marL="0">
              <a:lnSpc>
                <a:spcPct val="105000"/>
              </a:lnSpc>
              <a:buNone/>
            </a:pPr>
            <a:r>
              <a:rPr lang="en-US" sz="1300" dirty="0">
                <a:solidFill>
                  <a:srgbClr val="8B97A6"/>
                </a:solidFill>
                <a:latin typeface="Consolas" pitchFamily="34" charset="0"/>
                <a:ea typeface="Consolas" pitchFamily="34" charset="-122"/>
                <a:cs typeface="Consolas" pitchFamily="34" charset="-120"/>
              </a:rPr>
              <a:t>// first statement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FF8A93"/>
                </a:solidFill>
                <a:latin typeface="Consolas" pitchFamily="34" charset="0"/>
                <a:ea typeface="Consolas" pitchFamily="34" charset="-122"/>
                <a:cs typeface="Consolas" pitchFamily="34" charset="-120"/>
              </a:rPr>
              <a:t>this</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.minutes = minutes;</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endParaRPr lang="en-US" sz="1300" dirty="0"/>
          </a:p>
        </p:txBody>
      </p:sp>
      <p:sp>
        <p:nvSpPr>
          <p:cNvPr id="17" name="Shape 13"/>
          <p:cNvSpPr/>
          <p:nvPr/>
        </p:nvSpPr>
        <p:spPr>
          <a:xfrm>
            <a:off x="6035040" y="4041648"/>
            <a:ext cx="5608015" cy="2084832"/>
          </a:xfrm>
          <a:prstGeom prst="roundRect">
            <a:avLst>
              <a:gd name="adj" fmla="val 5263"/>
            </a:avLst>
          </a:prstGeom>
          <a:solidFill>
            <a:srgbClr val="E7F5EC"/>
          </a:solidFill>
          <a:ln w="12700">
            <a:solidFill>
              <a:srgbClr val="E7F5EC"/>
            </a:solidFill>
            <a:prstDash val="solid"/>
          </a:ln>
        </p:spPr>
      </p:sp>
      <p:sp>
        <p:nvSpPr>
          <p:cNvPr id="18" name="Text 14"/>
          <p:cNvSpPr txBox="1"/>
          <p:nvPr/>
        </p:nvSpPr>
        <p:spPr>
          <a:xfrm>
            <a:off x="6309360" y="4178808"/>
            <a:ext cx="5059375" cy="274320"/>
          </a:xfrm>
          <a:prstGeom prst="rect">
            <a:avLst/>
          </a:prstGeom>
          <a:noFill/>
          <a:ln/>
        </p:spPr>
        <p:txBody>
          <a:bodyPr wrap="square" lIns="0" tIns="0" rIns="0" bIns="0" rtlCol="0" anchor="ctr"/>
          <a:lstStyle/>
          <a:p>
            <a:pPr indent="0" marL="0">
              <a:buNone/>
            </a:pPr>
            <a:r>
              <a:rPr lang="en-US" sz="1200" b="1" spc="200" kern="0" dirty="0">
                <a:solidFill>
                  <a:srgbClr val="1E7F4F"/>
                </a:solidFill>
                <a:latin typeface="Calibri" pitchFamily="34" charset="0"/>
                <a:ea typeface="Calibri" pitchFamily="34" charset="-122"/>
                <a:cs typeface="Calibri" pitchFamily="34" charset="-120"/>
              </a:rPr>
              <a:t>DONE WHEN</a:t>
            </a:r>
            <a:endParaRPr lang="en-US" sz="1200" dirty="0"/>
          </a:p>
        </p:txBody>
      </p:sp>
      <p:sp>
        <p:nvSpPr>
          <p:cNvPr id="19" name="Text 15"/>
          <p:cNvSpPr txBox="1"/>
          <p:nvPr/>
        </p:nvSpPr>
        <p:spPr>
          <a:xfrm>
            <a:off x="6309360" y="4517136"/>
            <a:ext cx="5059375" cy="1490472"/>
          </a:xfrm>
          <a:prstGeom prst="rect">
            <a:avLst/>
          </a:prstGeom>
          <a:noFill/>
          <a:ln/>
        </p:spPr>
        <p:txBody>
          <a:bodyPr wrap="square" lIns="0" tIns="0" rIns="0" bIns="0" rtlCol="0" anchor="t"/>
          <a:lstStyle/>
          <a:p>
            <a:pPr marL="342900" indent="-342900">
              <a:spcAft>
                <a:spcPts val="600"/>
              </a:spcAft>
              <a:buSzPct val="100000"/>
              <a:buChar char="✓"/>
            </a:pPr>
            <a:r>
              <a:rPr lang="en-US" sz="1700" dirty="0">
                <a:solidFill>
                  <a:srgbClr val="1F2328"/>
                </a:solidFill>
                <a:latin typeface="Calibri" pitchFamily="34" charset="0"/>
                <a:ea typeface="Calibri" pitchFamily="34" charset="-122"/>
                <a:cs typeface="Calibri" pitchFamily="34" charset="-120"/>
              </a:rPr>
              <a:t>The four tests in PrintedBookTest are green</a:t>
            </a:r>
            <a:endParaRPr lang="en-US" sz="1700" dirty="0"/>
          </a:p>
          <a:p>
            <a:pPr marL="342900" indent="-342900">
              <a:spcAft>
                <a:spcPts val="600"/>
              </a:spcAft>
              <a:buSzPct val="100000"/>
              <a:buChar char="✓"/>
            </a:pPr>
            <a:r>
              <a:rPr lang="en-US" sz="1700" dirty="0">
                <a:solidFill>
                  <a:srgbClr val="1F2328"/>
                </a:solidFill>
                <a:latin typeface="Calibri" pitchFamily="34" charset="0"/>
                <a:ea typeface="Calibri" pitchFamily="34" charset="-122"/>
                <a:cs typeface="Calibri" pitchFamily="34" charset="-120"/>
              </a:rPr>
              <a:t>title and year are not fields of PrintedBook</a:t>
            </a:r>
            <a:endParaRPr lang="en-US" sz="1700" dirty="0"/>
          </a:p>
          <a:p>
            <a:pPr marL="342900" indent="-342900">
              <a:spcAft>
                <a:spcPts val="600"/>
              </a:spcAft>
              <a:buSzPct val="100000"/>
              <a:buChar char="✓"/>
            </a:pPr>
            <a:r>
              <a:rPr lang="en-US" sz="1700" dirty="0">
                <a:solidFill>
                  <a:srgbClr val="1F2328"/>
                </a:solidFill>
                <a:latin typeface="Calibri" pitchFamily="34" charset="0"/>
                <a:ea typeface="Calibri" pitchFamily="34" charset="-122"/>
                <a:cs typeface="Calibri" pitchFamily="34" charset="-120"/>
              </a:rPr>
              <a:t>Commit</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56032"/>
          </a:xfrm>
          <a:prstGeom prst="rect">
            <a:avLst/>
          </a:prstGeom>
          <a:noFill/>
          <a:ln/>
        </p:spPr>
        <p:txBody>
          <a:bodyPr wrap="square" lIns="0" tIns="0" rIns="0" bIns="0" rtlCol="0" anchor="ctr"/>
          <a:lstStyle/>
          <a:p>
            <a:pPr indent="0" marL="0">
              <a:buNone/>
            </a:pPr>
            <a:r>
              <a:rPr lang="en-US" sz="1200" b="1" spc="200" kern="0" dirty="0">
                <a:solidFill>
                  <a:srgbClr val="C6333B"/>
                </a:solidFill>
                <a:latin typeface="Calibri" pitchFamily="34" charset="0"/>
                <a:ea typeface="Calibri" pitchFamily="34" charset="-122"/>
                <a:cs typeface="Calibri" pitchFamily="34" charset="-120"/>
              </a:rPr>
              <a:t>TASK 2  ·  CORE</a:t>
            </a:r>
            <a:endParaRPr lang="en-US" sz="1200" dirty="0"/>
          </a:p>
        </p:txBody>
      </p:sp>
      <p:sp>
        <p:nvSpPr>
          <p:cNvPr id="3" name="Text 1"/>
          <p:cNvSpPr txBox="1"/>
          <p:nvPr/>
        </p:nvSpPr>
        <p:spPr>
          <a:xfrm>
            <a:off x="548640" y="640080"/>
            <a:ext cx="11064240" cy="640080"/>
          </a:xfrm>
          <a:prstGeom prst="rect">
            <a:avLst/>
          </a:prstGeom>
          <a:noFill/>
          <a:ln/>
        </p:spPr>
        <p:txBody>
          <a:bodyPr wrap="square" lIns="0" tIns="0" rIns="0" bIns="0" rtlCol="0" anchor="t">
            <a:normAutofit/>
          </a:bodyPr>
          <a:lstStyle/>
          <a:p>
            <a:pPr indent="0" marL="0">
              <a:buNone/>
            </a:pPr>
            <a:r>
              <a:rPr lang="en-US" sz="3200" b="1" dirty="0">
                <a:solidFill>
                  <a:srgbClr val="1F2328"/>
                </a:solidFill>
                <a:latin typeface="Calibri" pitchFamily="34" charset="0"/>
                <a:ea typeface="Calibri" pitchFamily="34" charset="-122"/>
                <a:cs typeface="Calibri" pitchFamily="34" charset="-120"/>
              </a:rPr>
              <a:t>EBook and AudioBook</a:t>
            </a:r>
            <a:endParaRPr lang="en-US" sz="3200" dirty="0"/>
          </a:p>
        </p:txBody>
      </p:sp>
      <p:sp>
        <p:nvSpPr>
          <p:cNvPr id="4" name="Text 2"/>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1050" dirty="0">
                <a:solidFill>
                  <a:srgbClr val="5B6470"/>
                </a:solidFill>
                <a:latin typeface="Calibri" pitchFamily="34" charset="0"/>
                <a:ea typeface="Calibri" pitchFamily="34" charset="-122"/>
                <a:cs typeface="Calibri" pitchFamily="34" charset="-120"/>
              </a:rPr>
              <a:t>CSCI 2430 Programming Languages  ·  Week 5  ·  Lab</a:t>
            </a:r>
            <a:endParaRPr lang="en-US" sz="1050" dirty="0"/>
          </a:p>
        </p:txBody>
      </p:sp>
      <p:sp>
        <p:nvSpPr>
          <p:cNvPr id="5" name="Text 3"/>
          <p:cNvSpPr txBox="1"/>
          <p:nvPr/>
        </p:nvSpPr>
        <p:spPr>
          <a:xfrm>
            <a:off x="9677095" y="6400800"/>
            <a:ext cx="548640" cy="274320"/>
          </a:xfrm>
          <a:prstGeom prst="rect">
            <a:avLst/>
          </a:prstGeom>
          <a:noFill/>
          <a:ln/>
        </p:spPr>
        <p:txBody>
          <a:bodyPr wrap="square" lIns="0" tIns="0" rIns="0" bIns="0" rtlCol="0" anchor="ctr"/>
          <a:lstStyle/>
          <a:p>
            <a:pPr algn="r" indent="0" marL="0">
              <a:buNone/>
            </a:pPr>
            <a:r>
              <a:rPr lang="en-US" sz="1050" dirty="0">
                <a:solidFill>
                  <a:srgbClr val="5B6470"/>
                </a:solidFill>
                <a:latin typeface="Calibri" pitchFamily="34" charset="0"/>
                <a:ea typeface="Calibri" pitchFamily="34" charset="-122"/>
                <a:cs typeface="Calibri" pitchFamily="34" charset="-120"/>
              </a:rPr>
              <a:t>7</a:t>
            </a:r>
            <a:endParaRPr lang="en-US" sz="1050" dirty="0"/>
          </a:p>
        </p:txBody>
      </p:sp>
      <p:pic>
        <p:nvPicPr>
          <p:cNvPr id="6" name="Image 0" descr="/home/claude/decks/assets/logo-red-transparent-small.png">    </p:cNvPr>
          <p:cNvPicPr>
            <a:picLocks noChangeAspect="1"/>
          </p:cNvPicPr>
          <p:nvPr/>
        </p:nvPicPr>
        <p:blipFill>
          <a:blip r:embed="rId1"/>
          <a:stretch>
            <a:fillRect/>
          </a:stretch>
        </p:blipFill>
        <p:spPr>
          <a:xfrm>
            <a:off x="10518343" y="6291172"/>
            <a:ext cx="1124712" cy="411380"/>
          </a:xfrm>
          <a:prstGeom prst="rect">
            <a:avLst/>
          </a:prstGeom>
        </p:spPr>
      </p:pic>
      <p:sp>
        <p:nvSpPr>
          <p:cNvPr id="8" name="Shape 4"/>
          <p:cNvSpPr/>
          <p:nvPr/>
        </p:nvSpPr>
        <p:spPr>
          <a:xfrm>
            <a:off x="10180015" y="411480"/>
            <a:ext cx="1463040" cy="329184"/>
          </a:xfrm>
          <a:prstGeom prst="roundRect">
            <a:avLst>
              <a:gd name="adj" fmla="val 50000"/>
            </a:avLst>
          </a:prstGeom>
          <a:solidFill>
            <a:srgbClr val="C6333B"/>
          </a:solidFill>
          <a:ln w="12700">
            <a:solidFill>
              <a:srgbClr val="C6333B"/>
            </a:solidFill>
            <a:prstDash val="solid"/>
          </a:ln>
        </p:spPr>
      </p:sp>
      <p:sp>
        <p:nvSpPr>
          <p:cNvPr id="9" name="Text 5"/>
          <p:cNvSpPr txBox="1"/>
          <p:nvPr/>
        </p:nvSpPr>
        <p:spPr>
          <a:xfrm>
            <a:off x="10180015" y="411480"/>
            <a:ext cx="1463040"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15 min</a:t>
            </a:r>
            <a:endParaRPr lang="en-US" sz="1250" dirty="0"/>
          </a:p>
        </p:txBody>
      </p:sp>
      <p:sp>
        <p:nvSpPr>
          <p:cNvPr id="10" name="Shape 6"/>
          <p:cNvSpPr/>
          <p:nvPr/>
        </p:nvSpPr>
        <p:spPr>
          <a:xfrm>
            <a:off x="548640" y="1508760"/>
            <a:ext cx="6766560" cy="807720"/>
          </a:xfrm>
          <a:prstGeom prst="roundRect">
            <a:avLst>
              <a:gd name="adj" fmla="val 13585"/>
            </a:avLst>
          </a:prstGeom>
          <a:solidFill>
            <a:srgbClr val="FBECED"/>
          </a:solidFill>
          <a:ln w="12700">
            <a:solidFill>
              <a:srgbClr val="FBECED"/>
            </a:solidFill>
            <a:prstDash val="solid"/>
          </a:ln>
        </p:spPr>
      </p:sp>
      <p:sp>
        <p:nvSpPr>
          <p:cNvPr id="11" name="Text 7"/>
          <p:cNvSpPr txBox="1"/>
          <p:nvPr/>
        </p:nvSpPr>
        <p:spPr>
          <a:xfrm>
            <a:off x="822960" y="1600200"/>
            <a:ext cx="6217920" cy="624840"/>
          </a:xfrm>
          <a:prstGeom prst="rect">
            <a:avLst/>
          </a:prstGeom>
          <a:noFill/>
          <a:ln/>
        </p:spPr>
        <p:txBody>
          <a:bodyPr wrap="square" lIns="0" tIns="0" rIns="0" bIns="0" rtlCol="0" anchor="t"/>
          <a:lstStyle/>
          <a:p>
            <a:pPr indent="0" marL="0">
              <a:buNone/>
            </a:pPr>
            <a:r>
              <a:rPr lang="en-US" sz="1200" b="1" spc="200" kern="0" dirty="0">
                <a:solidFill>
                  <a:srgbClr val="C6333B"/>
                </a:solidFill>
                <a:latin typeface="Calibri" pitchFamily="34" charset="0"/>
                <a:ea typeface="Calibri" pitchFamily="34" charset="-122"/>
                <a:cs typeface="Calibri" pitchFamily="34" charset="-120"/>
              </a:rPr>
              <a:t>GOAL  </a:t>
            </a:r>
            <a:endParaRPr lang="en-US" sz="1200" dirty="0"/>
          </a:p>
          <a:p>
            <a:pPr indent="0" marL="0">
              <a:buNone/>
            </a:pPr>
            <a:r>
              <a:rPr lang="en-US" sz="1700" dirty="0">
                <a:solidFill>
                  <a:srgbClr val="1F2328"/>
                </a:solidFill>
                <a:latin typeface="Calibri" pitchFamily="34" charset="0"/>
                <a:ea typeface="Calibri" pitchFamily="34" charset="-122"/>
                <a:cs typeface="Calibri" pitchFamily="34" charset="-120"/>
              </a:rPr>
              <a:t>Finish the two stub classes. PrintedBook is your model.</a:t>
            </a:r>
            <a:endParaRPr lang="en-US" sz="1200" dirty="0"/>
          </a:p>
        </p:txBody>
      </p:sp>
      <p:sp>
        <p:nvSpPr>
          <p:cNvPr id="12" name="Text 8"/>
          <p:cNvSpPr txBox="1"/>
          <p:nvPr/>
        </p:nvSpPr>
        <p:spPr>
          <a:xfrm>
            <a:off x="548640" y="2499360"/>
            <a:ext cx="6766560" cy="274320"/>
          </a:xfrm>
          <a:prstGeom prst="rect">
            <a:avLst/>
          </a:prstGeom>
          <a:noFill/>
          <a:ln/>
        </p:spPr>
        <p:txBody>
          <a:bodyPr wrap="square" lIns="0" tIns="0" rIns="0" bIns="0" rtlCol="0" anchor="ctr"/>
          <a:lstStyle/>
          <a:p>
            <a:pPr indent="0" marL="0">
              <a:buNone/>
            </a:pPr>
            <a:r>
              <a:rPr lang="en-US" sz="1200" b="1" spc="200" kern="0" dirty="0">
                <a:solidFill>
                  <a:srgbClr val="5B6470"/>
                </a:solidFill>
                <a:latin typeface="Calibri" pitchFamily="34" charset="0"/>
                <a:ea typeface="Calibri" pitchFamily="34" charset="-122"/>
                <a:cs typeface="Calibri" pitchFamily="34" charset="-120"/>
              </a:rPr>
              <a:t>WHAT TO DO</a:t>
            </a:r>
            <a:endParaRPr lang="en-US" sz="1200" dirty="0"/>
          </a:p>
        </p:txBody>
      </p:sp>
      <p:sp>
        <p:nvSpPr>
          <p:cNvPr id="13" name="Text 9"/>
          <p:cNvSpPr txBox="1"/>
          <p:nvPr/>
        </p:nvSpPr>
        <p:spPr>
          <a:xfrm>
            <a:off x="548640" y="2819400"/>
            <a:ext cx="6766560" cy="3307080"/>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800" dirty="0">
                <a:solidFill>
                  <a:srgbClr val="1F2328"/>
                </a:solidFill>
                <a:latin typeface="Calibri" pitchFamily="34" charset="0"/>
                <a:ea typeface="Calibri" pitchFamily="34" charset="-122"/>
                <a:cs typeface="Calibri" pitchFamily="34" charset="-120"/>
              </a:rPr>
              <a:t>EBook: a private double megabytes, stored in the constructor, returned by getMegabytes().</a:t>
            </a:r>
            <a:endParaRPr lang="en-US" sz="1800" dirty="0"/>
          </a:p>
          <a:p>
            <a:pPr marL="342900" indent="-342900">
              <a:spcAft>
                <a:spcPts val="600"/>
              </a:spcAft>
              <a:buSzPct val="100000"/>
              <a:buFont typeface="+mj-lt"/>
              <a:buAutoNum type="arabicPeriod" startAt="1"/>
            </a:pPr>
            <a:r>
              <a:rPr lang="en-US" sz="1800" dirty="0">
                <a:solidFill>
                  <a:srgbClr val="1F2328"/>
                </a:solidFill>
                <a:latin typeface="Calibri" pitchFamily="34" charset="0"/>
                <a:ea typeface="Calibri" pitchFamily="34" charset="-122"/>
                <a:cs typeface="Calibri" pitchFamily="34" charset="-120"/>
              </a:rPr>
              <a:t>EBook: format() returns "ebook", sizeInfo() returns for example "1.4 MB".</a:t>
            </a:r>
            <a:endParaRPr lang="en-US" sz="1800" dirty="0"/>
          </a:p>
          <a:p>
            <a:pPr marL="342900" indent="-342900">
              <a:spcAft>
                <a:spcPts val="600"/>
              </a:spcAft>
              <a:buSzPct val="100000"/>
              <a:buFont typeface="+mj-lt"/>
              <a:buAutoNum type="arabicPeriod" startAt="1"/>
            </a:pPr>
            <a:r>
              <a:rPr lang="en-US" sz="1800" dirty="0">
                <a:solidFill>
                  <a:srgbClr val="1F2328"/>
                </a:solidFill>
                <a:latin typeface="Calibri" pitchFamily="34" charset="0"/>
                <a:ea typeface="Calibri" pitchFamily="34" charset="-122"/>
                <a:cs typeface="Calibri" pitchFamily="34" charset="-120"/>
              </a:rPr>
              <a:t>AudioBook: a private int minutes, stored in the constructor, returned by getMinutes().</a:t>
            </a:r>
            <a:endParaRPr lang="en-US" sz="1800" dirty="0"/>
          </a:p>
          <a:p>
            <a:pPr marL="342900" indent="-342900">
              <a:spcAft>
                <a:spcPts val="600"/>
              </a:spcAft>
              <a:buSzPct val="100000"/>
              <a:buFont typeface="+mj-lt"/>
              <a:buAutoNum type="arabicPeriod" startAt="1"/>
            </a:pPr>
            <a:r>
              <a:rPr lang="en-US" sz="1800" dirty="0">
                <a:solidFill>
                  <a:srgbClr val="1F2328"/>
                </a:solidFill>
                <a:latin typeface="Calibri" pitchFamily="34" charset="0"/>
                <a:ea typeface="Calibri" pitchFamily="34" charset="-122"/>
                <a:cs typeface="Calibri" pitchFamily="34" charset="-120"/>
              </a:rPr>
              <a:t>AudioBook: format() returns "audio", sizeInfo() returns for example "1260 min".</a:t>
            </a:r>
            <a:endParaRPr lang="en-US" sz="1800" dirty="0"/>
          </a:p>
          <a:p>
            <a:pPr marL="342900" indent="-342900">
              <a:spcAft>
                <a:spcPts val="600"/>
              </a:spcAft>
              <a:buSzPct val="100000"/>
              <a:buFont typeface="+mj-lt"/>
              <a:buAutoNum type="arabicPeriod" startAt="1"/>
            </a:pPr>
            <a:r>
              <a:rPr lang="en-US" sz="1800" dirty="0">
                <a:solidFill>
                  <a:srgbClr val="1F2328"/>
                </a:solidFill>
                <a:latin typeface="Calibri" pitchFamily="34" charset="0"/>
                <a:ea typeface="Calibri" pitchFamily="34" charset="-122"/>
                <a:cs typeface="Calibri" pitchFamily="34" charset="-120"/>
              </a:rPr>
              <a:t>Run the two task2 tests in HierarchyTest.</a:t>
            </a:r>
            <a:endParaRPr lang="en-US" sz="1800" dirty="0"/>
          </a:p>
        </p:txBody>
      </p:sp>
      <p:sp>
        <p:nvSpPr>
          <p:cNvPr id="14" name="Shape 10"/>
          <p:cNvSpPr/>
          <p:nvPr/>
        </p:nvSpPr>
        <p:spPr>
          <a:xfrm>
            <a:off x="7680960" y="1508760"/>
            <a:ext cx="3962095" cy="4617720"/>
          </a:xfrm>
          <a:prstGeom prst="roundRect">
            <a:avLst>
              <a:gd name="adj" fmla="val 2769"/>
            </a:avLst>
          </a:prstGeom>
          <a:solidFill>
            <a:srgbClr val="E7F5EC"/>
          </a:solidFill>
          <a:ln w="12700">
            <a:solidFill>
              <a:srgbClr val="E7F5EC"/>
            </a:solidFill>
            <a:prstDash val="solid"/>
          </a:ln>
        </p:spPr>
      </p:sp>
      <p:sp>
        <p:nvSpPr>
          <p:cNvPr id="15" name="Text 11"/>
          <p:cNvSpPr txBox="1"/>
          <p:nvPr/>
        </p:nvSpPr>
        <p:spPr>
          <a:xfrm>
            <a:off x="7955280" y="1645920"/>
            <a:ext cx="3413455" cy="274320"/>
          </a:xfrm>
          <a:prstGeom prst="rect">
            <a:avLst/>
          </a:prstGeom>
          <a:noFill/>
          <a:ln/>
        </p:spPr>
        <p:txBody>
          <a:bodyPr wrap="square" lIns="0" tIns="0" rIns="0" bIns="0" rtlCol="0" anchor="ctr"/>
          <a:lstStyle/>
          <a:p>
            <a:pPr indent="0" marL="0">
              <a:buNone/>
            </a:pPr>
            <a:r>
              <a:rPr lang="en-US" sz="1200" b="1" spc="200" kern="0" dirty="0">
                <a:solidFill>
                  <a:srgbClr val="1E7F4F"/>
                </a:solidFill>
                <a:latin typeface="Calibri" pitchFamily="34" charset="0"/>
                <a:ea typeface="Calibri" pitchFamily="34" charset="-122"/>
                <a:cs typeface="Calibri" pitchFamily="34" charset="-120"/>
              </a:rPr>
              <a:t>DONE WHEN</a:t>
            </a:r>
            <a:endParaRPr lang="en-US" sz="1200" dirty="0"/>
          </a:p>
        </p:txBody>
      </p:sp>
      <p:sp>
        <p:nvSpPr>
          <p:cNvPr id="16" name="Text 12"/>
          <p:cNvSpPr txBox="1"/>
          <p:nvPr/>
        </p:nvSpPr>
        <p:spPr>
          <a:xfrm>
            <a:off x="7955280" y="1984248"/>
            <a:ext cx="3413455" cy="4023360"/>
          </a:xfrm>
          <a:prstGeom prst="rect">
            <a:avLst/>
          </a:prstGeom>
          <a:noFill/>
          <a:ln/>
        </p:spPr>
        <p:txBody>
          <a:bodyPr wrap="square" lIns="0" tIns="0" rIns="0" bIns="0" rtlCol="0" anchor="t"/>
          <a:lstStyle/>
          <a:p>
            <a:pPr marL="342900" indent="-342900">
              <a:spcAft>
                <a:spcPts val="600"/>
              </a:spcAft>
              <a:buSzPct val="100000"/>
              <a:buChar char="✓"/>
            </a:pPr>
            <a:r>
              <a:rPr lang="en-US" sz="1700" dirty="0">
                <a:solidFill>
                  <a:srgbClr val="1F2328"/>
                </a:solidFill>
                <a:latin typeface="Calibri" pitchFamily="34" charset="0"/>
                <a:ea typeface="Calibri" pitchFamily="34" charset="-122"/>
                <a:cs typeface="Calibri" pitchFamily="34" charset="-120"/>
              </a:rPr>
              <a:t>Both task2 tests are green</a:t>
            </a:r>
            <a:endParaRPr lang="en-US" sz="1700" dirty="0"/>
          </a:p>
          <a:p>
            <a:pPr marL="342900" indent="-342900">
              <a:spcAft>
                <a:spcPts val="600"/>
              </a:spcAft>
              <a:buSzPct val="100000"/>
              <a:buChar char="✓"/>
            </a:pPr>
            <a:r>
              <a:rPr lang="en-US" sz="1700" dirty="0">
                <a:solidFill>
                  <a:srgbClr val="1F2328"/>
                </a:solidFill>
                <a:latin typeface="Calibri" pitchFamily="34" charset="0"/>
                <a:ea typeface="Calibri" pitchFamily="34" charset="-122"/>
                <a:cs typeface="Calibri" pitchFamily="34" charset="-120"/>
              </a:rPr>
              <a:t>Every override carries @Override</a:t>
            </a:r>
            <a:endParaRPr lang="en-US" sz="1700" dirty="0"/>
          </a:p>
          <a:p>
            <a:pPr marL="342900" indent="-342900">
              <a:spcAft>
                <a:spcPts val="600"/>
              </a:spcAft>
              <a:buSzPct val="100000"/>
              <a:buChar char="✓"/>
            </a:pPr>
            <a:r>
              <a:rPr lang="en-US" sz="1700" dirty="0">
                <a:solidFill>
                  <a:srgbClr val="1F2328"/>
                </a:solidFill>
                <a:latin typeface="Calibri" pitchFamily="34" charset="0"/>
                <a:ea typeface="Calibri" pitchFamily="34" charset="-122"/>
                <a:cs typeface="Calibri" pitchFamily="34" charset="-120"/>
              </a:rPr>
              <a:t>Commit</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56032"/>
          </a:xfrm>
          <a:prstGeom prst="rect">
            <a:avLst/>
          </a:prstGeom>
          <a:noFill/>
          <a:ln/>
        </p:spPr>
        <p:txBody>
          <a:bodyPr wrap="square" lIns="0" tIns="0" rIns="0" bIns="0" rtlCol="0" anchor="ctr"/>
          <a:lstStyle/>
          <a:p>
            <a:pPr indent="0" marL="0">
              <a:buNone/>
            </a:pPr>
            <a:r>
              <a:rPr lang="en-US" sz="1200" b="1" spc="200" kern="0" dirty="0">
                <a:solidFill>
                  <a:srgbClr val="C6333B"/>
                </a:solidFill>
                <a:latin typeface="Calibri" pitchFamily="34" charset="0"/>
                <a:ea typeface="Calibri" pitchFamily="34" charset="-122"/>
                <a:cs typeface="Calibri" pitchFamily="34" charset="-120"/>
              </a:rPr>
              <a:t>TASK 3  ·  CORE</a:t>
            </a:r>
            <a:endParaRPr lang="en-US" sz="1200" dirty="0"/>
          </a:p>
        </p:txBody>
      </p:sp>
      <p:sp>
        <p:nvSpPr>
          <p:cNvPr id="3" name="Text 1"/>
          <p:cNvSpPr txBox="1"/>
          <p:nvPr/>
        </p:nvSpPr>
        <p:spPr>
          <a:xfrm>
            <a:off x="548640" y="640080"/>
            <a:ext cx="11064240" cy="640080"/>
          </a:xfrm>
          <a:prstGeom prst="rect">
            <a:avLst/>
          </a:prstGeom>
          <a:noFill/>
          <a:ln/>
        </p:spPr>
        <p:txBody>
          <a:bodyPr wrap="square" lIns="0" tIns="0" rIns="0" bIns="0" rtlCol="0" anchor="t">
            <a:normAutofit/>
          </a:bodyPr>
          <a:lstStyle/>
          <a:p>
            <a:pPr indent="0" marL="0">
              <a:buNone/>
            </a:pPr>
            <a:r>
              <a:rPr lang="en-US" sz="3200" b="1" dirty="0">
                <a:solidFill>
                  <a:srgbClr val="1F2328"/>
                </a:solidFill>
                <a:latin typeface="Calibri" pitchFamily="34" charset="0"/>
                <a:ea typeface="Calibri" pitchFamily="34" charset="-122"/>
                <a:cs typeface="Calibri" pitchFamily="34" charset="-120"/>
              </a:rPr>
              <a:t>Book becomes abstract</a:t>
            </a:r>
            <a:endParaRPr lang="en-US" sz="3200" dirty="0"/>
          </a:p>
        </p:txBody>
      </p:sp>
      <p:sp>
        <p:nvSpPr>
          <p:cNvPr id="4" name="Text 2"/>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1050" dirty="0">
                <a:solidFill>
                  <a:srgbClr val="5B6470"/>
                </a:solidFill>
                <a:latin typeface="Calibri" pitchFamily="34" charset="0"/>
                <a:ea typeface="Calibri" pitchFamily="34" charset="-122"/>
                <a:cs typeface="Calibri" pitchFamily="34" charset="-120"/>
              </a:rPr>
              <a:t>CSCI 2430 Programming Languages  ·  Week 5  ·  Lab</a:t>
            </a:r>
            <a:endParaRPr lang="en-US" sz="1050" dirty="0"/>
          </a:p>
        </p:txBody>
      </p:sp>
      <p:sp>
        <p:nvSpPr>
          <p:cNvPr id="5" name="Text 3"/>
          <p:cNvSpPr txBox="1"/>
          <p:nvPr/>
        </p:nvSpPr>
        <p:spPr>
          <a:xfrm>
            <a:off x="9677095" y="6400800"/>
            <a:ext cx="548640" cy="274320"/>
          </a:xfrm>
          <a:prstGeom prst="rect">
            <a:avLst/>
          </a:prstGeom>
          <a:noFill/>
          <a:ln/>
        </p:spPr>
        <p:txBody>
          <a:bodyPr wrap="square" lIns="0" tIns="0" rIns="0" bIns="0" rtlCol="0" anchor="ctr"/>
          <a:lstStyle/>
          <a:p>
            <a:pPr algn="r" indent="0" marL="0">
              <a:buNone/>
            </a:pPr>
            <a:r>
              <a:rPr lang="en-US" sz="1050" dirty="0">
                <a:solidFill>
                  <a:srgbClr val="5B6470"/>
                </a:solidFill>
                <a:latin typeface="Calibri" pitchFamily="34" charset="0"/>
                <a:ea typeface="Calibri" pitchFamily="34" charset="-122"/>
                <a:cs typeface="Calibri" pitchFamily="34" charset="-120"/>
              </a:rPr>
              <a:t>8</a:t>
            </a:r>
            <a:endParaRPr lang="en-US" sz="1050" dirty="0"/>
          </a:p>
        </p:txBody>
      </p:sp>
      <p:pic>
        <p:nvPicPr>
          <p:cNvPr id="6" name="Image 0" descr="/home/claude/decks/assets/logo-red-transparent-small.png">    </p:cNvPr>
          <p:cNvPicPr>
            <a:picLocks noChangeAspect="1"/>
          </p:cNvPicPr>
          <p:nvPr/>
        </p:nvPicPr>
        <p:blipFill>
          <a:blip r:embed="rId1"/>
          <a:stretch>
            <a:fillRect/>
          </a:stretch>
        </p:blipFill>
        <p:spPr>
          <a:xfrm>
            <a:off x="10518343" y="6291172"/>
            <a:ext cx="1124712" cy="411380"/>
          </a:xfrm>
          <a:prstGeom prst="rect">
            <a:avLst/>
          </a:prstGeom>
        </p:spPr>
      </p:pic>
      <p:sp>
        <p:nvSpPr>
          <p:cNvPr id="8" name="Shape 4"/>
          <p:cNvSpPr/>
          <p:nvPr/>
        </p:nvSpPr>
        <p:spPr>
          <a:xfrm>
            <a:off x="10180015" y="411480"/>
            <a:ext cx="1463040" cy="329184"/>
          </a:xfrm>
          <a:prstGeom prst="roundRect">
            <a:avLst>
              <a:gd name="adj" fmla="val 50000"/>
            </a:avLst>
          </a:prstGeom>
          <a:solidFill>
            <a:srgbClr val="C6333B"/>
          </a:solidFill>
          <a:ln w="12700">
            <a:solidFill>
              <a:srgbClr val="C6333B"/>
            </a:solidFill>
            <a:prstDash val="solid"/>
          </a:ln>
        </p:spPr>
      </p:sp>
      <p:sp>
        <p:nvSpPr>
          <p:cNvPr id="9" name="Text 5"/>
          <p:cNvSpPr txBox="1"/>
          <p:nvPr/>
        </p:nvSpPr>
        <p:spPr>
          <a:xfrm>
            <a:off x="10180015" y="411480"/>
            <a:ext cx="1463040"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17 min</a:t>
            </a:r>
            <a:endParaRPr lang="en-US" sz="1250" dirty="0"/>
          </a:p>
        </p:txBody>
      </p:sp>
      <p:sp>
        <p:nvSpPr>
          <p:cNvPr id="10" name="Shape 6"/>
          <p:cNvSpPr/>
          <p:nvPr/>
        </p:nvSpPr>
        <p:spPr>
          <a:xfrm>
            <a:off x="548640" y="1508760"/>
            <a:ext cx="4023360" cy="1325880"/>
          </a:xfrm>
          <a:prstGeom prst="roundRect">
            <a:avLst>
              <a:gd name="adj" fmla="val 8276"/>
            </a:avLst>
          </a:prstGeom>
          <a:solidFill>
            <a:srgbClr val="FBECED"/>
          </a:solidFill>
          <a:ln w="12700">
            <a:solidFill>
              <a:srgbClr val="FBECED"/>
            </a:solidFill>
            <a:prstDash val="solid"/>
          </a:ln>
        </p:spPr>
      </p:sp>
      <p:sp>
        <p:nvSpPr>
          <p:cNvPr id="11" name="Text 7"/>
          <p:cNvSpPr txBox="1"/>
          <p:nvPr/>
        </p:nvSpPr>
        <p:spPr>
          <a:xfrm>
            <a:off x="822960" y="1600200"/>
            <a:ext cx="3474720" cy="1143000"/>
          </a:xfrm>
          <a:prstGeom prst="rect">
            <a:avLst/>
          </a:prstGeom>
          <a:noFill/>
          <a:ln/>
        </p:spPr>
        <p:txBody>
          <a:bodyPr wrap="square" lIns="0" tIns="0" rIns="0" bIns="0" rtlCol="0" anchor="t"/>
          <a:lstStyle/>
          <a:p>
            <a:pPr indent="0" marL="0">
              <a:buNone/>
            </a:pPr>
            <a:r>
              <a:rPr lang="en-US" sz="1200" b="1" spc="200" kern="0" dirty="0">
                <a:solidFill>
                  <a:srgbClr val="C6333B"/>
                </a:solidFill>
                <a:latin typeface="Calibri" pitchFamily="34" charset="0"/>
                <a:ea typeface="Calibri" pitchFamily="34" charset="-122"/>
                <a:cs typeface="Calibri" pitchFamily="34" charset="-120"/>
              </a:rPr>
              <a:t>GOAL  </a:t>
            </a:r>
            <a:endParaRPr lang="en-US" sz="1200" dirty="0"/>
          </a:p>
          <a:p>
            <a:pPr indent="0" marL="0">
              <a:buNone/>
            </a:pPr>
            <a:r>
              <a:rPr lang="en-US" sz="1700" dirty="0">
                <a:solidFill>
                  <a:srgbClr val="1F2328"/>
                </a:solidFill>
                <a:latin typeface="Calibri" pitchFamily="34" charset="0"/>
                <a:ea typeface="Calibri" pitchFamily="34" charset="-122"/>
                <a:cs typeface="Calibri" pitchFamily="34" charset="-120"/>
              </a:rPr>
              <a:t>A Book without a format must not exist any more. And Book itself should not pretend to know a format.</a:t>
            </a:r>
            <a:endParaRPr lang="en-US" sz="1200" dirty="0"/>
          </a:p>
        </p:txBody>
      </p:sp>
      <p:sp>
        <p:nvSpPr>
          <p:cNvPr id="12" name="Text 8"/>
          <p:cNvSpPr txBox="1"/>
          <p:nvPr/>
        </p:nvSpPr>
        <p:spPr>
          <a:xfrm>
            <a:off x="548640" y="3017520"/>
            <a:ext cx="4023360" cy="274320"/>
          </a:xfrm>
          <a:prstGeom prst="rect">
            <a:avLst/>
          </a:prstGeom>
          <a:noFill/>
          <a:ln/>
        </p:spPr>
        <p:txBody>
          <a:bodyPr wrap="square" lIns="0" tIns="0" rIns="0" bIns="0" rtlCol="0" anchor="ctr"/>
          <a:lstStyle/>
          <a:p>
            <a:pPr indent="0" marL="0">
              <a:buNone/>
            </a:pPr>
            <a:r>
              <a:rPr lang="en-US" sz="1200" b="1" spc="200" kern="0" dirty="0">
                <a:solidFill>
                  <a:srgbClr val="5B6470"/>
                </a:solidFill>
                <a:latin typeface="Calibri" pitchFamily="34" charset="0"/>
                <a:ea typeface="Calibri" pitchFamily="34" charset="-122"/>
                <a:cs typeface="Calibri" pitchFamily="34" charset="-120"/>
              </a:rPr>
              <a:t>WHAT TO DO</a:t>
            </a:r>
            <a:endParaRPr lang="en-US" sz="1200" dirty="0"/>
          </a:p>
        </p:txBody>
      </p:sp>
      <p:sp>
        <p:nvSpPr>
          <p:cNvPr id="13" name="Text 9"/>
          <p:cNvSpPr txBox="1"/>
          <p:nvPr/>
        </p:nvSpPr>
        <p:spPr>
          <a:xfrm>
            <a:off x="548640" y="3337560"/>
            <a:ext cx="4023360" cy="2788920"/>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450" dirty="0">
                <a:solidFill>
                  <a:srgbClr val="1F2328"/>
                </a:solidFill>
                <a:latin typeface="Calibri" pitchFamily="34" charset="0"/>
                <a:ea typeface="Calibri" pitchFamily="34" charset="-122"/>
                <a:cs typeface="Calibri" pitchFamily="34" charset="-120"/>
              </a:rPr>
              <a:t>Open Book.java. Change the class header to: public abstract class Book.</a:t>
            </a:r>
            <a:endParaRPr lang="en-US" sz="1450" dirty="0"/>
          </a:p>
          <a:p>
            <a:pPr marL="342900" indent="-342900">
              <a:spcAft>
                <a:spcPts val="600"/>
              </a:spcAft>
              <a:buSzPct val="100000"/>
              <a:buFont typeface="+mj-lt"/>
              <a:buAutoNum type="arabicPeriod" startAt="1"/>
            </a:pPr>
            <a:r>
              <a:rPr lang="en-US" sz="1450" dirty="0">
                <a:solidFill>
                  <a:srgbClr val="1F2328"/>
                </a:solidFill>
                <a:latin typeface="Calibri" pitchFamily="34" charset="0"/>
                <a:ea typeface="Calibri" pitchFamily="34" charset="-122"/>
                <a:cs typeface="Calibri" pitchFamily="34" charset="-120"/>
              </a:rPr>
              <a:t>Turn format() and sizeInfo() into abstract methods: no body, a semicolon instead.</a:t>
            </a:r>
            <a:endParaRPr lang="en-US" sz="1450" dirty="0"/>
          </a:p>
          <a:p>
            <a:pPr marL="342900" indent="-342900">
              <a:spcAft>
                <a:spcPts val="600"/>
              </a:spcAft>
              <a:buSzPct val="100000"/>
              <a:buFont typeface="+mj-lt"/>
              <a:buAutoNum type="arabicPeriod" startAt="1"/>
            </a:pPr>
            <a:r>
              <a:rPr lang="en-US" sz="1450" dirty="0">
                <a:solidFill>
                  <a:srgbClr val="1F2328"/>
                </a:solidFill>
                <a:latin typeface="Calibri" pitchFamily="34" charset="0"/>
                <a:ea typeface="Calibri" pitchFamily="34" charset="-122"/>
                <a:cs typeface="Calibri" pitchFamily="34" charset="-120"/>
              </a:rPr>
              <a:t>Extend toString so that it ends with the format and the size in square brackets.</a:t>
            </a:r>
            <a:endParaRPr lang="en-US" sz="1450" dirty="0"/>
          </a:p>
          <a:p>
            <a:pPr marL="342900" indent="-342900">
              <a:spcAft>
                <a:spcPts val="600"/>
              </a:spcAft>
              <a:buSzPct val="100000"/>
              <a:buFont typeface="+mj-lt"/>
              <a:buAutoNum type="arabicPeriod" startAt="1"/>
            </a:pPr>
            <a:r>
              <a:rPr lang="en-US" sz="1450" dirty="0">
                <a:solidFill>
                  <a:srgbClr val="1F2328"/>
                </a:solidFill>
                <a:latin typeface="Calibri" pitchFamily="34" charset="0"/>
                <a:ea typeface="Calibri" pitchFamily="34" charset="-122"/>
                <a:cs typeface="Calibri" pitchFamily="34" charset="-120"/>
              </a:rPr>
              <a:t>Try it: write new Book("x", "y", "z", 2000) in Main. Read the compiler message, then remove the line.</a:t>
            </a:r>
            <a:endParaRPr lang="en-US" sz="1450" dirty="0"/>
          </a:p>
          <a:p>
            <a:pPr marL="342900" indent="-342900">
              <a:spcAft>
                <a:spcPts val="600"/>
              </a:spcAft>
              <a:buSzPct val="100000"/>
              <a:buFont typeface="+mj-lt"/>
              <a:buAutoNum type="arabicPeriod" startAt="1"/>
            </a:pPr>
            <a:r>
              <a:rPr lang="en-US" sz="1450" dirty="0">
                <a:solidFill>
                  <a:srgbClr val="1F2328"/>
                </a:solidFill>
                <a:latin typeface="Calibri" pitchFamily="34" charset="0"/>
                <a:ea typeface="Calibri" pitchFamily="34" charset="-122"/>
                <a:cs typeface="Calibri" pitchFamily="34" charset="-120"/>
              </a:rPr>
              <a:t>Run the two task3 tests.</a:t>
            </a:r>
            <a:endParaRPr lang="en-US" sz="1450" dirty="0"/>
          </a:p>
        </p:txBody>
      </p:sp>
      <p:sp>
        <p:nvSpPr>
          <p:cNvPr id="14" name="Shape 10"/>
          <p:cNvSpPr/>
          <p:nvPr/>
        </p:nvSpPr>
        <p:spPr>
          <a:xfrm>
            <a:off x="4937760" y="1508760"/>
            <a:ext cx="6705295" cy="877824"/>
          </a:xfrm>
          <a:prstGeom prst="roundRect">
            <a:avLst>
              <a:gd name="adj" fmla="val 10417"/>
            </a:avLst>
          </a:prstGeom>
          <a:solidFill>
            <a:srgbClr val="1B2029"/>
          </a:solidFill>
          <a:ln w="12700">
            <a:solidFill>
              <a:srgbClr val="1B2029"/>
            </a:solidFill>
            <a:prstDash val="solid"/>
          </a:ln>
        </p:spPr>
      </p:sp>
      <p:sp>
        <p:nvSpPr>
          <p:cNvPr id="15" name="Text 11"/>
          <p:cNvSpPr txBox="1"/>
          <p:nvPr/>
        </p:nvSpPr>
        <p:spPr>
          <a:xfrm>
            <a:off x="5193792" y="1618488"/>
            <a:ext cx="6193231" cy="256032"/>
          </a:xfrm>
          <a:prstGeom prst="rect">
            <a:avLst/>
          </a:prstGeom>
          <a:noFill/>
          <a:ln/>
        </p:spPr>
        <p:txBody>
          <a:bodyPr wrap="square" lIns="0" tIns="0" rIns="0" bIns="0" rtlCol="0" anchor="ctr"/>
          <a:lstStyle/>
          <a:p>
            <a:pPr indent="0" marL="0">
              <a:buNone/>
            </a:pPr>
            <a:r>
              <a:rPr lang="en-US" sz="1100" b="1" spc="100" kern="0" dirty="0">
                <a:solidFill>
                  <a:srgbClr val="8B97A6"/>
                </a:solidFill>
                <a:latin typeface="Calibri" pitchFamily="34" charset="0"/>
                <a:ea typeface="Calibri" pitchFamily="34" charset="-122"/>
                <a:cs typeface="Calibri" pitchFamily="34" charset="-120"/>
              </a:rPr>
              <a:t>EXPECTED toString</a:t>
            </a:r>
            <a:endParaRPr lang="en-US" sz="1100" dirty="0"/>
          </a:p>
        </p:txBody>
      </p:sp>
      <p:sp>
        <p:nvSpPr>
          <p:cNvPr id="16" name="Text 12"/>
          <p:cNvSpPr txBox="1"/>
          <p:nvPr/>
        </p:nvSpPr>
        <p:spPr>
          <a:xfrm>
            <a:off x="5193792" y="1965960"/>
            <a:ext cx="6193231" cy="237744"/>
          </a:xfrm>
          <a:prstGeom prst="rect">
            <a:avLst/>
          </a:prstGeom>
          <a:noFill/>
          <a:ln/>
        </p:spPr>
        <p:txBody>
          <a:bodyPr wrap="none" lIns="0" tIns="0" rIns="0" bIns="0" rtlCol="0" anchor="t"/>
          <a:lstStyle/>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#1 Dune by Frank Herbert (1965), Science fiction [audio, 1260 min]</a:t>
            </a:r>
            <a:endParaRPr lang="en-US" sz="1200" dirty="0"/>
          </a:p>
        </p:txBody>
      </p:sp>
      <p:sp>
        <p:nvSpPr>
          <p:cNvPr id="17" name="Shape 13"/>
          <p:cNvSpPr/>
          <p:nvPr/>
        </p:nvSpPr>
        <p:spPr>
          <a:xfrm>
            <a:off x="4937760" y="2569464"/>
            <a:ext cx="6705295" cy="3557016"/>
          </a:xfrm>
          <a:prstGeom prst="roundRect">
            <a:avLst>
              <a:gd name="adj" fmla="val 3085"/>
            </a:avLst>
          </a:prstGeom>
          <a:solidFill>
            <a:srgbClr val="E7F5EC"/>
          </a:solidFill>
          <a:ln w="12700">
            <a:solidFill>
              <a:srgbClr val="E7F5EC"/>
            </a:solidFill>
            <a:prstDash val="solid"/>
          </a:ln>
        </p:spPr>
      </p:sp>
      <p:sp>
        <p:nvSpPr>
          <p:cNvPr id="18" name="Text 14"/>
          <p:cNvSpPr txBox="1"/>
          <p:nvPr/>
        </p:nvSpPr>
        <p:spPr>
          <a:xfrm>
            <a:off x="5212080" y="2706624"/>
            <a:ext cx="6156655" cy="274320"/>
          </a:xfrm>
          <a:prstGeom prst="rect">
            <a:avLst/>
          </a:prstGeom>
          <a:noFill/>
          <a:ln/>
        </p:spPr>
        <p:txBody>
          <a:bodyPr wrap="square" lIns="0" tIns="0" rIns="0" bIns="0" rtlCol="0" anchor="ctr"/>
          <a:lstStyle/>
          <a:p>
            <a:pPr indent="0" marL="0">
              <a:buNone/>
            </a:pPr>
            <a:r>
              <a:rPr lang="en-US" sz="1200" b="1" spc="200" kern="0" dirty="0">
                <a:solidFill>
                  <a:srgbClr val="1E7F4F"/>
                </a:solidFill>
                <a:latin typeface="Calibri" pitchFamily="34" charset="0"/>
                <a:ea typeface="Calibri" pitchFamily="34" charset="-122"/>
                <a:cs typeface="Calibri" pitchFamily="34" charset="-120"/>
              </a:rPr>
              <a:t>DONE WHEN</a:t>
            </a:r>
            <a:endParaRPr lang="en-US" sz="1200" dirty="0"/>
          </a:p>
        </p:txBody>
      </p:sp>
      <p:sp>
        <p:nvSpPr>
          <p:cNvPr id="19" name="Text 15"/>
          <p:cNvSpPr txBox="1"/>
          <p:nvPr/>
        </p:nvSpPr>
        <p:spPr>
          <a:xfrm>
            <a:off x="5212080" y="3044952"/>
            <a:ext cx="6156655" cy="2962656"/>
          </a:xfrm>
          <a:prstGeom prst="rect">
            <a:avLst/>
          </a:prstGeom>
          <a:noFill/>
          <a:ln/>
        </p:spPr>
        <p:txBody>
          <a:bodyPr wrap="square" lIns="0" tIns="0" rIns="0" bIns="0" rtlCol="0" anchor="t"/>
          <a:lstStyle/>
          <a:p>
            <a:pPr marL="342900" indent="-342900">
              <a:spcAft>
                <a:spcPts val="600"/>
              </a:spcAft>
              <a:buSzPct val="100000"/>
              <a:buChar char="✓"/>
            </a:pPr>
            <a:r>
              <a:rPr lang="en-US" sz="1700" dirty="0">
                <a:solidFill>
                  <a:srgbClr val="1F2328"/>
                </a:solidFill>
                <a:latin typeface="Calibri" pitchFamily="34" charset="0"/>
                <a:ea typeface="Calibri" pitchFamily="34" charset="-122"/>
                <a:cs typeface="Calibri" pitchFamily="34" charset="-120"/>
              </a:rPr>
              <a:t>HierarchyTest is green</a:t>
            </a:r>
            <a:endParaRPr lang="en-US" sz="1700" dirty="0"/>
          </a:p>
          <a:p>
            <a:pPr marL="342900" indent="-342900">
              <a:spcAft>
                <a:spcPts val="600"/>
              </a:spcAft>
              <a:buSzPct val="100000"/>
              <a:buChar char="✓"/>
            </a:pPr>
            <a:r>
              <a:rPr lang="en-US" sz="1700" dirty="0">
                <a:solidFill>
                  <a:srgbClr val="1F2328"/>
                </a:solidFill>
                <a:latin typeface="Calibri" pitchFamily="34" charset="0"/>
                <a:ea typeface="Calibri" pitchFamily="34" charset="-122"/>
                <a:cs typeface="Calibri" pitchFamily="34" charset="-120"/>
              </a:rPr>
              <a:t>Book.toString calls format() and sizeInfo(), although Book has no body for them</a:t>
            </a:r>
            <a:endParaRPr lang="en-US" sz="1700" dirty="0"/>
          </a:p>
          <a:p>
            <a:pPr marL="342900" indent="-342900">
              <a:spcAft>
                <a:spcPts val="600"/>
              </a:spcAft>
              <a:buSzPct val="100000"/>
              <a:buChar char="✓"/>
            </a:pPr>
            <a:r>
              <a:rPr lang="en-US" sz="1700" dirty="0">
                <a:solidFill>
                  <a:srgbClr val="1F2328"/>
                </a:solidFill>
                <a:latin typeface="Calibri" pitchFamily="34" charset="0"/>
                <a:ea typeface="Calibri" pitchFamily="34" charset="-122"/>
                <a:cs typeface="Calibri" pitchFamily="34" charset="-120"/>
              </a:rPr>
              <a:t>Commit</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56032"/>
          </a:xfrm>
          <a:prstGeom prst="rect">
            <a:avLst/>
          </a:prstGeom>
          <a:noFill/>
          <a:ln/>
        </p:spPr>
        <p:txBody>
          <a:bodyPr wrap="square" lIns="0" tIns="0" rIns="0" bIns="0" rtlCol="0" anchor="ctr"/>
          <a:lstStyle/>
          <a:p>
            <a:pPr indent="0" marL="0">
              <a:buNone/>
            </a:pPr>
            <a:r>
              <a:rPr lang="en-US" sz="1200" b="1" spc="200" kern="0" dirty="0">
                <a:solidFill>
                  <a:srgbClr val="C6333B"/>
                </a:solidFill>
                <a:latin typeface="Calibri" pitchFamily="34" charset="0"/>
                <a:ea typeface="Calibri" pitchFamily="34" charset="-122"/>
                <a:cs typeface="Calibri" pitchFamily="34" charset="-120"/>
              </a:rPr>
              <a:t>TASK 4</a:t>
            </a:r>
            <a:endParaRPr lang="en-US" sz="1200" dirty="0"/>
          </a:p>
        </p:txBody>
      </p:sp>
      <p:sp>
        <p:nvSpPr>
          <p:cNvPr id="3" name="Text 1"/>
          <p:cNvSpPr txBox="1"/>
          <p:nvPr/>
        </p:nvSpPr>
        <p:spPr>
          <a:xfrm>
            <a:off x="548640" y="640080"/>
            <a:ext cx="9418320" cy="640080"/>
          </a:xfrm>
          <a:prstGeom prst="rect">
            <a:avLst/>
          </a:prstGeom>
          <a:noFill/>
          <a:ln/>
        </p:spPr>
        <p:txBody>
          <a:bodyPr wrap="square" lIns="0" tIns="0" rIns="0" bIns="0" rtlCol="0" anchor="t">
            <a:normAutofit/>
          </a:bodyPr>
          <a:lstStyle/>
          <a:p>
            <a:pPr indent="0" marL="0">
              <a:buNone/>
            </a:pPr>
            <a:r>
              <a:rPr lang="en-US" sz="3200" b="1" dirty="0">
                <a:solidFill>
                  <a:srgbClr val="1F2328"/>
                </a:solidFill>
                <a:latin typeface="Calibri" pitchFamily="34" charset="0"/>
                <a:ea typeface="Calibri" pitchFamily="34" charset="-122"/>
                <a:cs typeface="Calibri" pitchFamily="34" charset="-120"/>
              </a:rPr>
              <a:t>Two new methods in Library, two different tools</a:t>
            </a:r>
            <a:endParaRPr lang="en-US" sz="3200" dirty="0"/>
          </a:p>
        </p:txBody>
      </p:sp>
      <p:sp>
        <p:nvSpPr>
          <p:cNvPr id="4" name="Shape 2"/>
          <p:cNvSpPr/>
          <p:nvPr/>
        </p:nvSpPr>
        <p:spPr>
          <a:xfrm>
            <a:off x="10042855" y="411480"/>
            <a:ext cx="1600200" cy="310896"/>
          </a:xfrm>
          <a:prstGeom prst="roundRect">
            <a:avLst>
              <a:gd name="adj" fmla="val 50000"/>
            </a:avLst>
          </a:prstGeom>
          <a:solidFill>
            <a:srgbClr val="C6333B"/>
          </a:solidFill>
          <a:ln w="12700">
            <a:solidFill>
              <a:srgbClr val="C6333B"/>
            </a:solidFill>
            <a:prstDash val="solid"/>
          </a:ln>
        </p:spPr>
      </p:sp>
      <p:sp>
        <p:nvSpPr>
          <p:cNvPr id="5" name="Text 3"/>
          <p:cNvSpPr txBox="1"/>
          <p:nvPr/>
        </p:nvSpPr>
        <p:spPr>
          <a:xfrm>
            <a:off x="10042855" y="411480"/>
            <a:ext cx="160020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LAB NEEDS THIS</a:t>
            </a:r>
            <a:endParaRPr lang="en-US" sz="1050" dirty="0"/>
          </a:p>
        </p:txBody>
      </p:sp>
      <p:sp>
        <p:nvSpPr>
          <p:cNvPr id="6" name="Text 4"/>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1050" dirty="0">
                <a:solidFill>
                  <a:srgbClr val="5B6470"/>
                </a:solidFill>
                <a:latin typeface="Calibri" pitchFamily="34" charset="0"/>
                <a:ea typeface="Calibri" pitchFamily="34" charset="-122"/>
                <a:cs typeface="Calibri" pitchFamily="34" charset="-120"/>
              </a:rPr>
              <a:t>CSCI 2430 Programming Languages  ·  Week 5  ·  Lab</a:t>
            </a:r>
            <a:endParaRPr lang="en-US" sz="1050" dirty="0"/>
          </a:p>
        </p:txBody>
      </p:sp>
      <p:sp>
        <p:nvSpPr>
          <p:cNvPr id="7" name="Text 5"/>
          <p:cNvSpPr txBox="1"/>
          <p:nvPr/>
        </p:nvSpPr>
        <p:spPr>
          <a:xfrm>
            <a:off x="9677095" y="6400800"/>
            <a:ext cx="548640" cy="274320"/>
          </a:xfrm>
          <a:prstGeom prst="rect">
            <a:avLst/>
          </a:prstGeom>
          <a:noFill/>
          <a:ln/>
        </p:spPr>
        <p:txBody>
          <a:bodyPr wrap="square" lIns="0" tIns="0" rIns="0" bIns="0" rtlCol="0" anchor="ctr"/>
          <a:lstStyle/>
          <a:p>
            <a:pPr algn="r" indent="0" marL="0">
              <a:buNone/>
            </a:pPr>
            <a:r>
              <a:rPr lang="en-US" sz="1050" dirty="0">
                <a:solidFill>
                  <a:srgbClr val="5B6470"/>
                </a:solidFill>
                <a:latin typeface="Calibri" pitchFamily="34" charset="0"/>
                <a:ea typeface="Calibri" pitchFamily="34" charset="-122"/>
                <a:cs typeface="Calibri" pitchFamily="34" charset="-120"/>
              </a:rPr>
              <a:t>9</a:t>
            </a:r>
            <a:endParaRPr lang="en-US" sz="1050" dirty="0"/>
          </a:p>
        </p:txBody>
      </p:sp>
      <p:pic>
        <p:nvPicPr>
          <p:cNvPr id="8" name="Image 0" descr="/home/claude/decks/assets/logo-red-transparent-small.png">    </p:cNvPr>
          <p:cNvPicPr>
            <a:picLocks noChangeAspect="1"/>
          </p:cNvPicPr>
          <p:nvPr/>
        </p:nvPicPr>
        <p:blipFill>
          <a:blip r:embed="rId1"/>
          <a:stretch>
            <a:fillRect/>
          </a:stretch>
        </p:blipFill>
        <p:spPr>
          <a:xfrm>
            <a:off x="10518343" y="6291172"/>
            <a:ext cx="1124712" cy="411380"/>
          </a:xfrm>
          <a:prstGeom prst="rect">
            <a:avLst/>
          </a:prstGeom>
        </p:spPr>
      </p:pic>
      <p:sp>
        <p:nvSpPr>
          <p:cNvPr id="10" name="Shape 6"/>
          <p:cNvSpPr/>
          <p:nvPr/>
        </p:nvSpPr>
        <p:spPr>
          <a:xfrm>
            <a:off x="548640" y="1508760"/>
            <a:ext cx="11094415" cy="2880360"/>
          </a:xfrm>
          <a:prstGeom prst="roundRect">
            <a:avLst>
              <a:gd name="adj" fmla="val 3175"/>
            </a:avLst>
          </a:prstGeom>
          <a:solidFill>
            <a:srgbClr val="1B2029"/>
          </a:solidFill>
          <a:ln w="12700">
            <a:solidFill>
              <a:srgbClr val="1B2029"/>
            </a:solidFill>
            <a:prstDash val="solid"/>
          </a:ln>
        </p:spPr>
      </p:sp>
      <p:sp>
        <p:nvSpPr>
          <p:cNvPr id="11" name="Text 7"/>
          <p:cNvSpPr txBox="1"/>
          <p:nvPr/>
        </p:nvSpPr>
        <p:spPr>
          <a:xfrm>
            <a:off x="804672" y="1618488"/>
            <a:ext cx="10582351" cy="256032"/>
          </a:xfrm>
          <a:prstGeom prst="rect">
            <a:avLst/>
          </a:prstGeom>
          <a:noFill/>
          <a:ln/>
        </p:spPr>
        <p:txBody>
          <a:bodyPr wrap="square" lIns="0" tIns="0" rIns="0" bIns="0" rtlCol="0" anchor="ctr"/>
          <a:lstStyle/>
          <a:p>
            <a:pPr indent="0" marL="0">
              <a:buNone/>
            </a:pPr>
            <a:r>
              <a:rPr lang="en-US" sz="1100" b="1" spc="100" kern="0" dirty="0">
                <a:solidFill>
                  <a:srgbClr val="8B97A6"/>
                </a:solidFill>
                <a:latin typeface="Calibri" pitchFamily="34" charset="0"/>
                <a:ea typeface="Calibri" pitchFamily="34" charset="-122"/>
                <a:cs typeface="Calibri" pitchFamily="34" charset="-120"/>
              </a:rPr>
              <a:t>Library.java</a:t>
            </a:r>
            <a:endParaRPr lang="en-US" sz="1100" dirty="0"/>
          </a:p>
        </p:txBody>
      </p:sp>
      <p:sp>
        <p:nvSpPr>
          <p:cNvPr id="12" name="Text 8"/>
          <p:cNvSpPr txBox="1"/>
          <p:nvPr/>
        </p:nvSpPr>
        <p:spPr>
          <a:xfrm>
            <a:off x="804672" y="1965960"/>
            <a:ext cx="10582351" cy="2240280"/>
          </a:xfrm>
          <a:prstGeom prst="rect">
            <a:avLst/>
          </a:prstGeom>
          <a:noFill/>
          <a:ln/>
        </p:spPr>
        <p:txBody>
          <a:bodyPr wrap="none" lIns="0" tIns="0" rIns="0" bIns="0" rtlCol="0" anchor="t"/>
          <a:lstStyle/>
          <a:p>
            <a:pPr indent="0" marL="0">
              <a:lnSpc>
                <a:spcPct val="105000"/>
              </a:lnSpc>
              <a:buNone/>
            </a:pPr>
            <a:r>
              <a:rPr lang="en-US" sz="1250" dirty="0">
                <a:solidFill>
                  <a:srgbClr val="8B97A6"/>
                </a:solidFill>
                <a:latin typeface="Consolas" pitchFamily="34" charset="0"/>
                <a:ea typeface="Consolas" pitchFamily="34" charset="-122"/>
                <a:cs typeface="Consolas" pitchFamily="34" charset="-120"/>
              </a:rPr>
              <a:t>// How many books each format has, for example {audio=1, ebook=2, printed=3}.</a:t>
            </a:r>
            <a:endParaRPr lang="en-US" sz="1250" dirty="0"/>
          </a:p>
          <a:p>
            <a:pPr indent="0" marL="0">
              <a:lnSpc>
                <a:spcPct val="105000"/>
              </a:lnSpc>
              <a:buNone/>
            </a:pPr>
            <a:r>
              <a:rPr lang="en-US" sz="1250" dirty="0">
                <a:solidFill>
                  <a:srgbClr val="8B97A6"/>
                </a:solidFill>
                <a:latin typeface="Consolas" pitchFamily="34" charset="0"/>
                <a:ea typeface="Consolas" pitchFamily="34" charset="-122"/>
                <a:cs typeface="Consolas" pitchFamily="34" charset="-120"/>
              </a:rPr>
              <a:t>// Every book can answer format(). You do not need instanceof here.</a:t>
            </a:r>
            <a:endParaRPr lang="en-US" sz="1250" dirty="0"/>
          </a:p>
          <a:p>
            <a:pPr indent="0" marL="0">
              <a:lnSpc>
                <a:spcPct val="105000"/>
              </a:lnSpc>
              <a:buNone/>
            </a:pPr>
            <a:r>
              <a:rPr lang="en-US" sz="1250" dirty="0">
                <a:solidFill>
                  <a:srgbClr val="FF8A93"/>
                </a:solidFill>
                <a:latin typeface="Consolas" pitchFamily="34" charset="0"/>
                <a:ea typeface="Consolas" pitchFamily="34" charset="-122"/>
                <a:cs typeface="Consolas" pitchFamily="34" charset="-120"/>
              </a:rPr>
              <a:t>public</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Map&lt;String, Integer&gt; countByFormat() {</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FF8A93"/>
                </a:solidFill>
                <a:latin typeface="Consolas" pitchFamily="34" charset="0"/>
                <a:ea typeface="Consolas" pitchFamily="34" charset="-122"/>
                <a:cs typeface="Consolas" pitchFamily="34" charset="-120"/>
              </a:rPr>
              <a:t>return</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FF8A93"/>
                </a:solidFill>
                <a:latin typeface="Consolas" pitchFamily="34" charset="0"/>
                <a:ea typeface="Consolas" pitchFamily="34" charset="-122"/>
                <a:cs typeface="Consolas" pitchFamily="34" charset="-120"/>
              </a:rPr>
              <a:t>new</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TreeMap&lt;&gt;(); </a:t>
            </a:r>
            <a:pPr indent="0" marL="0">
              <a:lnSpc>
                <a:spcPct val="105000"/>
              </a:lnSpc>
              <a:buNone/>
            </a:pPr>
            <a:r>
              <a:rPr lang="en-US" sz="1250" dirty="0">
                <a:solidFill>
                  <a:srgbClr val="8B97A6"/>
                </a:solidFill>
                <a:latin typeface="Consolas" pitchFamily="34" charset="0"/>
                <a:ea typeface="Consolas" pitchFamily="34" charset="-122"/>
                <a:cs typeface="Consolas" pitchFamily="34" charset="-120"/>
              </a:rPr>
              <a:t>// TODO</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endParaRPr lang="en-US" sz="1250" dirty="0"/>
          </a:p>
          <a:p>
            <a:pPr indent="0" marL="0">
              <a:lnSpc>
                <a:spcPct val="105000"/>
              </a:lnSpc>
              <a:buNone/>
            </a:pPr>
            <a:r>
              <a:rPr lang="en-US" sz="1250" dirty="0">
                <a:solidFill>
                  <a:srgbClr val="8B97A6"/>
                </a:solidFill>
                <a:latin typeface="Consolas" pitchFamily="34" charset="0"/>
                <a:ea typeface="Consolas" pitchFamily="34" charset="-122"/>
                <a:cs typeface="Consolas" pitchFamily="34" charset="-120"/>
              </a:rPr>
              <a:t>// The sum of the minutes of all audio books.</a:t>
            </a:r>
            <a:endParaRPr lang="en-US" sz="1250" dirty="0"/>
          </a:p>
          <a:p>
            <a:pPr indent="0" marL="0">
              <a:lnSpc>
                <a:spcPct val="105000"/>
              </a:lnSpc>
              <a:buNone/>
            </a:pPr>
            <a:r>
              <a:rPr lang="en-US" sz="1250" dirty="0">
                <a:solidFill>
                  <a:srgbClr val="8B97A6"/>
                </a:solidFill>
                <a:latin typeface="Consolas" pitchFamily="34" charset="0"/>
                <a:ea typeface="Consolas" pitchFamily="34" charset="-122"/>
                <a:cs typeface="Consolas" pitchFamily="34" charset="-120"/>
              </a:rPr>
              <a:t>// Only AudioBook has getMinutes(), so here you need instanceof with a pattern variable.</a:t>
            </a:r>
            <a:endParaRPr lang="en-US" sz="1250" dirty="0"/>
          </a:p>
          <a:p>
            <a:pPr indent="0" marL="0">
              <a:lnSpc>
                <a:spcPct val="105000"/>
              </a:lnSpc>
              <a:buNone/>
            </a:pPr>
            <a:r>
              <a:rPr lang="en-US" sz="1250" dirty="0">
                <a:solidFill>
                  <a:srgbClr val="FF8A93"/>
                </a:solidFill>
                <a:latin typeface="Consolas" pitchFamily="34" charset="0"/>
                <a:ea typeface="Consolas" pitchFamily="34" charset="-122"/>
                <a:cs typeface="Consolas" pitchFamily="34" charset="-120"/>
              </a:rPr>
              <a:t>public</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FF8A93"/>
                </a:solidFill>
                <a:latin typeface="Consolas" pitchFamily="34" charset="0"/>
                <a:ea typeface="Consolas" pitchFamily="34" charset="-122"/>
                <a:cs typeface="Consolas" pitchFamily="34" charset="-120"/>
              </a:rPr>
              <a:t>int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totalListeningMinutes() {</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FF8A93"/>
                </a:solidFill>
                <a:latin typeface="Consolas" pitchFamily="34" charset="0"/>
                <a:ea typeface="Consolas" pitchFamily="34" charset="-122"/>
                <a:cs typeface="Consolas" pitchFamily="34" charset="-120"/>
              </a:rPr>
              <a:t>return</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F2CC60"/>
                </a:solidFill>
                <a:latin typeface="Consolas" pitchFamily="34" charset="0"/>
                <a:ea typeface="Consolas" pitchFamily="34" charset="-122"/>
                <a:cs typeface="Consolas" pitchFamily="34" charset="-120"/>
              </a:rPr>
              <a:t>0</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8B97A6"/>
                </a:solidFill>
                <a:latin typeface="Consolas" pitchFamily="34" charset="0"/>
                <a:ea typeface="Consolas" pitchFamily="34" charset="-122"/>
                <a:cs typeface="Consolas" pitchFamily="34" charset="-120"/>
              </a:rPr>
              <a:t>// TODO</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endParaRPr lang="en-US" sz="1250" dirty="0"/>
          </a:p>
        </p:txBody>
      </p:sp>
      <p:sp>
        <p:nvSpPr>
          <p:cNvPr id="13" name="Shape 9"/>
          <p:cNvSpPr/>
          <p:nvPr/>
        </p:nvSpPr>
        <p:spPr>
          <a:xfrm>
            <a:off x="548640" y="4572000"/>
            <a:ext cx="5455768" cy="1184910"/>
          </a:xfrm>
          <a:prstGeom prst="roundRect">
            <a:avLst>
              <a:gd name="adj" fmla="val 6174"/>
            </a:avLst>
          </a:prstGeom>
          <a:solidFill>
            <a:srgbClr val="F3F4F6"/>
          </a:solidFill>
          <a:ln w="12700">
            <a:solidFill>
              <a:srgbClr val="F3F4F6"/>
            </a:solidFill>
            <a:prstDash val="solid"/>
          </a:ln>
        </p:spPr>
      </p:sp>
      <p:sp>
        <p:nvSpPr>
          <p:cNvPr id="14" name="Text 10"/>
          <p:cNvSpPr txBox="1"/>
          <p:nvPr/>
        </p:nvSpPr>
        <p:spPr>
          <a:xfrm>
            <a:off x="777240" y="4690872"/>
            <a:ext cx="4998568" cy="1002030"/>
          </a:xfrm>
          <a:prstGeom prst="rect">
            <a:avLst/>
          </a:prstGeom>
          <a:noFill/>
          <a:ln/>
        </p:spPr>
        <p:txBody>
          <a:bodyPr wrap="square" lIns="0" tIns="0" rIns="0" bIns="0" rtlCol="0" anchor="t"/>
          <a:lstStyle/>
          <a:p>
            <a:pPr indent="0" marL="0">
              <a:buNone/>
            </a:pPr>
            <a:r>
              <a:rPr lang="en-US" sz="1800" b="1" dirty="0">
                <a:solidFill>
                  <a:srgbClr val="9C2630"/>
                </a:solidFill>
                <a:latin typeface="Calibri" pitchFamily="34" charset="0"/>
                <a:ea typeface="Calibri" pitchFamily="34" charset="-122"/>
                <a:cs typeface="Calibri" pitchFamily="34" charset="-120"/>
              </a:rPr>
              <a:t>countByFormat</a:t>
            </a:r>
            <a:endParaRPr lang="en-US" sz="1800" dirty="0"/>
          </a:p>
          <a:p>
            <a:pPr indent="0" marL="0">
              <a:buNone/>
            </a:pPr>
            <a:r>
              <a:rPr lang="en-US" sz="1600" dirty="0">
                <a:solidFill>
                  <a:srgbClr val="1F2328"/>
                </a:solidFill>
                <a:latin typeface="Calibri" pitchFamily="34" charset="0"/>
                <a:ea typeface="Calibri" pitchFamily="34" charset="-122"/>
                <a:cs typeface="Calibri" pitchFamily="34" charset="-120"/>
              </a:rPr>
              <a:t>Ask every book: book.format(). Each object answers in its own way. No if, no instanceof.</a:t>
            </a:r>
            <a:endParaRPr lang="en-US" sz="1800" dirty="0"/>
          </a:p>
        </p:txBody>
      </p:sp>
      <p:sp>
        <p:nvSpPr>
          <p:cNvPr id="15" name="Shape 11"/>
          <p:cNvSpPr/>
          <p:nvPr/>
        </p:nvSpPr>
        <p:spPr>
          <a:xfrm>
            <a:off x="6187288" y="4572000"/>
            <a:ext cx="5455768" cy="1184910"/>
          </a:xfrm>
          <a:prstGeom prst="roundRect">
            <a:avLst>
              <a:gd name="adj" fmla="val 6174"/>
            </a:avLst>
          </a:prstGeom>
          <a:solidFill>
            <a:srgbClr val="F3F4F6"/>
          </a:solidFill>
          <a:ln w="12700">
            <a:solidFill>
              <a:srgbClr val="F3F4F6"/>
            </a:solidFill>
            <a:prstDash val="solid"/>
          </a:ln>
        </p:spPr>
      </p:sp>
      <p:sp>
        <p:nvSpPr>
          <p:cNvPr id="16" name="Text 12"/>
          <p:cNvSpPr txBox="1"/>
          <p:nvPr/>
        </p:nvSpPr>
        <p:spPr>
          <a:xfrm>
            <a:off x="6415888" y="4690872"/>
            <a:ext cx="4998568" cy="1002030"/>
          </a:xfrm>
          <a:prstGeom prst="rect">
            <a:avLst/>
          </a:prstGeom>
          <a:noFill/>
          <a:ln/>
        </p:spPr>
        <p:txBody>
          <a:bodyPr wrap="square" lIns="0" tIns="0" rIns="0" bIns="0" rtlCol="0" anchor="t"/>
          <a:lstStyle/>
          <a:p>
            <a:pPr indent="0" marL="0">
              <a:buNone/>
            </a:pPr>
            <a:r>
              <a:rPr lang="en-US" sz="1800" b="1" dirty="0">
                <a:solidFill>
                  <a:srgbClr val="9C2630"/>
                </a:solidFill>
                <a:latin typeface="Calibri" pitchFamily="34" charset="0"/>
                <a:ea typeface="Calibri" pitchFamily="34" charset="-122"/>
                <a:cs typeface="Calibri" pitchFamily="34" charset="-120"/>
              </a:rPr>
              <a:t>totalListeningMinutes</a:t>
            </a:r>
            <a:endParaRPr lang="en-US" sz="1800" dirty="0"/>
          </a:p>
          <a:p>
            <a:pPr indent="0" marL="0">
              <a:buNone/>
            </a:pPr>
            <a:r>
              <a:rPr lang="en-US" sz="1600" dirty="0">
                <a:solidFill>
                  <a:srgbClr val="1F2328"/>
                </a:solidFill>
                <a:latin typeface="Calibri" pitchFamily="34" charset="0"/>
                <a:ea typeface="Calibri" pitchFamily="34" charset="-122"/>
                <a:cs typeface="Calibri" pitchFamily="34" charset="-120"/>
              </a:rPr>
              <a:t>getMinutes() exists only in AudioBook. Here instanceof with a pattern variable is right.</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56032"/>
          </a:xfrm>
          <a:prstGeom prst="rect">
            <a:avLst/>
          </a:prstGeom>
          <a:noFill/>
          <a:ln/>
        </p:spPr>
        <p:txBody>
          <a:bodyPr wrap="square" lIns="0" tIns="0" rIns="0" bIns="0" rtlCol="0" anchor="ctr"/>
          <a:lstStyle/>
          <a:p>
            <a:pPr indent="0" marL="0">
              <a:buNone/>
            </a:pPr>
            <a:r>
              <a:rPr lang="en-US" sz="1200" b="1" spc="200" kern="0" dirty="0">
                <a:solidFill>
                  <a:srgbClr val="C6333B"/>
                </a:solidFill>
                <a:latin typeface="Calibri" pitchFamily="34" charset="0"/>
                <a:ea typeface="Calibri" pitchFamily="34" charset="-122"/>
                <a:cs typeface="Calibri" pitchFamily="34" charset="-120"/>
              </a:rPr>
              <a:t>TASK 4  ·  CORE</a:t>
            </a:r>
            <a:endParaRPr lang="en-US" sz="1200" dirty="0"/>
          </a:p>
        </p:txBody>
      </p:sp>
      <p:sp>
        <p:nvSpPr>
          <p:cNvPr id="3" name="Text 1"/>
          <p:cNvSpPr txBox="1"/>
          <p:nvPr/>
        </p:nvSpPr>
        <p:spPr>
          <a:xfrm>
            <a:off x="548640" y="640080"/>
            <a:ext cx="11064240" cy="640080"/>
          </a:xfrm>
          <a:prstGeom prst="rect">
            <a:avLst/>
          </a:prstGeom>
          <a:noFill/>
          <a:ln/>
        </p:spPr>
        <p:txBody>
          <a:bodyPr wrap="square" lIns="0" tIns="0" rIns="0" bIns="0" rtlCol="0" anchor="t">
            <a:normAutofit/>
          </a:bodyPr>
          <a:lstStyle/>
          <a:p>
            <a:pPr indent="0" marL="0">
              <a:buNone/>
            </a:pPr>
            <a:r>
              <a:rPr lang="en-US" sz="3200" b="1" dirty="0">
                <a:solidFill>
                  <a:srgbClr val="1F2328"/>
                </a:solidFill>
                <a:latin typeface="Calibri" pitchFamily="34" charset="0"/>
                <a:ea typeface="Calibri" pitchFamily="34" charset="-122"/>
                <a:cs typeface="Calibri" pitchFamily="34" charset="-120"/>
              </a:rPr>
              <a:t>The library and the three kinds of books</a:t>
            </a:r>
            <a:endParaRPr lang="en-US" sz="3200" dirty="0"/>
          </a:p>
        </p:txBody>
      </p:sp>
      <p:sp>
        <p:nvSpPr>
          <p:cNvPr id="4" name="Text 2"/>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1050" dirty="0">
                <a:solidFill>
                  <a:srgbClr val="5B6470"/>
                </a:solidFill>
                <a:latin typeface="Calibri" pitchFamily="34" charset="0"/>
                <a:ea typeface="Calibri" pitchFamily="34" charset="-122"/>
                <a:cs typeface="Calibri" pitchFamily="34" charset="-120"/>
              </a:rPr>
              <a:t>CSCI 2430 Programming Languages  ·  Week 5  ·  Lab</a:t>
            </a:r>
            <a:endParaRPr lang="en-US" sz="1050" dirty="0"/>
          </a:p>
        </p:txBody>
      </p:sp>
      <p:sp>
        <p:nvSpPr>
          <p:cNvPr id="5" name="Text 3"/>
          <p:cNvSpPr txBox="1"/>
          <p:nvPr/>
        </p:nvSpPr>
        <p:spPr>
          <a:xfrm>
            <a:off x="9677095" y="6400800"/>
            <a:ext cx="548640" cy="274320"/>
          </a:xfrm>
          <a:prstGeom prst="rect">
            <a:avLst/>
          </a:prstGeom>
          <a:noFill/>
          <a:ln/>
        </p:spPr>
        <p:txBody>
          <a:bodyPr wrap="square" lIns="0" tIns="0" rIns="0" bIns="0" rtlCol="0" anchor="ctr"/>
          <a:lstStyle/>
          <a:p>
            <a:pPr algn="r" indent="0" marL="0">
              <a:buNone/>
            </a:pPr>
            <a:r>
              <a:rPr lang="en-US" sz="1050" dirty="0">
                <a:solidFill>
                  <a:srgbClr val="5B6470"/>
                </a:solidFill>
                <a:latin typeface="Calibri" pitchFamily="34" charset="0"/>
                <a:ea typeface="Calibri" pitchFamily="34" charset="-122"/>
                <a:cs typeface="Calibri" pitchFamily="34" charset="-120"/>
              </a:rPr>
              <a:t>10</a:t>
            </a:r>
            <a:endParaRPr lang="en-US" sz="1050" dirty="0"/>
          </a:p>
        </p:txBody>
      </p:sp>
      <p:pic>
        <p:nvPicPr>
          <p:cNvPr id="6" name="Image 0" descr="/home/claude/decks/assets/logo-red-transparent-small.png">    </p:cNvPr>
          <p:cNvPicPr>
            <a:picLocks noChangeAspect="1"/>
          </p:cNvPicPr>
          <p:nvPr/>
        </p:nvPicPr>
        <p:blipFill>
          <a:blip r:embed="rId1"/>
          <a:stretch>
            <a:fillRect/>
          </a:stretch>
        </p:blipFill>
        <p:spPr>
          <a:xfrm>
            <a:off x="10518343" y="6291172"/>
            <a:ext cx="1124712" cy="411380"/>
          </a:xfrm>
          <a:prstGeom prst="rect">
            <a:avLst/>
          </a:prstGeom>
        </p:spPr>
      </p:pic>
      <p:sp>
        <p:nvSpPr>
          <p:cNvPr id="8" name="Shape 4"/>
          <p:cNvSpPr/>
          <p:nvPr/>
        </p:nvSpPr>
        <p:spPr>
          <a:xfrm>
            <a:off x="10180015" y="411480"/>
            <a:ext cx="1463040" cy="329184"/>
          </a:xfrm>
          <a:prstGeom prst="roundRect">
            <a:avLst>
              <a:gd name="adj" fmla="val 50000"/>
            </a:avLst>
          </a:prstGeom>
          <a:solidFill>
            <a:srgbClr val="C6333B"/>
          </a:solidFill>
          <a:ln w="12700">
            <a:solidFill>
              <a:srgbClr val="C6333B"/>
            </a:solidFill>
            <a:prstDash val="solid"/>
          </a:ln>
        </p:spPr>
      </p:sp>
      <p:sp>
        <p:nvSpPr>
          <p:cNvPr id="9" name="Text 5"/>
          <p:cNvSpPr txBox="1"/>
          <p:nvPr/>
        </p:nvSpPr>
        <p:spPr>
          <a:xfrm>
            <a:off x="10180015" y="411480"/>
            <a:ext cx="1463040"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20 min</a:t>
            </a:r>
            <a:endParaRPr lang="en-US" sz="1250" dirty="0"/>
          </a:p>
        </p:txBody>
      </p:sp>
      <p:sp>
        <p:nvSpPr>
          <p:cNvPr id="10" name="Shape 6"/>
          <p:cNvSpPr/>
          <p:nvPr/>
        </p:nvSpPr>
        <p:spPr>
          <a:xfrm>
            <a:off x="548640" y="1508760"/>
            <a:ext cx="6766560" cy="1066800"/>
          </a:xfrm>
          <a:prstGeom prst="roundRect">
            <a:avLst>
              <a:gd name="adj" fmla="val 10286"/>
            </a:avLst>
          </a:prstGeom>
          <a:solidFill>
            <a:srgbClr val="FBECED"/>
          </a:solidFill>
          <a:ln w="12700">
            <a:solidFill>
              <a:srgbClr val="FBECED"/>
            </a:solidFill>
            <a:prstDash val="solid"/>
          </a:ln>
        </p:spPr>
      </p:sp>
      <p:sp>
        <p:nvSpPr>
          <p:cNvPr id="11" name="Text 7"/>
          <p:cNvSpPr txBox="1"/>
          <p:nvPr/>
        </p:nvSpPr>
        <p:spPr>
          <a:xfrm>
            <a:off x="822960" y="1600200"/>
            <a:ext cx="6217920" cy="883920"/>
          </a:xfrm>
          <a:prstGeom prst="rect">
            <a:avLst/>
          </a:prstGeom>
          <a:noFill/>
          <a:ln/>
        </p:spPr>
        <p:txBody>
          <a:bodyPr wrap="square" lIns="0" tIns="0" rIns="0" bIns="0" rtlCol="0" anchor="t"/>
          <a:lstStyle/>
          <a:p>
            <a:pPr indent="0" marL="0">
              <a:buNone/>
            </a:pPr>
            <a:r>
              <a:rPr lang="en-US" sz="1200" b="1" spc="200" kern="0" dirty="0">
                <a:solidFill>
                  <a:srgbClr val="C6333B"/>
                </a:solidFill>
                <a:latin typeface="Calibri" pitchFamily="34" charset="0"/>
                <a:ea typeface="Calibri" pitchFamily="34" charset="-122"/>
                <a:cs typeface="Calibri" pitchFamily="34" charset="-120"/>
              </a:rPr>
              <a:t>GOAL  </a:t>
            </a:r>
            <a:endParaRPr lang="en-US" sz="1200" dirty="0"/>
          </a:p>
          <a:p>
            <a:pPr indent="0" marL="0">
              <a:buNone/>
            </a:pPr>
            <a:r>
              <a:rPr lang="en-US" sz="1700" dirty="0">
                <a:solidFill>
                  <a:srgbClr val="1F2328"/>
                </a:solidFill>
                <a:latin typeface="Calibri" pitchFamily="34" charset="0"/>
                <a:ea typeface="Calibri" pitchFamily="34" charset="-122"/>
                <a:cs typeface="Calibri" pitchFamily="34" charset="-120"/>
              </a:rPr>
              <a:t>The List&lt;Book&gt; inside Library already accepts every kind of book. Add two methods that use the hierarchy.</a:t>
            </a:r>
            <a:endParaRPr lang="en-US" sz="1200" dirty="0"/>
          </a:p>
        </p:txBody>
      </p:sp>
      <p:sp>
        <p:nvSpPr>
          <p:cNvPr id="12" name="Text 8"/>
          <p:cNvSpPr txBox="1"/>
          <p:nvPr/>
        </p:nvSpPr>
        <p:spPr>
          <a:xfrm>
            <a:off x="548640" y="2758440"/>
            <a:ext cx="6766560" cy="274320"/>
          </a:xfrm>
          <a:prstGeom prst="rect">
            <a:avLst/>
          </a:prstGeom>
          <a:noFill/>
          <a:ln/>
        </p:spPr>
        <p:txBody>
          <a:bodyPr wrap="square" lIns="0" tIns="0" rIns="0" bIns="0" rtlCol="0" anchor="ctr"/>
          <a:lstStyle/>
          <a:p>
            <a:pPr indent="0" marL="0">
              <a:buNone/>
            </a:pPr>
            <a:r>
              <a:rPr lang="en-US" sz="1200" b="1" spc="200" kern="0" dirty="0">
                <a:solidFill>
                  <a:srgbClr val="5B6470"/>
                </a:solidFill>
                <a:latin typeface="Calibri" pitchFamily="34" charset="0"/>
                <a:ea typeface="Calibri" pitchFamily="34" charset="-122"/>
                <a:cs typeface="Calibri" pitchFamily="34" charset="-120"/>
              </a:rPr>
              <a:t>WHAT TO DO</a:t>
            </a:r>
            <a:endParaRPr lang="en-US" sz="1200" dirty="0"/>
          </a:p>
        </p:txBody>
      </p:sp>
      <p:sp>
        <p:nvSpPr>
          <p:cNvPr id="13" name="Text 9"/>
          <p:cNvSpPr txBox="1"/>
          <p:nvPr/>
        </p:nvSpPr>
        <p:spPr>
          <a:xfrm>
            <a:off x="548640" y="3078480"/>
            <a:ext cx="6766560" cy="3048000"/>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800" dirty="0">
                <a:solidFill>
                  <a:srgbClr val="1F2328"/>
                </a:solidFill>
                <a:latin typeface="Calibri" pitchFamily="34" charset="0"/>
                <a:ea typeface="Calibri" pitchFamily="34" charset="-122"/>
                <a:cs typeface="Calibri" pitchFamily="34" charset="-120"/>
              </a:rPr>
              <a:t>countByFormat: the counting pattern of last week, with book.format() as the key and a TreeMap.</a:t>
            </a:r>
            <a:endParaRPr lang="en-US" sz="1800" dirty="0"/>
          </a:p>
          <a:p>
            <a:pPr marL="342900" indent="-342900">
              <a:spcAft>
                <a:spcPts val="600"/>
              </a:spcAft>
              <a:buSzPct val="100000"/>
              <a:buFont typeface="+mj-lt"/>
              <a:buAutoNum type="arabicPeriod" startAt="1"/>
            </a:pPr>
            <a:r>
              <a:rPr lang="en-US" sz="1800" dirty="0">
                <a:solidFill>
                  <a:srgbClr val="1F2328"/>
                </a:solidFill>
                <a:latin typeface="Calibri" pitchFamily="34" charset="0"/>
                <a:ea typeface="Calibri" pitchFamily="34" charset="-122"/>
                <a:cs typeface="Calibri" pitchFamily="34" charset="-120"/>
              </a:rPr>
              <a:t>totalListeningMinutes: loop over the books, and add the minutes of every AudioBook.</a:t>
            </a:r>
            <a:endParaRPr lang="en-US" sz="1800" dirty="0"/>
          </a:p>
          <a:p>
            <a:pPr marL="342900" indent="-342900">
              <a:spcAft>
                <a:spcPts val="600"/>
              </a:spcAft>
              <a:buSzPct val="100000"/>
              <a:buFont typeface="+mj-lt"/>
              <a:buAutoNum type="arabicPeriod" startAt="1"/>
            </a:pPr>
            <a:r>
              <a:rPr lang="en-US" sz="1800" dirty="0">
                <a:solidFill>
                  <a:srgbClr val="1F2328"/>
                </a:solidFill>
                <a:latin typeface="Calibri" pitchFamily="34" charset="0"/>
                <a:ea typeface="Calibri" pitchFamily="34" charset="-122"/>
                <a:cs typeface="Calibri" pitchFamily="34" charset="-120"/>
              </a:rPr>
              <a:t>Use: if (book instanceof AudioBook audio) { ... audio.getMinutes() ... }</a:t>
            </a:r>
            <a:endParaRPr lang="en-US" sz="1800" dirty="0"/>
          </a:p>
          <a:p>
            <a:pPr marL="342900" indent="-342900">
              <a:spcAft>
                <a:spcPts val="600"/>
              </a:spcAft>
              <a:buSzPct val="100000"/>
              <a:buFont typeface="+mj-lt"/>
              <a:buAutoNum type="arabicPeriod" startAt="1"/>
            </a:pPr>
            <a:r>
              <a:rPr lang="en-US" sz="1800" dirty="0">
                <a:solidFill>
                  <a:srgbClr val="1F2328"/>
                </a:solidFill>
                <a:latin typeface="Calibri" pitchFamily="34" charset="0"/>
                <a:ea typeface="Calibri" pitchFamily="34" charset="-122"/>
                <a:cs typeface="Calibri" pitchFamily="34" charset="-120"/>
              </a:rPr>
              <a:t>Run LibraryTest.</a:t>
            </a:r>
            <a:endParaRPr lang="en-US" sz="1800" dirty="0"/>
          </a:p>
          <a:p>
            <a:pPr marL="342900" indent="-342900">
              <a:spcAft>
                <a:spcPts val="600"/>
              </a:spcAft>
              <a:buSzPct val="100000"/>
              <a:buFont typeface="+mj-lt"/>
              <a:buAutoNum type="arabicPeriod" startAt="1"/>
            </a:pPr>
            <a:r>
              <a:rPr lang="en-US" sz="1800" dirty="0">
                <a:solidFill>
                  <a:srgbClr val="1F2328"/>
                </a:solidFill>
                <a:latin typeface="Calibri" pitchFamily="34" charset="0"/>
                <a:ea typeface="Calibri" pitchFamily="34" charset="-122"/>
                <a:cs typeface="Calibri" pitchFamily="34" charset="-120"/>
              </a:rPr>
              <a:t>Look at the first test in LibraryTest: all code of week 4 still works, unchanged. Why?</a:t>
            </a:r>
            <a:endParaRPr lang="en-US" sz="1800" dirty="0"/>
          </a:p>
        </p:txBody>
      </p:sp>
      <p:sp>
        <p:nvSpPr>
          <p:cNvPr id="14" name="Shape 10"/>
          <p:cNvSpPr/>
          <p:nvPr/>
        </p:nvSpPr>
        <p:spPr>
          <a:xfrm>
            <a:off x="7680960" y="1508760"/>
            <a:ext cx="3962095" cy="4617720"/>
          </a:xfrm>
          <a:prstGeom prst="roundRect">
            <a:avLst>
              <a:gd name="adj" fmla="val 2769"/>
            </a:avLst>
          </a:prstGeom>
          <a:solidFill>
            <a:srgbClr val="E7F5EC"/>
          </a:solidFill>
          <a:ln w="12700">
            <a:solidFill>
              <a:srgbClr val="E7F5EC"/>
            </a:solidFill>
            <a:prstDash val="solid"/>
          </a:ln>
        </p:spPr>
      </p:sp>
      <p:sp>
        <p:nvSpPr>
          <p:cNvPr id="15" name="Text 11"/>
          <p:cNvSpPr txBox="1"/>
          <p:nvPr/>
        </p:nvSpPr>
        <p:spPr>
          <a:xfrm>
            <a:off x="7955280" y="1645920"/>
            <a:ext cx="3413455" cy="274320"/>
          </a:xfrm>
          <a:prstGeom prst="rect">
            <a:avLst/>
          </a:prstGeom>
          <a:noFill/>
          <a:ln/>
        </p:spPr>
        <p:txBody>
          <a:bodyPr wrap="square" lIns="0" tIns="0" rIns="0" bIns="0" rtlCol="0" anchor="ctr"/>
          <a:lstStyle/>
          <a:p>
            <a:pPr indent="0" marL="0">
              <a:buNone/>
            </a:pPr>
            <a:r>
              <a:rPr lang="en-US" sz="1200" b="1" spc="200" kern="0" dirty="0">
                <a:solidFill>
                  <a:srgbClr val="1E7F4F"/>
                </a:solidFill>
                <a:latin typeface="Calibri" pitchFamily="34" charset="0"/>
                <a:ea typeface="Calibri" pitchFamily="34" charset="-122"/>
                <a:cs typeface="Calibri" pitchFamily="34" charset="-120"/>
              </a:rPr>
              <a:t>DONE WHEN</a:t>
            </a:r>
            <a:endParaRPr lang="en-US" sz="1200" dirty="0"/>
          </a:p>
        </p:txBody>
      </p:sp>
      <p:sp>
        <p:nvSpPr>
          <p:cNvPr id="16" name="Text 12"/>
          <p:cNvSpPr txBox="1"/>
          <p:nvPr/>
        </p:nvSpPr>
        <p:spPr>
          <a:xfrm>
            <a:off x="7955280" y="1984248"/>
            <a:ext cx="3413455" cy="4023360"/>
          </a:xfrm>
          <a:prstGeom prst="rect">
            <a:avLst/>
          </a:prstGeom>
          <a:noFill/>
          <a:ln/>
        </p:spPr>
        <p:txBody>
          <a:bodyPr wrap="square" lIns="0" tIns="0" rIns="0" bIns="0" rtlCol="0" anchor="t"/>
          <a:lstStyle/>
          <a:p>
            <a:pPr marL="342900" indent="-342900">
              <a:spcAft>
                <a:spcPts val="600"/>
              </a:spcAft>
              <a:buSzPct val="100000"/>
              <a:buChar char="✓"/>
            </a:pPr>
            <a:r>
              <a:rPr lang="en-US" sz="1700" dirty="0">
                <a:solidFill>
                  <a:srgbClr val="1F2328"/>
                </a:solidFill>
                <a:latin typeface="Calibri" pitchFamily="34" charset="0"/>
                <a:ea typeface="Calibri" pitchFamily="34" charset="-122"/>
                <a:cs typeface="Calibri" pitchFamily="34" charset="-120"/>
              </a:rPr>
              <a:t>LibraryTest is green</a:t>
            </a:r>
            <a:endParaRPr lang="en-US" sz="1700" dirty="0"/>
          </a:p>
          <a:p>
            <a:pPr marL="342900" indent="-342900">
              <a:spcAft>
                <a:spcPts val="600"/>
              </a:spcAft>
              <a:buSzPct val="100000"/>
              <a:buChar char="✓"/>
            </a:pPr>
            <a:r>
              <a:rPr lang="en-US" sz="1700" dirty="0">
                <a:solidFill>
                  <a:srgbClr val="1F2328"/>
                </a:solidFill>
                <a:latin typeface="Calibri" pitchFamily="34" charset="0"/>
                <a:ea typeface="Calibri" pitchFamily="34" charset="-122"/>
                <a:cs typeface="Calibri" pitchFamily="34" charset="-120"/>
              </a:rPr>
              <a:t>countByFormat contains no instanceof</a:t>
            </a:r>
            <a:endParaRPr lang="en-US" sz="1700" dirty="0"/>
          </a:p>
          <a:p>
            <a:pPr marL="342900" indent="-342900">
              <a:spcAft>
                <a:spcPts val="600"/>
              </a:spcAft>
              <a:buSzPct val="100000"/>
              <a:buChar char="✓"/>
            </a:pPr>
            <a:r>
              <a:rPr lang="en-US" sz="1700" dirty="0">
                <a:solidFill>
                  <a:srgbClr val="1F2328"/>
                </a:solidFill>
                <a:latin typeface="Calibri" pitchFamily="34" charset="0"/>
                <a:ea typeface="Calibri" pitchFamily="34" charset="-122"/>
                <a:cs typeface="Calibri" pitchFamily="34" charset="-120"/>
              </a:rPr>
              <a:t>Commit</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56032"/>
          </a:xfrm>
          <a:prstGeom prst="rect">
            <a:avLst/>
          </a:prstGeom>
          <a:noFill/>
          <a:ln/>
        </p:spPr>
        <p:txBody>
          <a:bodyPr wrap="square" lIns="0" tIns="0" rIns="0" bIns="0" rtlCol="0" anchor="ctr"/>
          <a:lstStyle/>
          <a:p>
            <a:pPr indent="0" marL="0">
              <a:buNone/>
            </a:pPr>
            <a:r>
              <a:rPr lang="en-US" sz="1200" b="1" spc="200" kern="0" dirty="0">
                <a:solidFill>
                  <a:srgbClr val="C6333B"/>
                </a:solidFill>
                <a:latin typeface="Calibri" pitchFamily="34" charset="0"/>
                <a:ea typeface="Calibri" pitchFamily="34" charset="-122"/>
                <a:cs typeface="Calibri" pitchFamily="34" charset="-120"/>
              </a:rPr>
              <a:t>TASK 5</a:t>
            </a:r>
            <a:endParaRPr lang="en-US" sz="1200" dirty="0"/>
          </a:p>
        </p:txBody>
      </p:sp>
      <p:sp>
        <p:nvSpPr>
          <p:cNvPr id="3" name="Text 1"/>
          <p:cNvSpPr txBox="1"/>
          <p:nvPr/>
        </p:nvSpPr>
        <p:spPr>
          <a:xfrm>
            <a:off x="548640" y="640080"/>
            <a:ext cx="11064240" cy="640080"/>
          </a:xfrm>
          <a:prstGeom prst="rect">
            <a:avLst/>
          </a:prstGeom>
          <a:noFill/>
          <a:ln/>
        </p:spPr>
        <p:txBody>
          <a:bodyPr wrap="square" lIns="0" tIns="0" rIns="0" bIns="0" rtlCol="0" anchor="t">
            <a:normAutofit/>
          </a:bodyPr>
          <a:lstStyle/>
          <a:p>
            <a:pPr indent="0" marL="0">
              <a:buNone/>
            </a:pPr>
            <a:r>
              <a:rPr lang="en-US" sz="3200" b="1" dirty="0">
                <a:solidFill>
                  <a:srgbClr val="1F2328"/>
                </a:solidFill>
                <a:latin typeface="Calibri" pitchFamily="34" charset="0"/>
                <a:ea typeface="Calibri" pitchFamily="34" charset="-122"/>
                <a:cs typeface="Calibri" pitchFamily="34" charset="-120"/>
              </a:rPr>
              <a:t>Run Main: one call, four different answers</a:t>
            </a:r>
            <a:endParaRPr lang="en-US" sz="3200" dirty="0"/>
          </a:p>
        </p:txBody>
      </p:sp>
      <p:sp>
        <p:nvSpPr>
          <p:cNvPr id="4" name="Text 2"/>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1050" dirty="0">
                <a:solidFill>
                  <a:srgbClr val="5B6470"/>
                </a:solidFill>
                <a:latin typeface="Calibri" pitchFamily="34" charset="0"/>
                <a:ea typeface="Calibri" pitchFamily="34" charset="-122"/>
                <a:cs typeface="Calibri" pitchFamily="34" charset="-120"/>
              </a:rPr>
              <a:t>CSCI 2430 Programming Languages  ·  Week 5  ·  Lab</a:t>
            </a:r>
            <a:endParaRPr lang="en-US" sz="1050" dirty="0"/>
          </a:p>
        </p:txBody>
      </p:sp>
      <p:sp>
        <p:nvSpPr>
          <p:cNvPr id="5" name="Text 3"/>
          <p:cNvSpPr txBox="1"/>
          <p:nvPr/>
        </p:nvSpPr>
        <p:spPr>
          <a:xfrm>
            <a:off x="9677095" y="6400800"/>
            <a:ext cx="548640" cy="274320"/>
          </a:xfrm>
          <a:prstGeom prst="rect">
            <a:avLst/>
          </a:prstGeom>
          <a:noFill/>
          <a:ln/>
        </p:spPr>
        <p:txBody>
          <a:bodyPr wrap="square" lIns="0" tIns="0" rIns="0" bIns="0" rtlCol="0" anchor="ctr"/>
          <a:lstStyle/>
          <a:p>
            <a:pPr algn="r" indent="0" marL="0">
              <a:buNone/>
            </a:pPr>
            <a:r>
              <a:rPr lang="en-US" sz="1050" dirty="0">
                <a:solidFill>
                  <a:srgbClr val="5B6470"/>
                </a:solidFill>
                <a:latin typeface="Calibri" pitchFamily="34" charset="0"/>
                <a:ea typeface="Calibri" pitchFamily="34" charset="-122"/>
                <a:cs typeface="Calibri" pitchFamily="34" charset="-120"/>
              </a:rPr>
              <a:t>11</a:t>
            </a:r>
            <a:endParaRPr lang="en-US" sz="1050" dirty="0"/>
          </a:p>
        </p:txBody>
      </p:sp>
      <p:pic>
        <p:nvPicPr>
          <p:cNvPr id="6" name="Image 0" descr="/home/claude/decks/assets/logo-red-transparent-small.png">    </p:cNvPr>
          <p:cNvPicPr>
            <a:picLocks noChangeAspect="1"/>
          </p:cNvPicPr>
          <p:nvPr/>
        </p:nvPicPr>
        <p:blipFill>
          <a:blip r:embed="rId1"/>
          <a:stretch>
            <a:fillRect/>
          </a:stretch>
        </p:blipFill>
        <p:spPr>
          <a:xfrm>
            <a:off x="10518343" y="6291172"/>
            <a:ext cx="1124712" cy="411380"/>
          </a:xfrm>
          <a:prstGeom prst="rect">
            <a:avLst/>
          </a:prstGeom>
        </p:spPr>
      </p:pic>
      <p:sp>
        <p:nvSpPr>
          <p:cNvPr id="7" name="Shape 4"/>
          <p:cNvSpPr/>
          <p:nvPr/>
        </p:nvSpPr>
        <p:spPr>
          <a:xfrm>
            <a:off x="548640" y="1508760"/>
            <a:ext cx="11094415" cy="2318004"/>
          </a:xfrm>
          <a:prstGeom prst="roundRect">
            <a:avLst>
              <a:gd name="adj" fmla="val 3945"/>
            </a:avLst>
          </a:prstGeom>
          <a:solidFill>
            <a:srgbClr val="1B2029"/>
          </a:solidFill>
          <a:ln w="12700">
            <a:solidFill>
              <a:srgbClr val="1B2029"/>
            </a:solidFill>
            <a:prstDash val="solid"/>
          </a:ln>
        </p:spPr>
      </p:sp>
      <p:sp>
        <p:nvSpPr>
          <p:cNvPr id="8" name="Text 5"/>
          <p:cNvSpPr txBox="1"/>
          <p:nvPr/>
        </p:nvSpPr>
        <p:spPr>
          <a:xfrm>
            <a:off x="804672" y="1618488"/>
            <a:ext cx="10582351" cy="256032"/>
          </a:xfrm>
          <a:prstGeom prst="rect">
            <a:avLst/>
          </a:prstGeom>
          <a:noFill/>
          <a:ln/>
        </p:spPr>
        <p:txBody>
          <a:bodyPr wrap="square" lIns="0" tIns="0" rIns="0" bIns="0" rtlCol="0" anchor="ctr"/>
          <a:lstStyle/>
          <a:p>
            <a:pPr indent="0" marL="0">
              <a:buNone/>
            </a:pPr>
            <a:r>
              <a:rPr lang="en-US" sz="1100" b="1" spc="100" kern="0" dirty="0">
                <a:solidFill>
                  <a:srgbClr val="8B97A6"/>
                </a:solidFill>
                <a:latin typeface="Calibri" pitchFamily="34" charset="0"/>
                <a:ea typeface="Calibri" pitchFamily="34" charset="-122"/>
                <a:cs typeface="Calibri" pitchFamily="34" charset="-120"/>
              </a:rPr>
              <a:t>EXPECTED OUTPUT OF Main</a:t>
            </a:r>
            <a:endParaRPr lang="en-US" sz="1100" dirty="0"/>
          </a:p>
        </p:txBody>
      </p:sp>
      <p:sp>
        <p:nvSpPr>
          <p:cNvPr id="9" name="Text 6"/>
          <p:cNvSpPr txBox="1"/>
          <p:nvPr/>
        </p:nvSpPr>
        <p:spPr>
          <a:xfrm>
            <a:off x="804672" y="1965960"/>
            <a:ext cx="10582351" cy="1677924"/>
          </a:xfrm>
          <a:prstGeom prst="rect">
            <a:avLst/>
          </a:prstGeom>
          <a:noFill/>
          <a:ln/>
        </p:spPr>
        <p:txBody>
          <a:bodyPr wrap="none" lIns="0" tIns="0" rIns="0" bIns="0" rtlCol="0" anchor="t"/>
          <a:lstStyle/>
          <a:p>
            <a:pPr indent="0" marL="0">
              <a:lnSpc>
                <a:spcPct val="105000"/>
              </a:lnSpc>
              <a:buNone/>
            </a:pPr>
            <a:r>
              <a:rPr lang="en-US" sz="1700" dirty="0">
                <a:solidFill>
                  <a:srgbClr val="E6EDF3"/>
                </a:solidFill>
                <a:latin typeface="Consolas" pitchFamily="34" charset="0"/>
                <a:ea typeface="Consolas" pitchFamily="34" charset="-122"/>
                <a:cs typeface="Consolas" pitchFamily="34" charset="-120"/>
              </a:rPr>
              <a:t>#1 Dune by Frank Herbert (1965), Science fiction [audio, 1260 min]</a:t>
            </a:r>
            <a:endParaRPr lang="en-US" sz="1700" dirty="0"/>
          </a:p>
          <a:p>
            <a:pPr indent="0" marL="0">
              <a:lnSpc>
                <a:spcPct val="105000"/>
              </a:lnSpc>
              <a:buNone/>
            </a:pPr>
            <a:r>
              <a:rPr lang="en-US" sz="1700" dirty="0">
                <a:solidFill>
                  <a:srgbClr val="E6EDF3"/>
                </a:solidFill>
                <a:latin typeface="Consolas" pitchFamily="34" charset="0"/>
                <a:ea typeface="Consolas" pitchFamily="34" charset="-122"/>
                <a:cs typeface="Consolas" pitchFamily="34" charset="-120"/>
              </a:rPr>
              <a:t>#2 Emma by Jane Austen (1815), Classic [printed, 474 pages]</a:t>
            </a:r>
            <a:endParaRPr lang="en-US" sz="1700" dirty="0"/>
          </a:p>
          <a:p>
            <a:pPr indent="0" marL="0">
              <a:lnSpc>
                <a:spcPct val="105000"/>
              </a:lnSpc>
              <a:buNone/>
            </a:pPr>
            <a:r>
              <a:rPr lang="en-US" sz="1700" dirty="0">
                <a:solidFill>
                  <a:srgbClr val="E6EDF3"/>
                </a:solidFill>
                <a:latin typeface="Consolas" pitchFamily="34" charset="0"/>
                <a:ea typeface="Consolas" pitchFamily="34" charset="-122"/>
                <a:cs typeface="Consolas" pitchFamily="34" charset="-120"/>
              </a:rPr>
              <a:t>#3 Neuromancer by William Gibson (1984), Science fiction [ebook, 1.4 MB]</a:t>
            </a:r>
            <a:endParaRPr lang="en-US" sz="1700" dirty="0"/>
          </a:p>
          <a:p>
            <a:pPr indent="0" marL="0">
              <a:lnSpc>
                <a:spcPct val="105000"/>
              </a:lnSpc>
              <a:buNone/>
            </a:pPr>
            <a:r>
              <a:rPr lang="en-US" sz="1700" dirty="0">
                <a:solidFill>
                  <a:srgbClr val="E6EDF3"/>
                </a:solidFill>
                <a:latin typeface="Consolas" pitchFamily="34" charset="0"/>
                <a:ea typeface="Consolas" pitchFamily="34" charset="-122"/>
                <a:cs typeface="Consolas" pitchFamily="34" charset="-120"/>
              </a:rPr>
              <a:t>#4 Persuasion by Jane Austen (1817), Classic [audio, 510 min]</a:t>
            </a:r>
            <a:endParaRPr lang="en-US" sz="1700" dirty="0"/>
          </a:p>
          <a:p>
            <a:pPr indent="0" marL="0">
              <a:lnSpc>
                <a:spcPct val="105000"/>
              </a:lnSpc>
              <a:buNone/>
            </a:pPr>
            <a:r>
              <a:rPr lang="en-US" sz="1700" dirty="0">
                <a:solidFill>
                  <a:srgbClr val="E6EDF3"/>
                </a:solidFill>
                <a:latin typeface="Consolas" pitchFamily="34" charset="0"/>
                <a:ea typeface="Consolas" pitchFamily="34" charset="-122"/>
                <a:cs typeface="Consolas" pitchFamily="34" charset="-120"/>
              </a:rPr>
              <a:t>Formats: {audio=2, ebook=1, printed=1}</a:t>
            </a:r>
            <a:endParaRPr lang="en-US" sz="1700" dirty="0"/>
          </a:p>
          <a:p>
            <a:pPr indent="0" marL="0">
              <a:lnSpc>
                <a:spcPct val="105000"/>
              </a:lnSpc>
              <a:buNone/>
            </a:pPr>
            <a:r>
              <a:rPr lang="en-US" sz="1700" dirty="0">
                <a:solidFill>
                  <a:srgbClr val="E6EDF3"/>
                </a:solidFill>
                <a:latin typeface="Consolas" pitchFamily="34" charset="0"/>
                <a:ea typeface="Consolas" pitchFamily="34" charset="-122"/>
                <a:cs typeface="Consolas" pitchFamily="34" charset="-120"/>
              </a:rPr>
              <a:t>Listening time: 1770 min</a:t>
            </a:r>
            <a:endParaRPr lang="en-US" sz="1700" dirty="0"/>
          </a:p>
        </p:txBody>
      </p:sp>
      <p:sp>
        <p:nvSpPr>
          <p:cNvPr id="10" name="Shape 7"/>
          <p:cNvSpPr/>
          <p:nvPr/>
        </p:nvSpPr>
        <p:spPr>
          <a:xfrm>
            <a:off x="548640" y="4009644"/>
            <a:ext cx="5455768" cy="1184910"/>
          </a:xfrm>
          <a:prstGeom prst="roundRect">
            <a:avLst>
              <a:gd name="adj" fmla="val 6174"/>
            </a:avLst>
          </a:prstGeom>
          <a:solidFill>
            <a:srgbClr val="F3F4F6"/>
          </a:solidFill>
          <a:ln w="12700">
            <a:solidFill>
              <a:srgbClr val="F3F4F6"/>
            </a:solidFill>
            <a:prstDash val="solid"/>
          </a:ln>
        </p:spPr>
      </p:sp>
      <p:sp>
        <p:nvSpPr>
          <p:cNvPr id="11" name="Text 8"/>
          <p:cNvSpPr txBox="1"/>
          <p:nvPr/>
        </p:nvSpPr>
        <p:spPr>
          <a:xfrm>
            <a:off x="777240" y="4128516"/>
            <a:ext cx="4998568" cy="1002030"/>
          </a:xfrm>
          <a:prstGeom prst="rect">
            <a:avLst/>
          </a:prstGeom>
          <a:noFill/>
          <a:ln/>
        </p:spPr>
        <p:txBody>
          <a:bodyPr wrap="square" lIns="0" tIns="0" rIns="0" bIns="0" rtlCol="0" anchor="t"/>
          <a:lstStyle/>
          <a:p>
            <a:pPr indent="0" marL="0">
              <a:buNone/>
            </a:pPr>
            <a:r>
              <a:rPr lang="en-US" sz="1800" b="1" dirty="0">
                <a:solidFill>
                  <a:srgbClr val="9C2630"/>
                </a:solidFill>
                <a:latin typeface="Calibri" pitchFamily="34" charset="0"/>
                <a:ea typeface="Calibri" pitchFamily="34" charset="-122"/>
                <a:cs typeface="Calibri" pitchFamily="34" charset="-120"/>
              </a:rPr>
              <a:t>System.out.println(book)</a:t>
            </a:r>
            <a:endParaRPr lang="en-US" sz="1800" dirty="0"/>
          </a:p>
          <a:p>
            <a:pPr indent="0" marL="0">
              <a:buNone/>
            </a:pPr>
            <a:r>
              <a:rPr lang="en-US" sz="1600" dirty="0">
                <a:solidFill>
                  <a:srgbClr val="1F2328"/>
                </a:solidFill>
                <a:latin typeface="Calibri" pitchFamily="34" charset="0"/>
                <a:ea typeface="Calibri" pitchFamily="34" charset="-122"/>
                <a:cs typeface="Calibri" pitchFamily="34" charset="-120"/>
              </a:rPr>
              <a:t>The variable has the type Book. The object decides which format() and sizeInfo() run.</a:t>
            </a:r>
            <a:endParaRPr lang="en-US" sz="1800" dirty="0"/>
          </a:p>
        </p:txBody>
      </p:sp>
      <p:sp>
        <p:nvSpPr>
          <p:cNvPr id="12" name="Shape 9"/>
          <p:cNvSpPr/>
          <p:nvPr/>
        </p:nvSpPr>
        <p:spPr>
          <a:xfrm>
            <a:off x="6187288" y="4009644"/>
            <a:ext cx="5455768" cy="1184910"/>
          </a:xfrm>
          <a:prstGeom prst="roundRect">
            <a:avLst>
              <a:gd name="adj" fmla="val 6174"/>
            </a:avLst>
          </a:prstGeom>
          <a:solidFill>
            <a:srgbClr val="F3F4F6"/>
          </a:solidFill>
          <a:ln w="12700">
            <a:solidFill>
              <a:srgbClr val="F3F4F6"/>
            </a:solidFill>
            <a:prstDash val="solid"/>
          </a:ln>
        </p:spPr>
      </p:sp>
      <p:sp>
        <p:nvSpPr>
          <p:cNvPr id="13" name="Text 10"/>
          <p:cNvSpPr txBox="1"/>
          <p:nvPr/>
        </p:nvSpPr>
        <p:spPr>
          <a:xfrm>
            <a:off x="6415888" y="4128516"/>
            <a:ext cx="4998568" cy="1002030"/>
          </a:xfrm>
          <a:prstGeom prst="rect">
            <a:avLst/>
          </a:prstGeom>
          <a:noFill/>
          <a:ln/>
        </p:spPr>
        <p:txBody>
          <a:bodyPr wrap="square" lIns="0" tIns="0" rIns="0" bIns="0" rtlCol="0" anchor="t"/>
          <a:lstStyle/>
          <a:p>
            <a:pPr indent="0" marL="0">
              <a:buNone/>
            </a:pPr>
            <a:r>
              <a:rPr lang="en-US" sz="1800" b="1" dirty="0">
                <a:solidFill>
                  <a:srgbClr val="9C2630"/>
                </a:solidFill>
                <a:latin typeface="Calibri" pitchFamily="34" charset="0"/>
                <a:ea typeface="Calibri" pitchFamily="34" charset="-122"/>
                <a:cs typeface="Calibri" pitchFamily="34" charset="-120"/>
              </a:rPr>
              <a:t>The name for this</a:t>
            </a:r>
            <a:endParaRPr lang="en-US" sz="1800" dirty="0"/>
          </a:p>
          <a:p>
            <a:pPr indent="0" marL="0">
              <a:buNone/>
            </a:pPr>
            <a:r>
              <a:rPr lang="en-US" sz="1600" dirty="0">
                <a:solidFill>
                  <a:srgbClr val="1F2328"/>
                </a:solidFill>
                <a:latin typeface="Calibri" pitchFamily="34" charset="0"/>
                <a:ea typeface="Calibri" pitchFamily="34" charset="-122"/>
                <a:cs typeface="Calibri" pitchFamily="34" charset="-120"/>
              </a:rPr>
              <a:t>Polymorphism. It is the main topic of week 8, after the midterm.</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56032"/>
          </a:xfrm>
          <a:prstGeom prst="rect">
            <a:avLst/>
          </a:prstGeom>
          <a:noFill/>
          <a:ln/>
        </p:spPr>
        <p:txBody>
          <a:bodyPr wrap="square" lIns="0" tIns="0" rIns="0" bIns="0" rtlCol="0" anchor="ctr"/>
          <a:lstStyle/>
          <a:p>
            <a:pPr indent="0" marL="0">
              <a:buNone/>
            </a:pPr>
            <a:r>
              <a:rPr lang="en-US" sz="1200" b="1" spc="200" kern="0" dirty="0">
                <a:solidFill>
                  <a:srgbClr val="C6333B"/>
                </a:solidFill>
                <a:latin typeface="Calibri" pitchFamily="34" charset="0"/>
                <a:ea typeface="Calibri" pitchFamily="34" charset="-122"/>
                <a:cs typeface="Calibri" pitchFamily="34" charset="-120"/>
              </a:rPr>
              <a:t>STRETCH TASK</a:t>
            </a:r>
            <a:endParaRPr lang="en-US" sz="1200" dirty="0"/>
          </a:p>
        </p:txBody>
      </p:sp>
      <p:sp>
        <p:nvSpPr>
          <p:cNvPr id="3" name="Text 1"/>
          <p:cNvSpPr txBox="1"/>
          <p:nvPr/>
        </p:nvSpPr>
        <p:spPr>
          <a:xfrm>
            <a:off x="548640" y="640080"/>
            <a:ext cx="11064240" cy="640080"/>
          </a:xfrm>
          <a:prstGeom prst="rect">
            <a:avLst/>
          </a:prstGeom>
          <a:noFill/>
          <a:ln/>
        </p:spPr>
        <p:txBody>
          <a:bodyPr wrap="square" lIns="0" tIns="0" rIns="0" bIns="0" rtlCol="0" anchor="t">
            <a:normAutofit/>
          </a:bodyPr>
          <a:lstStyle/>
          <a:p>
            <a:pPr indent="0" marL="0">
              <a:buNone/>
            </a:pPr>
            <a:r>
              <a:rPr lang="en-US" sz="3200" b="1" dirty="0">
                <a:solidFill>
                  <a:srgbClr val="1F2328"/>
                </a:solidFill>
                <a:latin typeface="Calibri" pitchFamily="34" charset="0"/>
                <a:ea typeface="Calibri" pitchFamily="34" charset="-122"/>
                <a:cs typeface="Calibri" pitchFamily="34" charset="-120"/>
              </a:rPr>
              <a:t>Comic extends PrintedBook</a:t>
            </a:r>
            <a:endParaRPr lang="en-US" sz="3200" dirty="0"/>
          </a:p>
        </p:txBody>
      </p:sp>
      <p:sp>
        <p:nvSpPr>
          <p:cNvPr id="4" name="Text 2"/>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1050" dirty="0">
                <a:solidFill>
                  <a:srgbClr val="5B6470"/>
                </a:solidFill>
                <a:latin typeface="Calibri" pitchFamily="34" charset="0"/>
                <a:ea typeface="Calibri" pitchFamily="34" charset="-122"/>
                <a:cs typeface="Calibri" pitchFamily="34" charset="-120"/>
              </a:rPr>
              <a:t>CSCI 2430 Programming Languages  ·  Week 5  ·  Lab</a:t>
            </a:r>
            <a:endParaRPr lang="en-US" sz="1050" dirty="0"/>
          </a:p>
        </p:txBody>
      </p:sp>
      <p:sp>
        <p:nvSpPr>
          <p:cNvPr id="5" name="Text 3"/>
          <p:cNvSpPr txBox="1"/>
          <p:nvPr/>
        </p:nvSpPr>
        <p:spPr>
          <a:xfrm>
            <a:off x="9677095" y="6400800"/>
            <a:ext cx="548640" cy="274320"/>
          </a:xfrm>
          <a:prstGeom prst="rect">
            <a:avLst/>
          </a:prstGeom>
          <a:noFill/>
          <a:ln/>
        </p:spPr>
        <p:txBody>
          <a:bodyPr wrap="square" lIns="0" tIns="0" rIns="0" bIns="0" rtlCol="0" anchor="ctr"/>
          <a:lstStyle/>
          <a:p>
            <a:pPr algn="r" indent="0" marL="0">
              <a:buNone/>
            </a:pPr>
            <a:r>
              <a:rPr lang="en-US" sz="1050" dirty="0">
                <a:solidFill>
                  <a:srgbClr val="5B6470"/>
                </a:solidFill>
                <a:latin typeface="Calibri" pitchFamily="34" charset="0"/>
                <a:ea typeface="Calibri" pitchFamily="34" charset="-122"/>
                <a:cs typeface="Calibri" pitchFamily="34" charset="-120"/>
              </a:rPr>
              <a:t>12</a:t>
            </a:r>
            <a:endParaRPr lang="en-US" sz="1050" dirty="0"/>
          </a:p>
        </p:txBody>
      </p:sp>
      <p:pic>
        <p:nvPicPr>
          <p:cNvPr id="6" name="Image 0" descr="/home/claude/decks/assets/logo-red-transparent-small.png">    </p:cNvPr>
          <p:cNvPicPr>
            <a:picLocks noChangeAspect="1"/>
          </p:cNvPicPr>
          <p:nvPr/>
        </p:nvPicPr>
        <p:blipFill>
          <a:blip r:embed="rId1"/>
          <a:stretch>
            <a:fillRect/>
          </a:stretch>
        </p:blipFill>
        <p:spPr>
          <a:xfrm>
            <a:off x="10518343" y="6291172"/>
            <a:ext cx="1124712" cy="411380"/>
          </a:xfrm>
          <a:prstGeom prst="rect">
            <a:avLst/>
          </a:prstGeom>
        </p:spPr>
      </p:pic>
      <p:sp>
        <p:nvSpPr>
          <p:cNvPr id="7" name="Shape 4"/>
          <p:cNvSpPr/>
          <p:nvPr/>
        </p:nvSpPr>
        <p:spPr>
          <a:xfrm>
            <a:off x="548640" y="1572768"/>
            <a:ext cx="457200" cy="457200"/>
          </a:xfrm>
          <a:prstGeom prst="ellipse">
            <a:avLst/>
          </a:prstGeom>
          <a:solidFill>
            <a:srgbClr val="262B33"/>
          </a:solidFill>
          <a:ln w="12700">
            <a:solidFill>
              <a:srgbClr val="262B33"/>
            </a:solidFill>
            <a:prstDash val="solid"/>
          </a:ln>
        </p:spPr>
      </p:sp>
      <p:sp>
        <p:nvSpPr>
          <p:cNvPr id="8" name="Text 5"/>
          <p:cNvSpPr txBox="1"/>
          <p:nvPr/>
        </p:nvSpPr>
        <p:spPr>
          <a:xfrm>
            <a:off x="548640" y="157276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6"/>
          <p:cNvSpPr txBox="1"/>
          <p:nvPr/>
        </p:nvSpPr>
        <p:spPr>
          <a:xfrm>
            <a:off x="1234440" y="1554480"/>
            <a:ext cx="5989320" cy="924687"/>
          </a:xfrm>
          <a:prstGeom prst="rect">
            <a:avLst/>
          </a:prstGeom>
          <a:noFill/>
          <a:ln/>
        </p:spPr>
        <p:txBody>
          <a:bodyPr wrap="square" lIns="0" tIns="0" rIns="0" bIns="0" rtlCol="0" anchor="t"/>
          <a:lstStyle/>
          <a:p>
            <a:pPr indent="0" marL="0">
              <a:buNone/>
            </a:pPr>
            <a:r>
              <a:rPr lang="en-US" sz="2100" b="1" dirty="0">
                <a:solidFill>
                  <a:srgbClr val="1F2328"/>
                </a:solidFill>
                <a:latin typeface="Calibri" pitchFamily="34" charset="0"/>
                <a:ea typeface="Calibri" pitchFamily="34" charset="-122"/>
                <a:cs typeface="Calibri" pitchFamily="34" charset="-120"/>
              </a:rPr>
              <a:t>A third level</a:t>
            </a:r>
            <a:endParaRPr lang="en-US" sz="2100" dirty="0"/>
          </a:p>
          <a:p>
            <a:pPr indent="0" marL="0">
              <a:buNone/>
            </a:pPr>
            <a:r>
              <a:rPr lang="en-US" sz="1700" dirty="0">
                <a:solidFill>
                  <a:srgbClr val="5B6470"/>
                </a:solidFill>
                <a:latin typeface="Calibri" pitchFamily="34" charset="0"/>
                <a:ea typeface="Calibri" pitchFamily="34" charset="-122"/>
                <a:cs typeface="Calibri" pitchFamily="34" charset="-120"/>
              </a:rPr>
              <a:t>A Comic is a PrintedBook whose genre is always "Comic". It adds a boolean colour.</a:t>
            </a:r>
            <a:endParaRPr lang="en-US" sz="2100" dirty="0"/>
          </a:p>
        </p:txBody>
      </p:sp>
      <p:sp>
        <p:nvSpPr>
          <p:cNvPr id="10" name="Shape 7"/>
          <p:cNvSpPr/>
          <p:nvPr/>
        </p:nvSpPr>
        <p:spPr>
          <a:xfrm>
            <a:off x="548640" y="2704338"/>
            <a:ext cx="457200" cy="457200"/>
          </a:xfrm>
          <a:prstGeom prst="ellipse">
            <a:avLst/>
          </a:prstGeom>
          <a:solidFill>
            <a:srgbClr val="262B33"/>
          </a:solidFill>
          <a:ln w="12700">
            <a:solidFill>
              <a:srgbClr val="262B33"/>
            </a:solidFill>
            <a:prstDash val="solid"/>
          </a:ln>
        </p:spPr>
      </p:sp>
      <p:sp>
        <p:nvSpPr>
          <p:cNvPr id="11" name="Text 8"/>
          <p:cNvSpPr txBox="1"/>
          <p:nvPr/>
        </p:nvSpPr>
        <p:spPr>
          <a:xfrm>
            <a:off x="548640" y="270433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9"/>
          <p:cNvSpPr txBox="1"/>
          <p:nvPr/>
        </p:nvSpPr>
        <p:spPr>
          <a:xfrm>
            <a:off x="1234440" y="2686050"/>
            <a:ext cx="5989320" cy="924687"/>
          </a:xfrm>
          <a:prstGeom prst="rect">
            <a:avLst/>
          </a:prstGeom>
          <a:noFill/>
          <a:ln/>
        </p:spPr>
        <p:txBody>
          <a:bodyPr wrap="square" lIns="0" tIns="0" rIns="0" bIns="0" rtlCol="0" anchor="t"/>
          <a:lstStyle/>
          <a:p>
            <a:pPr indent="0" marL="0">
              <a:buNone/>
            </a:pPr>
            <a:r>
              <a:rPr lang="en-US" sz="2100" b="1" dirty="0">
                <a:solidFill>
                  <a:srgbClr val="1F2328"/>
                </a:solidFill>
                <a:latin typeface="Calibri" pitchFamily="34" charset="0"/>
                <a:ea typeface="Calibri" pitchFamily="34" charset="-122"/>
                <a:cs typeface="Calibri" pitchFamily="34" charset="-120"/>
              </a:rPr>
              <a:t>Constructor</a:t>
            </a:r>
            <a:endParaRPr lang="en-US" sz="2100" dirty="0"/>
          </a:p>
          <a:p>
            <a:pPr indent="0" marL="0">
              <a:buNone/>
            </a:pPr>
            <a:r>
              <a:rPr lang="en-US" sz="1700" dirty="0">
                <a:solidFill>
                  <a:srgbClr val="5B6470"/>
                </a:solidFill>
                <a:latin typeface="Calibri" pitchFamily="34" charset="0"/>
                <a:ea typeface="Calibri" pitchFamily="34" charset="-122"/>
                <a:cs typeface="Calibri" pitchFamily="34" charset="-120"/>
              </a:rPr>
              <a:t>Comic(title, author, year, pages, colour). It passes "Comic" as the genre to super(...).</a:t>
            </a:r>
            <a:endParaRPr lang="en-US" sz="2100" dirty="0"/>
          </a:p>
        </p:txBody>
      </p:sp>
      <p:sp>
        <p:nvSpPr>
          <p:cNvPr id="13" name="Shape 10"/>
          <p:cNvSpPr/>
          <p:nvPr/>
        </p:nvSpPr>
        <p:spPr>
          <a:xfrm>
            <a:off x="548640" y="3835908"/>
            <a:ext cx="457200" cy="457200"/>
          </a:xfrm>
          <a:prstGeom prst="ellipse">
            <a:avLst/>
          </a:prstGeom>
          <a:solidFill>
            <a:srgbClr val="262B33"/>
          </a:solidFill>
          <a:ln w="12700">
            <a:solidFill>
              <a:srgbClr val="262B33"/>
            </a:solidFill>
            <a:prstDash val="solid"/>
          </a:ln>
        </p:spPr>
      </p:sp>
      <p:sp>
        <p:nvSpPr>
          <p:cNvPr id="14" name="Text 11"/>
          <p:cNvSpPr txBox="1"/>
          <p:nvPr/>
        </p:nvSpPr>
        <p:spPr>
          <a:xfrm>
            <a:off x="548640" y="383590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5" name="Text 12"/>
          <p:cNvSpPr txBox="1"/>
          <p:nvPr/>
        </p:nvSpPr>
        <p:spPr>
          <a:xfrm>
            <a:off x="1234440" y="3817620"/>
            <a:ext cx="5989320" cy="924687"/>
          </a:xfrm>
          <a:prstGeom prst="rect">
            <a:avLst/>
          </a:prstGeom>
          <a:noFill/>
          <a:ln/>
        </p:spPr>
        <p:txBody>
          <a:bodyPr wrap="square" lIns="0" tIns="0" rIns="0" bIns="0" rtlCol="0" anchor="t"/>
          <a:lstStyle/>
          <a:p>
            <a:pPr indent="0" marL="0">
              <a:buNone/>
            </a:pPr>
            <a:r>
              <a:rPr lang="en-US" sz="2100" b="1" dirty="0">
                <a:solidFill>
                  <a:srgbClr val="1F2328"/>
                </a:solidFill>
                <a:latin typeface="Calibri" pitchFamily="34" charset="0"/>
                <a:ea typeface="Calibri" pitchFamily="34" charset="-122"/>
                <a:cs typeface="Calibri" pitchFamily="34" charset="-120"/>
              </a:rPr>
              <a:t>Overrides</a:t>
            </a:r>
            <a:endParaRPr lang="en-US" sz="2100" dirty="0"/>
          </a:p>
          <a:p>
            <a:pPr indent="0" marL="0">
              <a:buNone/>
            </a:pPr>
            <a:r>
              <a:rPr lang="en-US" sz="1700" dirty="0">
                <a:solidFill>
                  <a:srgbClr val="5B6470"/>
                </a:solidFill>
                <a:latin typeface="Calibri" pitchFamily="34" charset="0"/>
                <a:ea typeface="Calibri" pitchFamily="34" charset="-122"/>
                <a:cs typeface="Calibri" pitchFamily="34" charset="-120"/>
              </a:rPr>
              <a:t>format() returns "comic". sizeInfo() reuses super.sizeInfo() and adds ", colour" or ", black and white".</a:t>
            </a:r>
            <a:endParaRPr lang="en-US" sz="2100" dirty="0"/>
          </a:p>
        </p:txBody>
      </p:sp>
      <p:sp>
        <p:nvSpPr>
          <p:cNvPr id="16" name="Shape 13"/>
          <p:cNvSpPr/>
          <p:nvPr/>
        </p:nvSpPr>
        <p:spPr>
          <a:xfrm>
            <a:off x="548640" y="4967478"/>
            <a:ext cx="457200" cy="457200"/>
          </a:xfrm>
          <a:prstGeom prst="ellipse">
            <a:avLst/>
          </a:prstGeom>
          <a:solidFill>
            <a:srgbClr val="262B33"/>
          </a:solidFill>
          <a:ln w="12700">
            <a:solidFill>
              <a:srgbClr val="262B33"/>
            </a:solidFill>
            <a:prstDash val="solid"/>
          </a:ln>
        </p:spPr>
      </p:sp>
      <p:sp>
        <p:nvSpPr>
          <p:cNvPr id="17" name="Text 14"/>
          <p:cNvSpPr txBox="1"/>
          <p:nvPr/>
        </p:nvSpPr>
        <p:spPr>
          <a:xfrm>
            <a:off x="548640" y="496747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8" name="Text 15"/>
          <p:cNvSpPr txBox="1"/>
          <p:nvPr/>
        </p:nvSpPr>
        <p:spPr>
          <a:xfrm>
            <a:off x="1234440" y="4949190"/>
            <a:ext cx="5989320" cy="924687"/>
          </a:xfrm>
          <a:prstGeom prst="rect">
            <a:avLst/>
          </a:prstGeom>
          <a:noFill/>
          <a:ln/>
        </p:spPr>
        <p:txBody>
          <a:bodyPr wrap="square" lIns="0" tIns="0" rIns="0" bIns="0" rtlCol="0" anchor="t"/>
          <a:lstStyle/>
          <a:p>
            <a:pPr indent="0" marL="0">
              <a:buNone/>
            </a:pPr>
            <a:r>
              <a:rPr lang="en-US" sz="2100" b="1" dirty="0">
                <a:solidFill>
                  <a:srgbClr val="1F2328"/>
                </a:solidFill>
                <a:latin typeface="Calibri" pitchFamily="34" charset="0"/>
                <a:ea typeface="Calibri" pitchFamily="34" charset="-122"/>
                <a:cs typeface="Calibri" pitchFamily="34" charset="-120"/>
              </a:rPr>
              <a:t>Test</a:t>
            </a:r>
            <a:endParaRPr lang="en-US" sz="2100" dirty="0"/>
          </a:p>
          <a:p>
            <a:pPr indent="0" marL="0">
              <a:buNone/>
            </a:pPr>
            <a:r>
              <a:rPr lang="en-US" sz="1700" dirty="0">
                <a:solidFill>
                  <a:srgbClr val="5B6470"/>
                </a:solidFill>
                <a:latin typeface="Calibri" pitchFamily="34" charset="0"/>
                <a:ea typeface="Calibri" pitchFamily="34" charset="-122"/>
                <a:cs typeface="Calibri" pitchFamily="34" charset="-120"/>
              </a:rPr>
              <a:t>Open StretchTest and remove the two marked comment lines to switch the test on.</a:t>
            </a:r>
            <a:endParaRPr lang="en-US" sz="2100" dirty="0"/>
          </a:p>
        </p:txBody>
      </p:sp>
      <p:sp>
        <p:nvSpPr>
          <p:cNvPr id="19" name="Shape 16"/>
          <p:cNvSpPr/>
          <p:nvPr/>
        </p:nvSpPr>
        <p:spPr>
          <a:xfrm>
            <a:off x="7680960" y="1508760"/>
            <a:ext cx="3962095" cy="4480560"/>
          </a:xfrm>
          <a:prstGeom prst="roundRect">
            <a:avLst>
              <a:gd name="adj" fmla="val 2769"/>
            </a:avLst>
          </a:prstGeom>
          <a:solidFill>
            <a:srgbClr val="FBECED"/>
          </a:solidFill>
          <a:ln w="12700">
            <a:solidFill>
              <a:srgbClr val="FBECED"/>
            </a:solidFill>
            <a:prstDash val="solid"/>
          </a:ln>
        </p:spPr>
      </p:sp>
      <p:sp>
        <p:nvSpPr>
          <p:cNvPr id="20" name="Shape 17"/>
          <p:cNvSpPr/>
          <p:nvPr/>
        </p:nvSpPr>
        <p:spPr>
          <a:xfrm>
            <a:off x="7955280" y="1783080"/>
            <a:ext cx="502920" cy="502920"/>
          </a:xfrm>
          <a:prstGeom prst="ellipse">
            <a:avLst/>
          </a:prstGeom>
          <a:solidFill>
            <a:srgbClr val="C6333B"/>
          </a:solidFill>
          <a:ln w="12700">
            <a:solidFill>
              <a:srgbClr val="C6333B"/>
            </a:solidFill>
            <a:prstDash val="solid"/>
          </a:ln>
        </p:spPr>
      </p:sp>
      <p:sp>
        <p:nvSpPr>
          <p:cNvPr id="21" name="Text 18"/>
          <p:cNvSpPr txBox="1"/>
          <p:nvPr/>
        </p:nvSpPr>
        <p:spPr>
          <a:xfrm>
            <a:off x="8595360" y="1783080"/>
            <a:ext cx="2773375" cy="502920"/>
          </a:xfrm>
          <a:prstGeom prst="rect">
            <a:avLst/>
          </a:prstGeom>
          <a:noFill/>
          <a:ln/>
        </p:spPr>
        <p:txBody>
          <a:bodyPr wrap="square" lIns="0" tIns="0" rIns="0" bIns="0" rtlCol="0" anchor="ctr"/>
          <a:lstStyle/>
          <a:p>
            <a:pPr indent="0" marL="0">
              <a:buNone/>
            </a:pPr>
            <a:r>
              <a:rPr lang="en-US" sz="1700" b="1" dirty="0">
                <a:solidFill>
                  <a:srgbClr val="9C2630"/>
                </a:solidFill>
                <a:latin typeface="Calibri" pitchFamily="34" charset="0"/>
                <a:ea typeface="Calibri" pitchFamily="34" charset="-122"/>
                <a:cs typeface="Calibri" pitchFamily="34" charset="-120"/>
              </a:rPr>
              <a:t>Reuse, do not copy</a:t>
            </a:r>
            <a:endParaRPr lang="en-US" sz="1700" dirty="0"/>
          </a:p>
        </p:txBody>
      </p:sp>
      <p:sp>
        <p:nvSpPr>
          <p:cNvPr id="22" name="Text 19"/>
          <p:cNvSpPr txBox="1"/>
          <p:nvPr/>
        </p:nvSpPr>
        <p:spPr>
          <a:xfrm>
            <a:off x="7955280" y="2468880"/>
            <a:ext cx="3413455" cy="3246120"/>
          </a:xfrm>
          <a:prstGeom prst="rect">
            <a:avLst/>
          </a:prstGeom>
          <a:noFill/>
          <a:ln/>
        </p:spPr>
        <p:txBody>
          <a:bodyPr wrap="square" lIns="0" tIns="0" rIns="0" bIns="0" rtlCol="0" anchor="t"/>
          <a:lstStyle/>
          <a:p>
            <a:pPr indent="0" marL="0">
              <a:spcAft>
                <a:spcPts val="900"/>
              </a:spcAft>
              <a:buNone/>
            </a:pPr>
            <a:r>
              <a:rPr lang="en-US" sz="1800" dirty="0">
                <a:solidFill>
                  <a:srgbClr val="1F2328"/>
                </a:solidFill>
                <a:latin typeface="Calibri" pitchFamily="34" charset="0"/>
                <a:ea typeface="Calibri" pitchFamily="34" charset="-122"/>
                <a:cs typeface="Calibri" pitchFamily="34" charset="-120"/>
              </a:rPr>
              <a:t>super.sizeInfo() already knows how to write "48 pages".</a:t>
            </a:r>
            <a:endParaRPr lang="en-US" sz="1800" dirty="0"/>
          </a:p>
          <a:p>
            <a:pPr indent="0" marL="0">
              <a:spcAft>
                <a:spcPts val="900"/>
              </a:spcAft>
              <a:buNone/>
            </a:pPr>
            <a:r>
              <a:rPr lang="en-US" sz="1800" dirty="0">
                <a:solidFill>
                  <a:srgbClr val="1F2328"/>
                </a:solidFill>
                <a:latin typeface="Calibri" pitchFamily="34" charset="0"/>
                <a:ea typeface="Calibri" pitchFamily="34" charset="-122"/>
                <a:cs typeface="Calibri" pitchFamily="34" charset="-120"/>
              </a:rPr>
              <a:t>Comic only adds its own part.</a:t>
            </a:r>
            <a:endParaRPr lang="en-US" sz="1800" dirty="0"/>
          </a:p>
        </p:txBody>
      </p:sp>
      <p:pic>
        <p:nvPicPr>
          <p:cNvPr id="23" name="Image 1" descr="preencoded.png">    </p:cNvPr>
          <p:cNvPicPr>
            <a:picLocks noChangeAspect="1"/>
          </p:cNvPicPr>
          <p:nvPr/>
        </p:nvPicPr>
        <p:blipFill>
          <a:blip r:embed="rId2"/>
          <a:stretch>
            <a:fillRect/>
          </a:stretch>
        </p:blipFill>
        <p:spPr>
          <a:xfrm>
            <a:off x="8075981" y="1903781"/>
            <a:ext cx="261518" cy="26151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56032"/>
          </a:xfrm>
          <a:prstGeom prst="rect">
            <a:avLst/>
          </a:prstGeom>
          <a:noFill/>
          <a:ln/>
        </p:spPr>
        <p:txBody>
          <a:bodyPr wrap="square" lIns="0" tIns="0" rIns="0" bIns="0" rtlCol="0" anchor="ctr"/>
          <a:lstStyle/>
          <a:p>
            <a:pPr indent="0" marL="0">
              <a:buNone/>
            </a:pPr>
            <a:r>
              <a:rPr lang="en-US" sz="1200" b="1" spc="200" kern="0" dirty="0">
                <a:solidFill>
                  <a:srgbClr val="C6333B"/>
                </a:solidFill>
                <a:latin typeface="Calibri" pitchFamily="34" charset="0"/>
                <a:ea typeface="Calibri" pitchFamily="34" charset="-122"/>
                <a:cs typeface="Calibri" pitchFamily="34" charset="-120"/>
              </a:rPr>
              <a:t>BEFORE YOU LEAVE</a:t>
            </a:r>
            <a:endParaRPr lang="en-US" sz="1200" dirty="0"/>
          </a:p>
        </p:txBody>
      </p:sp>
      <p:sp>
        <p:nvSpPr>
          <p:cNvPr id="3" name="Text 1"/>
          <p:cNvSpPr txBox="1"/>
          <p:nvPr/>
        </p:nvSpPr>
        <p:spPr>
          <a:xfrm>
            <a:off x="548640" y="640080"/>
            <a:ext cx="11064240" cy="640080"/>
          </a:xfrm>
          <a:prstGeom prst="rect">
            <a:avLst/>
          </a:prstGeom>
          <a:noFill/>
          <a:ln/>
        </p:spPr>
        <p:txBody>
          <a:bodyPr wrap="square" lIns="0" tIns="0" rIns="0" bIns="0" rtlCol="0" anchor="t">
            <a:normAutofit/>
          </a:bodyPr>
          <a:lstStyle/>
          <a:p>
            <a:pPr indent="0" marL="0">
              <a:buNone/>
            </a:pPr>
            <a:r>
              <a:rPr lang="en-US" sz="3200" b="1" dirty="0">
                <a:solidFill>
                  <a:srgbClr val="1F2328"/>
                </a:solidFill>
                <a:latin typeface="Calibri" pitchFamily="34" charset="0"/>
                <a:ea typeface="Calibri" pitchFamily="34" charset="-122"/>
                <a:cs typeface="Calibri" pitchFamily="34" charset="-120"/>
              </a:rPr>
              <a:t>Done for today when all of this is true</a:t>
            </a:r>
            <a:endParaRPr lang="en-US" sz="3200" dirty="0"/>
          </a:p>
        </p:txBody>
      </p:sp>
      <p:sp>
        <p:nvSpPr>
          <p:cNvPr id="4" name="Text 2"/>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1050" dirty="0">
                <a:solidFill>
                  <a:srgbClr val="5B6470"/>
                </a:solidFill>
                <a:latin typeface="Calibri" pitchFamily="34" charset="0"/>
                <a:ea typeface="Calibri" pitchFamily="34" charset="-122"/>
                <a:cs typeface="Calibri" pitchFamily="34" charset="-120"/>
              </a:rPr>
              <a:t>CSCI 2430 Programming Languages  ·  Week 5  ·  Lab</a:t>
            </a:r>
            <a:endParaRPr lang="en-US" sz="1050" dirty="0"/>
          </a:p>
        </p:txBody>
      </p:sp>
      <p:sp>
        <p:nvSpPr>
          <p:cNvPr id="5" name="Text 3"/>
          <p:cNvSpPr txBox="1"/>
          <p:nvPr/>
        </p:nvSpPr>
        <p:spPr>
          <a:xfrm>
            <a:off x="9677095" y="6400800"/>
            <a:ext cx="548640" cy="274320"/>
          </a:xfrm>
          <a:prstGeom prst="rect">
            <a:avLst/>
          </a:prstGeom>
          <a:noFill/>
          <a:ln/>
        </p:spPr>
        <p:txBody>
          <a:bodyPr wrap="square" lIns="0" tIns="0" rIns="0" bIns="0" rtlCol="0" anchor="ctr"/>
          <a:lstStyle/>
          <a:p>
            <a:pPr algn="r" indent="0" marL="0">
              <a:buNone/>
            </a:pPr>
            <a:r>
              <a:rPr lang="en-US" sz="1050" dirty="0">
                <a:solidFill>
                  <a:srgbClr val="5B6470"/>
                </a:solidFill>
                <a:latin typeface="Calibri" pitchFamily="34" charset="0"/>
                <a:ea typeface="Calibri" pitchFamily="34" charset="-122"/>
                <a:cs typeface="Calibri" pitchFamily="34" charset="-120"/>
              </a:rPr>
              <a:t>13</a:t>
            </a:r>
            <a:endParaRPr lang="en-US" sz="1050" dirty="0"/>
          </a:p>
        </p:txBody>
      </p:sp>
      <p:pic>
        <p:nvPicPr>
          <p:cNvPr id="6" name="Image 0" descr="/home/claude/decks/assets/logo-red-transparent-small.png">    </p:cNvPr>
          <p:cNvPicPr>
            <a:picLocks noChangeAspect="1"/>
          </p:cNvPicPr>
          <p:nvPr/>
        </p:nvPicPr>
        <p:blipFill>
          <a:blip r:embed="rId1"/>
          <a:stretch>
            <a:fillRect/>
          </a:stretch>
        </p:blipFill>
        <p:spPr>
          <a:xfrm>
            <a:off x="10518343" y="6291172"/>
            <a:ext cx="1124712" cy="411380"/>
          </a:xfrm>
          <a:prstGeom prst="rect">
            <a:avLst/>
          </a:prstGeom>
        </p:spPr>
      </p:pic>
      <p:sp>
        <p:nvSpPr>
          <p:cNvPr id="7" name="Shape 4"/>
          <p:cNvSpPr/>
          <p:nvPr/>
        </p:nvSpPr>
        <p:spPr>
          <a:xfrm>
            <a:off x="548640" y="1600200"/>
            <a:ext cx="5364328" cy="740664"/>
          </a:xfrm>
          <a:prstGeom prst="roundRect">
            <a:avLst>
              <a:gd name="adj" fmla="val 14815"/>
            </a:avLst>
          </a:prstGeom>
          <a:solidFill>
            <a:srgbClr val="F3F4F6"/>
          </a:solidFill>
          <a:ln w="12700">
            <a:solidFill>
              <a:srgbClr val="F3F4F6"/>
            </a:solidFill>
            <a:prstDash val="solid"/>
          </a:ln>
        </p:spPr>
      </p:sp>
      <p:sp>
        <p:nvSpPr>
          <p:cNvPr id="8" name="Shape 5"/>
          <p:cNvSpPr/>
          <p:nvPr/>
        </p:nvSpPr>
        <p:spPr>
          <a:xfrm>
            <a:off x="777240" y="1815084"/>
            <a:ext cx="310896" cy="310896"/>
          </a:xfrm>
          <a:prstGeom prst="roundRect">
            <a:avLst>
              <a:gd name="adj" fmla="val 14706"/>
            </a:avLst>
          </a:prstGeom>
          <a:solidFill>
            <a:srgbClr val="FFFFFF"/>
          </a:solidFill>
          <a:ln w="19050">
            <a:solidFill>
              <a:srgbClr val="5B6470"/>
            </a:solidFill>
            <a:prstDash val="solid"/>
          </a:ln>
        </p:spPr>
      </p:sp>
      <p:sp>
        <p:nvSpPr>
          <p:cNvPr id="9" name="Text 6"/>
          <p:cNvSpPr txBox="1"/>
          <p:nvPr/>
        </p:nvSpPr>
        <p:spPr>
          <a:xfrm>
            <a:off x="1325880" y="1600200"/>
            <a:ext cx="4404208" cy="740664"/>
          </a:xfrm>
          <a:prstGeom prst="rect">
            <a:avLst/>
          </a:prstGeom>
          <a:noFill/>
          <a:ln/>
        </p:spPr>
        <p:txBody>
          <a:bodyPr wrap="square" lIns="0" tIns="0" rIns="0" bIns="0" rtlCol="0" anchor="ctr"/>
          <a:lstStyle/>
          <a:p>
            <a:pPr indent="0" marL="0">
              <a:buNone/>
            </a:pPr>
            <a:r>
              <a:rPr lang="en-US" sz="1600" dirty="0">
                <a:solidFill>
                  <a:srgbClr val="1F2328"/>
                </a:solidFill>
                <a:latin typeface="Calibri" pitchFamily="34" charset="0"/>
                <a:ea typeface="Calibri" pitchFamily="34" charset="-122"/>
                <a:cs typeface="Calibri" pitchFamily="34" charset="-120"/>
              </a:rPr>
              <a:t>PrintedBookTest, HierarchyTest and LibraryTest are green</a:t>
            </a:r>
            <a:endParaRPr lang="en-US" sz="1600" dirty="0"/>
          </a:p>
        </p:txBody>
      </p:sp>
      <p:sp>
        <p:nvSpPr>
          <p:cNvPr id="10" name="Shape 7"/>
          <p:cNvSpPr/>
          <p:nvPr/>
        </p:nvSpPr>
        <p:spPr>
          <a:xfrm>
            <a:off x="548640" y="2468880"/>
            <a:ext cx="5364328" cy="740664"/>
          </a:xfrm>
          <a:prstGeom prst="roundRect">
            <a:avLst>
              <a:gd name="adj" fmla="val 14815"/>
            </a:avLst>
          </a:prstGeom>
          <a:solidFill>
            <a:srgbClr val="F3F4F6"/>
          </a:solidFill>
          <a:ln w="12700">
            <a:solidFill>
              <a:srgbClr val="F3F4F6"/>
            </a:solidFill>
            <a:prstDash val="solid"/>
          </a:ln>
        </p:spPr>
      </p:sp>
      <p:sp>
        <p:nvSpPr>
          <p:cNvPr id="11" name="Shape 8"/>
          <p:cNvSpPr/>
          <p:nvPr/>
        </p:nvSpPr>
        <p:spPr>
          <a:xfrm>
            <a:off x="777240" y="2683764"/>
            <a:ext cx="310896" cy="310896"/>
          </a:xfrm>
          <a:prstGeom prst="roundRect">
            <a:avLst>
              <a:gd name="adj" fmla="val 14706"/>
            </a:avLst>
          </a:prstGeom>
          <a:solidFill>
            <a:srgbClr val="FFFFFF"/>
          </a:solidFill>
          <a:ln w="19050">
            <a:solidFill>
              <a:srgbClr val="5B6470"/>
            </a:solidFill>
            <a:prstDash val="solid"/>
          </a:ln>
        </p:spPr>
      </p:sp>
      <p:sp>
        <p:nvSpPr>
          <p:cNvPr id="12" name="Text 9"/>
          <p:cNvSpPr txBox="1"/>
          <p:nvPr/>
        </p:nvSpPr>
        <p:spPr>
          <a:xfrm>
            <a:off x="1325880" y="2468880"/>
            <a:ext cx="4404208" cy="740664"/>
          </a:xfrm>
          <a:prstGeom prst="rect">
            <a:avLst/>
          </a:prstGeom>
          <a:noFill/>
          <a:ln/>
        </p:spPr>
        <p:txBody>
          <a:bodyPr wrap="square" lIns="0" tIns="0" rIns="0" bIns="0" rtlCol="0" anchor="ctr"/>
          <a:lstStyle/>
          <a:p>
            <a:pPr indent="0" marL="0">
              <a:buNone/>
            </a:pPr>
            <a:r>
              <a:rPr lang="en-US" sz="1600" dirty="0">
                <a:solidFill>
                  <a:srgbClr val="1F2328"/>
                </a:solidFill>
                <a:latin typeface="Calibri" pitchFamily="34" charset="0"/>
                <a:ea typeface="Calibri" pitchFamily="34" charset="-122"/>
                <a:cs typeface="Calibri" pitchFamily="34" charset="-120"/>
              </a:rPr>
              <a:t>Book is abstract and has two abstract methods</a:t>
            </a:r>
            <a:endParaRPr lang="en-US" sz="1600" dirty="0"/>
          </a:p>
        </p:txBody>
      </p:sp>
      <p:sp>
        <p:nvSpPr>
          <p:cNvPr id="13" name="Shape 10"/>
          <p:cNvSpPr/>
          <p:nvPr/>
        </p:nvSpPr>
        <p:spPr>
          <a:xfrm>
            <a:off x="548640" y="3337560"/>
            <a:ext cx="5364328" cy="740664"/>
          </a:xfrm>
          <a:prstGeom prst="roundRect">
            <a:avLst>
              <a:gd name="adj" fmla="val 14815"/>
            </a:avLst>
          </a:prstGeom>
          <a:solidFill>
            <a:srgbClr val="F3F4F6"/>
          </a:solidFill>
          <a:ln w="12700">
            <a:solidFill>
              <a:srgbClr val="F3F4F6"/>
            </a:solidFill>
            <a:prstDash val="solid"/>
          </a:ln>
        </p:spPr>
      </p:sp>
      <p:sp>
        <p:nvSpPr>
          <p:cNvPr id="14" name="Shape 11"/>
          <p:cNvSpPr/>
          <p:nvPr/>
        </p:nvSpPr>
        <p:spPr>
          <a:xfrm>
            <a:off x="777240" y="3552444"/>
            <a:ext cx="310896" cy="310896"/>
          </a:xfrm>
          <a:prstGeom prst="roundRect">
            <a:avLst>
              <a:gd name="adj" fmla="val 14706"/>
            </a:avLst>
          </a:prstGeom>
          <a:solidFill>
            <a:srgbClr val="FFFFFF"/>
          </a:solidFill>
          <a:ln w="19050">
            <a:solidFill>
              <a:srgbClr val="5B6470"/>
            </a:solidFill>
            <a:prstDash val="solid"/>
          </a:ln>
        </p:spPr>
      </p:sp>
      <p:sp>
        <p:nvSpPr>
          <p:cNvPr id="15" name="Text 12"/>
          <p:cNvSpPr txBox="1"/>
          <p:nvPr/>
        </p:nvSpPr>
        <p:spPr>
          <a:xfrm>
            <a:off x="1325880" y="3337560"/>
            <a:ext cx="4404208" cy="740664"/>
          </a:xfrm>
          <a:prstGeom prst="rect">
            <a:avLst/>
          </a:prstGeom>
          <a:noFill/>
          <a:ln/>
        </p:spPr>
        <p:txBody>
          <a:bodyPr wrap="square" lIns="0" tIns="0" rIns="0" bIns="0" rtlCol="0" anchor="ctr"/>
          <a:lstStyle/>
          <a:p>
            <a:pPr indent="0" marL="0">
              <a:buNone/>
            </a:pPr>
            <a:r>
              <a:rPr lang="en-US" sz="1600" dirty="0">
                <a:solidFill>
                  <a:srgbClr val="1F2328"/>
                </a:solidFill>
                <a:latin typeface="Calibri" pitchFamily="34" charset="0"/>
                <a:ea typeface="Calibri" pitchFamily="34" charset="-122"/>
                <a:cs typeface="Calibri" pitchFamily="34" charset="-120"/>
              </a:rPr>
              <a:t>Every overriding method carries @Override</a:t>
            </a:r>
            <a:endParaRPr lang="en-US" sz="1600" dirty="0"/>
          </a:p>
        </p:txBody>
      </p:sp>
      <p:sp>
        <p:nvSpPr>
          <p:cNvPr id="16" name="Shape 13"/>
          <p:cNvSpPr/>
          <p:nvPr/>
        </p:nvSpPr>
        <p:spPr>
          <a:xfrm>
            <a:off x="6278728" y="1600200"/>
            <a:ext cx="5364328" cy="740664"/>
          </a:xfrm>
          <a:prstGeom prst="roundRect">
            <a:avLst>
              <a:gd name="adj" fmla="val 14815"/>
            </a:avLst>
          </a:prstGeom>
          <a:solidFill>
            <a:srgbClr val="F3F4F6"/>
          </a:solidFill>
          <a:ln w="12700">
            <a:solidFill>
              <a:srgbClr val="F3F4F6"/>
            </a:solidFill>
            <a:prstDash val="solid"/>
          </a:ln>
        </p:spPr>
      </p:sp>
      <p:sp>
        <p:nvSpPr>
          <p:cNvPr id="17" name="Shape 14"/>
          <p:cNvSpPr/>
          <p:nvPr/>
        </p:nvSpPr>
        <p:spPr>
          <a:xfrm>
            <a:off x="6507328" y="1815084"/>
            <a:ext cx="310896" cy="310896"/>
          </a:xfrm>
          <a:prstGeom prst="roundRect">
            <a:avLst>
              <a:gd name="adj" fmla="val 14706"/>
            </a:avLst>
          </a:prstGeom>
          <a:solidFill>
            <a:srgbClr val="FFFFFF"/>
          </a:solidFill>
          <a:ln w="19050">
            <a:solidFill>
              <a:srgbClr val="5B6470"/>
            </a:solidFill>
            <a:prstDash val="solid"/>
          </a:ln>
        </p:spPr>
      </p:sp>
      <p:sp>
        <p:nvSpPr>
          <p:cNvPr id="18" name="Text 15"/>
          <p:cNvSpPr txBox="1"/>
          <p:nvPr/>
        </p:nvSpPr>
        <p:spPr>
          <a:xfrm>
            <a:off x="7055968" y="1600200"/>
            <a:ext cx="4404208" cy="740664"/>
          </a:xfrm>
          <a:prstGeom prst="rect">
            <a:avLst/>
          </a:prstGeom>
          <a:noFill/>
          <a:ln/>
        </p:spPr>
        <p:txBody>
          <a:bodyPr wrap="square" lIns="0" tIns="0" rIns="0" bIns="0" rtlCol="0" anchor="ctr"/>
          <a:lstStyle/>
          <a:p>
            <a:pPr indent="0" marL="0">
              <a:buNone/>
            </a:pPr>
            <a:r>
              <a:rPr lang="en-US" sz="1600" dirty="0">
                <a:solidFill>
                  <a:srgbClr val="1F2328"/>
                </a:solidFill>
                <a:latin typeface="Calibri" pitchFamily="34" charset="0"/>
                <a:ea typeface="Calibri" pitchFamily="34" charset="-122"/>
                <a:cs typeface="Calibri" pitchFamily="34" charset="-120"/>
              </a:rPr>
              <a:t>Main prints the expected output</a:t>
            </a:r>
            <a:endParaRPr lang="en-US" sz="1600" dirty="0"/>
          </a:p>
        </p:txBody>
      </p:sp>
      <p:sp>
        <p:nvSpPr>
          <p:cNvPr id="19" name="Shape 16"/>
          <p:cNvSpPr/>
          <p:nvPr/>
        </p:nvSpPr>
        <p:spPr>
          <a:xfrm>
            <a:off x="6278728" y="2468880"/>
            <a:ext cx="5364328" cy="740664"/>
          </a:xfrm>
          <a:prstGeom prst="roundRect">
            <a:avLst>
              <a:gd name="adj" fmla="val 14815"/>
            </a:avLst>
          </a:prstGeom>
          <a:solidFill>
            <a:srgbClr val="F3F4F6"/>
          </a:solidFill>
          <a:ln w="12700">
            <a:solidFill>
              <a:srgbClr val="F3F4F6"/>
            </a:solidFill>
            <a:prstDash val="solid"/>
          </a:ln>
        </p:spPr>
      </p:sp>
      <p:sp>
        <p:nvSpPr>
          <p:cNvPr id="20" name="Shape 17"/>
          <p:cNvSpPr/>
          <p:nvPr/>
        </p:nvSpPr>
        <p:spPr>
          <a:xfrm>
            <a:off x="6507328" y="2683764"/>
            <a:ext cx="310896" cy="310896"/>
          </a:xfrm>
          <a:prstGeom prst="roundRect">
            <a:avLst>
              <a:gd name="adj" fmla="val 14706"/>
            </a:avLst>
          </a:prstGeom>
          <a:solidFill>
            <a:srgbClr val="FFFFFF"/>
          </a:solidFill>
          <a:ln w="19050">
            <a:solidFill>
              <a:srgbClr val="5B6470"/>
            </a:solidFill>
            <a:prstDash val="solid"/>
          </a:ln>
        </p:spPr>
      </p:sp>
      <p:sp>
        <p:nvSpPr>
          <p:cNvPr id="21" name="Text 18"/>
          <p:cNvSpPr txBox="1"/>
          <p:nvPr/>
        </p:nvSpPr>
        <p:spPr>
          <a:xfrm>
            <a:off x="7055968" y="2468880"/>
            <a:ext cx="4404208" cy="740664"/>
          </a:xfrm>
          <a:prstGeom prst="rect">
            <a:avLst/>
          </a:prstGeom>
          <a:noFill/>
          <a:ln/>
        </p:spPr>
        <p:txBody>
          <a:bodyPr wrap="square" lIns="0" tIns="0" rIns="0" bIns="0" rtlCol="0" anchor="ctr"/>
          <a:lstStyle/>
          <a:p>
            <a:pPr indent="0" marL="0">
              <a:buNone/>
            </a:pPr>
            <a:r>
              <a:rPr lang="en-US" sz="1600" dirty="0">
                <a:solidFill>
                  <a:srgbClr val="1F2328"/>
                </a:solidFill>
                <a:latin typeface="Calibri" pitchFamily="34" charset="0"/>
                <a:ea typeface="Calibri" pitchFamily="34" charset="-122"/>
                <a:cs typeface="Calibri" pitchFamily="34" charset="-120"/>
              </a:rPr>
              <a:t>Every task has its own commit</a:t>
            </a:r>
            <a:endParaRPr lang="en-US" sz="1600" dirty="0"/>
          </a:p>
        </p:txBody>
      </p:sp>
      <p:sp>
        <p:nvSpPr>
          <p:cNvPr id="22" name="Shape 19"/>
          <p:cNvSpPr/>
          <p:nvPr/>
        </p:nvSpPr>
        <p:spPr>
          <a:xfrm>
            <a:off x="6278728" y="3337560"/>
            <a:ext cx="5364328" cy="740664"/>
          </a:xfrm>
          <a:prstGeom prst="roundRect">
            <a:avLst>
              <a:gd name="adj" fmla="val 14815"/>
            </a:avLst>
          </a:prstGeom>
          <a:solidFill>
            <a:srgbClr val="F3F4F6"/>
          </a:solidFill>
          <a:ln w="12700">
            <a:solidFill>
              <a:srgbClr val="F3F4F6"/>
            </a:solidFill>
            <a:prstDash val="solid"/>
          </a:ln>
        </p:spPr>
      </p:sp>
      <p:sp>
        <p:nvSpPr>
          <p:cNvPr id="23" name="Shape 20"/>
          <p:cNvSpPr/>
          <p:nvPr/>
        </p:nvSpPr>
        <p:spPr>
          <a:xfrm>
            <a:off x="6507328" y="3552444"/>
            <a:ext cx="310896" cy="310896"/>
          </a:xfrm>
          <a:prstGeom prst="roundRect">
            <a:avLst>
              <a:gd name="adj" fmla="val 14706"/>
            </a:avLst>
          </a:prstGeom>
          <a:solidFill>
            <a:srgbClr val="FFFFFF"/>
          </a:solidFill>
          <a:ln w="19050">
            <a:solidFill>
              <a:srgbClr val="5B6470"/>
            </a:solidFill>
            <a:prstDash val="solid"/>
          </a:ln>
        </p:spPr>
      </p:sp>
      <p:sp>
        <p:nvSpPr>
          <p:cNvPr id="24" name="Text 21"/>
          <p:cNvSpPr txBox="1"/>
          <p:nvPr/>
        </p:nvSpPr>
        <p:spPr>
          <a:xfrm>
            <a:off x="7055968" y="3337560"/>
            <a:ext cx="4404208" cy="740664"/>
          </a:xfrm>
          <a:prstGeom prst="rect">
            <a:avLst/>
          </a:prstGeom>
          <a:noFill/>
          <a:ln/>
        </p:spPr>
        <p:txBody>
          <a:bodyPr wrap="square" lIns="0" tIns="0" rIns="0" bIns="0" rtlCol="0" anchor="ctr"/>
          <a:lstStyle/>
          <a:p>
            <a:pPr indent="0" marL="0">
              <a:buNone/>
            </a:pPr>
            <a:r>
              <a:rPr lang="en-US" sz="1600" dirty="0">
                <a:solidFill>
                  <a:srgbClr val="1F2328"/>
                </a:solidFill>
                <a:latin typeface="Calibri" pitchFamily="34" charset="0"/>
                <a:ea typeface="Calibri" pitchFamily="34" charset="-122"/>
                <a:cs typeface="Calibri" pitchFamily="34" charset="-120"/>
              </a:rPr>
              <a:t>git push is done and checked on github.com</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56032"/>
          </a:xfrm>
          <a:prstGeom prst="rect">
            <a:avLst/>
          </a:prstGeom>
          <a:noFill/>
          <a:ln/>
        </p:spPr>
        <p:txBody>
          <a:bodyPr wrap="square" lIns="0" tIns="0" rIns="0" bIns="0" rtlCol="0" anchor="ctr"/>
          <a:lstStyle/>
          <a:p>
            <a:pPr indent="0" marL="0">
              <a:buNone/>
            </a:pPr>
            <a:r>
              <a:rPr lang="en-US" sz="1200" b="1" spc="200" kern="0" dirty="0">
                <a:solidFill>
                  <a:srgbClr val="C6333B"/>
                </a:solidFill>
                <a:latin typeface="Calibri" pitchFamily="34" charset="0"/>
                <a:ea typeface="Calibri" pitchFamily="34" charset="-122"/>
                <a:cs typeface="Calibri" pitchFamily="34" charset="-120"/>
              </a:rPr>
              <a:t>NEXT WEEK</a:t>
            </a:r>
            <a:endParaRPr lang="en-US" sz="1200" dirty="0"/>
          </a:p>
        </p:txBody>
      </p:sp>
      <p:sp>
        <p:nvSpPr>
          <p:cNvPr id="3" name="Text 1"/>
          <p:cNvSpPr txBox="1"/>
          <p:nvPr/>
        </p:nvSpPr>
        <p:spPr>
          <a:xfrm>
            <a:off x="548640" y="640080"/>
            <a:ext cx="11064240" cy="640080"/>
          </a:xfrm>
          <a:prstGeom prst="rect">
            <a:avLst/>
          </a:prstGeom>
          <a:noFill/>
          <a:ln/>
        </p:spPr>
        <p:txBody>
          <a:bodyPr wrap="square" lIns="0" tIns="0" rIns="0" bIns="0" rtlCol="0" anchor="t">
            <a:normAutofit/>
          </a:bodyPr>
          <a:lstStyle/>
          <a:p>
            <a:pPr indent="0" marL="0">
              <a:buNone/>
            </a:pPr>
            <a:r>
              <a:rPr lang="en-US" sz="3200" b="1" dirty="0">
                <a:solidFill>
                  <a:srgbClr val="1F2328"/>
                </a:solidFill>
                <a:latin typeface="Calibri" pitchFamily="34" charset="0"/>
                <a:ea typeface="Calibri" pitchFamily="34" charset="-122"/>
                <a:cs typeface="Calibri" pitchFamily="34" charset="-120"/>
              </a:rPr>
              <a:t>Trial practical: how it will run</a:t>
            </a:r>
            <a:endParaRPr lang="en-US" sz="3200" dirty="0"/>
          </a:p>
        </p:txBody>
      </p:sp>
      <p:sp>
        <p:nvSpPr>
          <p:cNvPr id="4" name="Text 2"/>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1050" dirty="0">
                <a:solidFill>
                  <a:srgbClr val="5B6470"/>
                </a:solidFill>
                <a:latin typeface="Calibri" pitchFamily="34" charset="0"/>
                <a:ea typeface="Calibri" pitchFamily="34" charset="-122"/>
                <a:cs typeface="Calibri" pitchFamily="34" charset="-120"/>
              </a:rPr>
              <a:t>CSCI 2430 Programming Languages  ·  Week 5  ·  Lab</a:t>
            </a:r>
            <a:endParaRPr lang="en-US" sz="1050" dirty="0"/>
          </a:p>
        </p:txBody>
      </p:sp>
      <p:sp>
        <p:nvSpPr>
          <p:cNvPr id="5" name="Text 3"/>
          <p:cNvSpPr txBox="1"/>
          <p:nvPr/>
        </p:nvSpPr>
        <p:spPr>
          <a:xfrm>
            <a:off x="9677095" y="6400800"/>
            <a:ext cx="548640" cy="274320"/>
          </a:xfrm>
          <a:prstGeom prst="rect">
            <a:avLst/>
          </a:prstGeom>
          <a:noFill/>
          <a:ln/>
        </p:spPr>
        <p:txBody>
          <a:bodyPr wrap="square" lIns="0" tIns="0" rIns="0" bIns="0" rtlCol="0" anchor="ctr"/>
          <a:lstStyle/>
          <a:p>
            <a:pPr algn="r" indent="0" marL="0">
              <a:buNone/>
            </a:pPr>
            <a:r>
              <a:rPr lang="en-US" sz="1050" dirty="0">
                <a:solidFill>
                  <a:srgbClr val="5B6470"/>
                </a:solidFill>
                <a:latin typeface="Calibri" pitchFamily="34" charset="0"/>
                <a:ea typeface="Calibri" pitchFamily="34" charset="-122"/>
                <a:cs typeface="Calibri" pitchFamily="34" charset="-120"/>
              </a:rPr>
              <a:t>14</a:t>
            </a:r>
            <a:endParaRPr lang="en-US" sz="1050" dirty="0"/>
          </a:p>
        </p:txBody>
      </p:sp>
      <p:pic>
        <p:nvPicPr>
          <p:cNvPr id="6" name="Image 0" descr="/home/claude/decks/assets/logo-red-transparent-small.png">    </p:cNvPr>
          <p:cNvPicPr>
            <a:picLocks noChangeAspect="1"/>
          </p:cNvPicPr>
          <p:nvPr/>
        </p:nvPicPr>
        <p:blipFill>
          <a:blip r:embed="rId1"/>
          <a:stretch>
            <a:fillRect/>
          </a:stretch>
        </p:blipFill>
        <p:spPr>
          <a:xfrm>
            <a:off x="10518343" y="6291172"/>
            <a:ext cx="1124712" cy="411380"/>
          </a:xfrm>
          <a:prstGeom prst="rect">
            <a:avLst/>
          </a:prstGeom>
        </p:spPr>
      </p:pic>
      <p:sp>
        <p:nvSpPr>
          <p:cNvPr id="8" name="Shape 4"/>
          <p:cNvSpPr/>
          <p:nvPr/>
        </p:nvSpPr>
        <p:spPr>
          <a:xfrm>
            <a:off x="548640" y="1572768"/>
            <a:ext cx="457200" cy="457200"/>
          </a:xfrm>
          <a:prstGeom prst="ellipse">
            <a:avLst/>
          </a:prstGeom>
          <a:solidFill>
            <a:srgbClr val="262B33"/>
          </a:solidFill>
          <a:ln w="12700">
            <a:solidFill>
              <a:srgbClr val="262B33"/>
            </a:solidFill>
            <a:prstDash val="solid"/>
          </a:ln>
        </p:spPr>
      </p:sp>
      <p:sp>
        <p:nvSpPr>
          <p:cNvPr id="9" name="Text 5"/>
          <p:cNvSpPr txBox="1"/>
          <p:nvPr/>
        </p:nvSpPr>
        <p:spPr>
          <a:xfrm>
            <a:off x="548640" y="157276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0" name="Text 6"/>
          <p:cNvSpPr txBox="1"/>
          <p:nvPr/>
        </p:nvSpPr>
        <p:spPr>
          <a:xfrm>
            <a:off x="1234440" y="1554480"/>
            <a:ext cx="5989320" cy="924687"/>
          </a:xfrm>
          <a:prstGeom prst="rect">
            <a:avLst/>
          </a:prstGeom>
          <a:noFill/>
          <a:ln/>
        </p:spPr>
        <p:txBody>
          <a:bodyPr wrap="square" lIns="0" tIns="0" rIns="0" bIns="0" rtlCol="0" anchor="t"/>
          <a:lstStyle/>
          <a:p>
            <a:pPr indent="0" marL="0">
              <a:buNone/>
            </a:pPr>
            <a:r>
              <a:rPr lang="en-US" sz="2100" b="1" dirty="0">
                <a:solidFill>
                  <a:srgbClr val="1F2328"/>
                </a:solidFill>
                <a:latin typeface="Calibri" pitchFamily="34" charset="0"/>
                <a:ea typeface="Calibri" pitchFamily="34" charset="-122"/>
                <a:cs typeface="Calibri" pitchFamily="34" charset="-120"/>
              </a:rPr>
              <a:t>Exam conditions</a:t>
            </a:r>
            <a:endParaRPr lang="en-US" sz="2100" dirty="0"/>
          </a:p>
          <a:p>
            <a:pPr indent="0" marL="0">
              <a:buNone/>
            </a:pPr>
            <a:r>
              <a:rPr lang="en-US" sz="1700" dirty="0">
                <a:solidFill>
                  <a:srgbClr val="5B6470"/>
                </a:solidFill>
                <a:latin typeface="Calibri" pitchFamily="34" charset="0"/>
                <a:ea typeface="Calibri" pitchFamily="34" charset="-122"/>
                <a:cs typeface="Calibri" pitchFamily="34" charset="-120"/>
              </a:rPr>
              <a:t>The assignment is handed out on paper. It stays in the room, no photos.</a:t>
            </a:r>
            <a:endParaRPr lang="en-US" sz="2100" dirty="0"/>
          </a:p>
        </p:txBody>
      </p:sp>
      <p:sp>
        <p:nvSpPr>
          <p:cNvPr id="11" name="Shape 7"/>
          <p:cNvSpPr/>
          <p:nvPr/>
        </p:nvSpPr>
        <p:spPr>
          <a:xfrm>
            <a:off x="548640" y="2704338"/>
            <a:ext cx="457200" cy="457200"/>
          </a:xfrm>
          <a:prstGeom prst="ellipse">
            <a:avLst/>
          </a:prstGeom>
          <a:solidFill>
            <a:srgbClr val="262B33"/>
          </a:solidFill>
          <a:ln w="12700">
            <a:solidFill>
              <a:srgbClr val="262B33"/>
            </a:solidFill>
            <a:prstDash val="solid"/>
          </a:ln>
        </p:spPr>
      </p:sp>
      <p:sp>
        <p:nvSpPr>
          <p:cNvPr id="12" name="Text 8"/>
          <p:cNvSpPr txBox="1"/>
          <p:nvPr/>
        </p:nvSpPr>
        <p:spPr>
          <a:xfrm>
            <a:off x="548640" y="270433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9"/>
          <p:cNvSpPr txBox="1"/>
          <p:nvPr/>
        </p:nvSpPr>
        <p:spPr>
          <a:xfrm>
            <a:off x="1234440" y="2686050"/>
            <a:ext cx="5989320" cy="924687"/>
          </a:xfrm>
          <a:prstGeom prst="rect">
            <a:avLst/>
          </a:prstGeom>
          <a:noFill/>
          <a:ln/>
        </p:spPr>
        <p:txBody>
          <a:bodyPr wrap="square" lIns="0" tIns="0" rIns="0" bIns="0" rtlCol="0" anchor="t"/>
          <a:lstStyle/>
          <a:p>
            <a:pPr indent="0" marL="0">
              <a:buNone/>
            </a:pPr>
            <a:r>
              <a:rPr lang="en-US" sz="2100" b="1" dirty="0">
                <a:solidFill>
                  <a:srgbClr val="1F2328"/>
                </a:solidFill>
                <a:latin typeface="Calibri" pitchFamily="34" charset="0"/>
                <a:ea typeface="Calibri" pitchFamily="34" charset="-122"/>
                <a:cs typeface="Calibri" pitchFamily="34" charset="-120"/>
              </a:rPr>
              <a:t>Closed book, no AI tools, no phone</a:t>
            </a:r>
            <a:endParaRPr lang="en-US" sz="2100" dirty="0"/>
          </a:p>
          <a:p>
            <a:pPr indent="0" marL="0">
              <a:buNone/>
            </a:pPr>
            <a:r>
              <a:rPr lang="en-US" sz="1700" dirty="0">
                <a:solidFill>
                  <a:srgbClr val="5B6470"/>
                </a:solidFill>
                <a:latin typeface="Calibri" pitchFamily="34" charset="0"/>
                <a:ea typeface="Calibri" pitchFamily="34" charset="-122"/>
                <a:cs typeface="Calibri" pitchFamily="34" charset="-120"/>
              </a:rPr>
              <a:t>IntelliJ IDEA and the Java documentation inside the IDE are allowed.</a:t>
            </a:r>
            <a:endParaRPr lang="en-US" sz="2100" dirty="0"/>
          </a:p>
        </p:txBody>
      </p:sp>
      <p:sp>
        <p:nvSpPr>
          <p:cNvPr id="14" name="Shape 10"/>
          <p:cNvSpPr/>
          <p:nvPr/>
        </p:nvSpPr>
        <p:spPr>
          <a:xfrm>
            <a:off x="548640" y="3835908"/>
            <a:ext cx="457200" cy="457200"/>
          </a:xfrm>
          <a:prstGeom prst="ellipse">
            <a:avLst/>
          </a:prstGeom>
          <a:solidFill>
            <a:srgbClr val="262B33"/>
          </a:solidFill>
          <a:ln w="12700">
            <a:solidFill>
              <a:srgbClr val="262B33"/>
            </a:solidFill>
            <a:prstDash val="solid"/>
          </a:ln>
        </p:spPr>
      </p:sp>
      <p:sp>
        <p:nvSpPr>
          <p:cNvPr id="15" name="Text 11"/>
          <p:cNvSpPr txBox="1"/>
          <p:nvPr/>
        </p:nvSpPr>
        <p:spPr>
          <a:xfrm>
            <a:off x="548640" y="383590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6" name="Text 12"/>
          <p:cNvSpPr txBox="1"/>
          <p:nvPr/>
        </p:nvSpPr>
        <p:spPr>
          <a:xfrm>
            <a:off x="1234440" y="3817620"/>
            <a:ext cx="5989320" cy="924687"/>
          </a:xfrm>
          <a:prstGeom prst="rect">
            <a:avLst/>
          </a:prstGeom>
          <a:noFill/>
          <a:ln/>
        </p:spPr>
        <p:txBody>
          <a:bodyPr wrap="square" lIns="0" tIns="0" rIns="0" bIns="0" rtlCol="0" anchor="t"/>
          <a:lstStyle/>
          <a:p>
            <a:pPr indent="0" marL="0">
              <a:buNone/>
            </a:pPr>
            <a:r>
              <a:rPr lang="en-US" sz="2100" b="1" dirty="0">
                <a:solidFill>
                  <a:srgbClr val="1F2328"/>
                </a:solidFill>
                <a:latin typeface="Calibri" pitchFamily="34" charset="0"/>
                <a:ea typeface="Calibri" pitchFamily="34" charset="-122"/>
                <a:cs typeface="Calibri" pitchFamily="34" charset="-120"/>
              </a:rPr>
              <a:t>Submission through GitHub</a:t>
            </a:r>
            <a:endParaRPr lang="en-US" sz="2100" dirty="0"/>
          </a:p>
          <a:p>
            <a:pPr indent="0" marL="0">
              <a:buNone/>
            </a:pPr>
            <a:r>
              <a:rPr lang="en-US" sz="1700" dirty="0">
                <a:solidFill>
                  <a:srgbClr val="5B6470"/>
                </a:solidFill>
                <a:latin typeface="Calibri" pitchFamily="34" charset="0"/>
                <a:ea typeface="Calibri" pitchFamily="34" charset="-122"/>
                <a:cs typeface="Calibri" pitchFamily="34" charset="-120"/>
              </a:rPr>
              <a:t>A new private repository, shared with Dejan and Ivana. Commit as you go, push before the time ends.</a:t>
            </a:r>
            <a:endParaRPr lang="en-US" sz="2100" dirty="0"/>
          </a:p>
        </p:txBody>
      </p:sp>
      <p:sp>
        <p:nvSpPr>
          <p:cNvPr id="17" name="Shape 13"/>
          <p:cNvSpPr/>
          <p:nvPr/>
        </p:nvSpPr>
        <p:spPr>
          <a:xfrm>
            <a:off x="548640" y="4967478"/>
            <a:ext cx="457200" cy="457200"/>
          </a:xfrm>
          <a:prstGeom prst="ellipse">
            <a:avLst/>
          </a:prstGeom>
          <a:solidFill>
            <a:srgbClr val="262B33"/>
          </a:solidFill>
          <a:ln w="12700">
            <a:solidFill>
              <a:srgbClr val="262B33"/>
            </a:solidFill>
            <a:prstDash val="solid"/>
          </a:ln>
        </p:spPr>
      </p:sp>
      <p:sp>
        <p:nvSpPr>
          <p:cNvPr id="18" name="Text 14"/>
          <p:cNvSpPr txBox="1"/>
          <p:nvPr/>
        </p:nvSpPr>
        <p:spPr>
          <a:xfrm>
            <a:off x="548640" y="496747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9" name="Text 15"/>
          <p:cNvSpPr txBox="1"/>
          <p:nvPr/>
        </p:nvSpPr>
        <p:spPr>
          <a:xfrm>
            <a:off x="1234440" y="4949190"/>
            <a:ext cx="5989320" cy="924687"/>
          </a:xfrm>
          <a:prstGeom prst="rect">
            <a:avLst/>
          </a:prstGeom>
          <a:noFill/>
          <a:ln/>
        </p:spPr>
        <p:txBody>
          <a:bodyPr wrap="square" lIns="0" tIns="0" rIns="0" bIns="0" rtlCol="0" anchor="t"/>
          <a:lstStyle/>
          <a:p>
            <a:pPr indent="0" marL="0">
              <a:buNone/>
            </a:pPr>
            <a:r>
              <a:rPr lang="en-US" sz="2100" b="1" dirty="0">
                <a:solidFill>
                  <a:srgbClr val="1F2328"/>
                </a:solidFill>
                <a:latin typeface="Calibri" pitchFamily="34" charset="0"/>
                <a:ea typeface="Calibri" pitchFamily="34" charset="-122"/>
                <a:cs typeface="Calibri" pitchFamily="34" charset="-120"/>
              </a:rPr>
              <a:t>Short defence</a:t>
            </a:r>
            <a:endParaRPr lang="en-US" sz="2100" dirty="0"/>
          </a:p>
          <a:p>
            <a:pPr indent="0" marL="0">
              <a:buNone/>
            </a:pPr>
            <a:r>
              <a:rPr lang="en-US" sz="1700" dirty="0">
                <a:solidFill>
                  <a:srgbClr val="5B6470"/>
                </a:solidFill>
                <a:latin typeface="Calibri" pitchFamily="34" charset="0"/>
                <a:ea typeface="Calibri" pitchFamily="34" charset="-122"/>
                <a:cs typeface="Calibri" pitchFamily="34" charset="-120"/>
              </a:rPr>
              <a:t>About five minutes per student: you explain your code and make one small change live.</a:t>
            </a:r>
            <a:endParaRPr lang="en-US" sz="2100" dirty="0"/>
          </a:p>
        </p:txBody>
      </p:sp>
      <p:sp>
        <p:nvSpPr>
          <p:cNvPr id="20" name="Shape 16"/>
          <p:cNvSpPr/>
          <p:nvPr/>
        </p:nvSpPr>
        <p:spPr>
          <a:xfrm>
            <a:off x="7680960" y="1508760"/>
            <a:ext cx="3962095" cy="4480560"/>
          </a:xfrm>
          <a:prstGeom prst="roundRect">
            <a:avLst>
              <a:gd name="adj" fmla="val 2769"/>
            </a:avLst>
          </a:prstGeom>
          <a:solidFill>
            <a:srgbClr val="FBECED"/>
          </a:solidFill>
          <a:ln w="12700">
            <a:solidFill>
              <a:srgbClr val="FBECED"/>
            </a:solidFill>
            <a:prstDash val="solid"/>
          </a:ln>
        </p:spPr>
      </p:sp>
      <p:sp>
        <p:nvSpPr>
          <p:cNvPr id="21" name="Shape 17"/>
          <p:cNvSpPr/>
          <p:nvPr/>
        </p:nvSpPr>
        <p:spPr>
          <a:xfrm>
            <a:off x="7955280" y="1783080"/>
            <a:ext cx="502920" cy="502920"/>
          </a:xfrm>
          <a:prstGeom prst="ellipse">
            <a:avLst/>
          </a:prstGeom>
          <a:solidFill>
            <a:srgbClr val="C6333B"/>
          </a:solidFill>
          <a:ln w="12700">
            <a:solidFill>
              <a:srgbClr val="C6333B"/>
            </a:solidFill>
            <a:prstDash val="solid"/>
          </a:ln>
        </p:spPr>
      </p:sp>
      <p:sp>
        <p:nvSpPr>
          <p:cNvPr id="22" name="Text 18"/>
          <p:cNvSpPr txBox="1"/>
          <p:nvPr/>
        </p:nvSpPr>
        <p:spPr>
          <a:xfrm>
            <a:off x="8595360" y="1783080"/>
            <a:ext cx="2773375" cy="502920"/>
          </a:xfrm>
          <a:prstGeom prst="rect">
            <a:avLst/>
          </a:prstGeom>
          <a:noFill/>
          <a:ln/>
        </p:spPr>
        <p:txBody>
          <a:bodyPr wrap="square" lIns="0" tIns="0" rIns="0" bIns="0" rtlCol="0" anchor="ctr"/>
          <a:lstStyle/>
          <a:p>
            <a:pPr indent="0" marL="0">
              <a:buNone/>
            </a:pPr>
            <a:r>
              <a:rPr lang="en-US" sz="1700" b="1" dirty="0">
                <a:solidFill>
                  <a:srgbClr val="9C2630"/>
                </a:solidFill>
                <a:latin typeface="Calibri" pitchFamily="34" charset="0"/>
                <a:ea typeface="Calibri" pitchFamily="34" charset="-122"/>
                <a:cs typeface="Calibri" pitchFamily="34" charset="-120"/>
              </a:rPr>
              <a:t>Prepare</a:t>
            </a:r>
            <a:endParaRPr lang="en-US" sz="1700" dirty="0"/>
          </a:p>
        </p:txBody>
      </p:sp>
      <p:sp>
        <p:nvSpPr>
          <p:cNvPr id="23" name="Text 19"/>
          <p:cNvSpPr txBox="1"/>
          <p:nvPr/>
        </p:nvSpPr>
        <p:spPr>
          <a:xfrm>
            <a:off x="7955280" y="2468880"/>
            <a:ext cx="3413455" cy="3246120"/>
          </a:xfrm>
          <a:prstGeom prst="rect">
            <a:avLst/>
          </a:prstGeom>
          <a:noFill/>
          <a:ln/>
        </p:spPr>
        <p:txBody>
          <a:bodyPr wrap="square" lIns="0" tIns="0" rIns="0" bIns="0" rtlCol="0" anchor="t"/>
          <a:lstStyle/>
          <a:p>
            <a:pPr indent="0" marL="0">
              <a:spcAft>
                <a:spcPts val="900"/>
              </a:spcAft>
              <a:buNone/>
            </a:pPr>
            <a:r>
              <a:rPr lang="en-US" sz="1800" dirty="0">
                <a:solidFill>
                  <a:srgbClr val="1F2328"/>
                </a:solidFill>
                <a:latin typeface="Calibri" pitchFamily="34" charset="0"/>
                <a:ea typeface="Calibri" pitchFamily="34" charset="-122"/>
                <a:cs typeface="Calibri" pitchFamily="34" charset="-120"/>
              </a:rPr>
              <a:t>Make sure that you can create a repository, commit and push without help.</a:t>
            </a:r>
            <a:endParaRPr lang="en-US" sz="1800" dirty="0"/>
          </a:p>
          <a:p>
            <a:pPr indent="0" marL="0">
              <a:spcAft>
                <a:spcPts val="900"/>
              </a:spcAft>
              <a:buNone/>
            </a:pPr>
            <a:r>
              <a:rPr lang="en-US" sz="1800" dirty="0">
                <a:solidFill>
                  <a:srgbClr val="1F2328"/>
                </a:solidFill>
                <a:latin typeface="Calibri" pitchFamily="34" charset="0"/>
                <a:ea typeface="Calibri" pitchFamily="34" charset="-122"/>
                <a:cs typeface="Calibri" pitchFamily="34" charset="-120"/>
              </a:rPr>
              <a:t>Repeat the labs of weeks 2 to 5 without looking at your old solutions.</a:t>
            </a:r>
            <a:endParaRPr lang="en-US" sz="1800" dirty="0"/>
          </a:p>
        </p:txBody>
      </p:sp>
      <p:pic>
        <p:nvPicPr>
          <p:cNvPr id="24" name="Image 1" descr="preencoded.png">    </p:cNvPr>
          <p:cNvPicPr>
            <a:picLocks noChangeAspect="1"/>
          </p:cNvPicPr>
          <p:nvPr/>
        </p:nvPicPr>
        <p:blipFill>
          <a:blip r:embed="rId2"/>
          <a:stretch>
            <a:fillRect/>
          </a:stretch>
        </p:blipFill>
        <p:spPr>
          <a:xfrm>
            <a:off x="8075981" y="1903781"/>
            <a:ext cx="261518" cy="26151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262B33"/>
        </a:solidFill>
      </p:bgPr>
    </p:bg>
    <p:spTree>
      <p:nvGrpSpPr>
        <p:cNvPr id="1" name=""/>
        <p:cNvGrpSpPr/>
        <p:nvPr/>
      </p:nvGrpSpPr>
      <p:grpSpPr>
        <a:xfrm>
          <a:off x="0" y="0"/>
          <a:ext cx="0" cy="0"/>
          <a:chOff x="0" y="0"/>
          <a:chExt cx="0" cy="0"/>
        </a:xfrm>
      </p:grpSpPr>
      <p:sp>
        <p:nvSpPr>
          <p:cNvPr id="2" name="Text 0"/>
          <p:cNvSpPr txBox="1"/>
          <p:nvPr/>
        </p:nvSpPr>
        <p:spPr>
          <a:xfrm>
            <a:off x="731520" y="685800"/>
            <a:ext cx="7315200" cy="320040"/>
          </a:xfrm>
          <a:prstGeom prst="rect">
            <a:avLst/>
          </a:prstGeom>
          <a:noFill/>
          <a:ln/>
        </p:spPr>
        <p:txBody>
          <a:bodyPr wrap="square" lIns="0" tIns="0" rIns="0" bIns="0" rtlCol="0" anchor="ctr"/>
          <a:lstStyle/>
          <a:p>
            <a:pPr indent="0" marL="0">
              <a:buNone/>
            </a:pPr>
            <a:r>
              <a:rPr lang="en-US" sz="1400" b="1" spc="300" kern="0" dirty="0">
                <a:solidFill>
                  <a:srgbClr val="FFFFFF"/>
                </a:solidFill>
                <a:latin typeface="Calibri" pitchFamily="34" charset="0"/>
                <a:ea typeface="Calibri" pitchFamily="34" charset="-122"/>
                <a:cs typeface="Calibri" pitchFamily="34" charset="-120"/>
              </a:rPr>
              <a:t>WRAP UP</a:t>
            </a:r>
            <a:endParaRPr lang="en-US" sz="1400" dirty="0"/>
          </a:p>
        </p:txBody>
      </p:sp>
      <p:sp>
        <p:nvSpPr>
          <p:cNvPr id="3" name="Text 1"/>
          <p:cNvSpPr txBox="1"/>
          <p:nvPr/>
        </p:nvSpPr>
        <p:spPr>
          <a:xfrm>
            <a:off x="731520" y="1051560"/>
            <a:ext cx="10058400" cy="73152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What you can do now</a:t>
            </a:r>
            <a:endParaRPr lang="en-US" sz="3400" dirty="0"/>
          </a:p>
        </p:txBody>
      </p:sp>
      <p:sp>
        <p:nvSpPr>
          <p:cNvPr id="4" name="Shape 2"/>
          <p:cNvSpPr/>
          <p:nvPr/>
        </p:nvSpPr>
        <p:spPr>
          <a:xfrm>
            <a:off x="731520" y="2093976"/>
            <a:ext cx="420624" cy="420624"/>
          </a:xfrm>
          <a:prstGeom prst="ellipse">
            <a:avLst/>
          </a:prstGeom>
          <a:solidFill>
            <a:srgbClr val="FFFFFF"/>
          </a:solidFill>
          <a:ln w="12700">
            <a:solidFill>
              <a:srgbClr val="FFFFFF"/>
            </a:solidFill>
            <a:prstDash val="solid"/>
          </a:ln>
        </p:spPr>
      </p:sp>
      <p:sp>
        <p:nvSpPr>
          <p:cNvPr id="5" name="Text 3"/>
          <p:cNvSpPr txBox="1"/>
          <p:nvPr/>
        </p:nvSpPr>
        <p:spPr>
          <a:xfrm>
            <a:off x="731520" y="2093976"/>
            <a:ext cx="420624" cy="420624"/>
          </a:xfrm>
          <a:prstGeom prst="rect">
            <a:avLst/>
          </a:prstGeom>
          <a:noFill/>
          <a:ln/>
        </p:spPr>
        <p:txBody>
          <a:bodyPr wrap="square" lIns="0" tIns="0" rIns="0" bIns="0" rtlCol="0" anchor="ctr"/>
          <a:lstStyle/>
          <a:p>
            <a:pPr algn="ctr" indent="0" marL="0">
              <a:buNone/>
            </a:pPr>
            <a:r>
              <a:rPr lang="en-US" sz="1400" b="1" dirty="0">
                <a:solidFill>
                  <a:srgbClr val="262B33"/>
                </a:solidFill>
                <a:latin typeface="Calibri" pitchFamily="34" charset="0"/>
                <a:ea typeface="Calibri" pitchFamily="34" charset="-122"/>
                <a:cs typeface="Calibri" pitchFamily="34" charset="-120"/>
              </a:rPr>
              <a:t>1</a:t>
            </a:r>
            <a:endParaRPr lang="en-US" sz="1400" dirty="0"/>
          </a:p>
        </p:txBody>
      </p:sp>
      <p:sp>
        <p:nvSpPr>
          <p:cNvPr id="6" name="Text 4"/>
          <p:cNvSpPr txBox="1"/>
          <p:nvPr/>
        </p:nvSpPr>
        <p:spPr>
          <a:xfrm>
            <a:off x="1371600" y="2057400"/>
            <a:ext cx="10149840" cy="603504"/>
          </a:xfrm>
          <a:prstGeom prst="rect">
            <a:avLst/>
          </a:prstGeom>
          <a:noFill/>
          <a:ln/>
        </p:spPr>
        <p:txBody>
          <a:bodyPr wrap="square" lIns="0" tIns="0" rIns="0" bIns="0" rtlCol="0" anchor="t"/>
          <a:lstStyle/>
          <a:p>
            <a:pPr indent="0" marL="0">
              <a:buNone/>
            </a:pPr>
            <a:r>
              <a:rPr lang="en-US" sz="1900" dirty="0">
                <a:solidFill>
                  <a:srgbClr val="FFFFFF"/>
                </a:solidFill>
                <a:latin typeface="Calibri" pitchFamily="34" charset="0"/>
                <a:ea typeface="Calibri" pitchFamily="34" charset="-122"/>
                <a:cs typeface="Calibri" pitchFamily="34" charset="-120"/>
              </a:rPr>
              <a:t>Write a subclass with extends and pass values up with super(...).</a:t>
            </a:r>
            <a:endParaRPr lang="en-US" sz="1900" dirty="0"/>
          </a:p>
        </p:txBody>
      </p:sp>
      <p:sp>
        <p:nvSpPr>
          <p:cNvPr id="7" name="Shape 5"/>
          <p:cNvSpPr/>
          <p:nvPr/>
        </p:nvSpPr>
        <p:spPr>
          <a:xfrm>
            <a:off x="731520" y="2752344"/>
            <a:ext cx="420624" cy="420624"/>
          </a:xfrm>
          <a:prstGeom prst="ellipse">
            <a:avLst/>
          </a:prstGeom>
          <a:solidFill>
            <a:srgbClr val="FFFFFF"/>
          </a:solidFill>
          <a:ln w="12700">
            <a:solidFill>
              <a:srgbClr val="FFFFFF"/>
            </a:solidFill>
            <a:prstDash val="solid"/>
          </a:ln>
        </p:spPr>
      </p:sp>
      <p:sp>
        <p:nvSpPr>
          <p:cNvPr id="8" name="Text 6"/>
          <p:cNvSpPr txBox="1"/>
          <p:nvPr/>
        </p:nvSpPr>
        <p:spPr>
          <a:xfrm>
            <a:off x="731520" y="2752344"/>
            <a:ext cx="420624" cy="420624"/>
          </a:xfrm>
          <a:prstGeom prst="rect">
            <a:avLst/>
          </a:prstGeom>
          <a:noFill/>
          <a:ln/>
        </p:spPr>
        <p:txBody>
          <a:bodyPr wrap="square" lIns="0" tIns="0" rIns="0" bIns="0" rtlCol="0" anchor="ctr"/>
          <a:lstStyle/>
          <a:p>
            <a:pPr algn="ctr" indent="0" marL="0">
              <a:buNone/>
            </a:pPr>
            <a:r>
              <a:rPr lang="en-US" sz="1400" b="1" dirty="0">
                <a:solidFill>
                  <a:srgbClr val="262B33"/>
                </a:solidFill>
                <a:latin typeface="Calibri" pitchFamily="34" charset="0"/>
                <a:ea typeface="Calibri" pitchFamily="34" charset="-122"/>
                <a:cs typeface="Calibri" pitchFamily="34" charset="-120"/>
              </a:rPr>
              <a:t>2</a:t>
            </a:r>
            <a:endParaRPr lang="en-US" sz="1400" dirty="0"/>
          </a:p>
        </p:txBody>
      </p:sp>
      <p:sp>
        <p:nvSpPr>
          <p:cNvPr id="9" name="Text 7"/>
          <p:cNvSpPr txBox="1"/>
          <p:nvPr/>
        </p:nvSpPr>
        <p:spPr>
          <a:xfrm>
            <a:off x="1371600" y="2715768"/>
            <a:ext cx="10149840" cy="603504"/>
          </a:xfrm>
          <a:prstGeom prst="rect">
            <a:avLst/>
          </a:prstGeom>
          <a:noFill/>
          <a:ln/>
        </p:spPr>
        <p:txBody>
          <a:bodyPr wrap="square" lIns="0" tIns="0" rIns="0" bIns="0" rtlCol="0" anchor="t"/>
          <a:lstStyle/>
          <a:p>
            <a:pPr indent="0" marL="0">
              <a:buNone/>
            </a:pPr>
            <a:r>
              <a:rPr lang="en-US" sz="1900" dirty="0">
                <a:solidFill>
                  <a:srgbClr val="FFFFFF"/>
                </a:solidFill>
                <a:latin typeface="Calibri" pitchFamily="34" charset="0"/>
                <a:ea typeface="Calibri" pitchFamily="34" charset="-122"/>
                <a:cs typeface="Calibri" pitchFamily="34" charset="-120"/>
              </a:rPr>
              <a:t>Override methods, always with @Override, and reuse the old version with super.method().</a:t>
            </a:r>
            <a:endParaRPr lang="en-US" sz="1900" dirty="0"/>
          </a:p>
        </p:txBody>
      </p:sp>
      <p:sp>
        <p:nvSpPr>
          <p:cNvPr id="10" name="Shape 8"/>
          <p:cNvSpPr/>
          <p:nvPr/>
        </p:nvSpPr>
        <p:spPr>
          <a:xfrm>
            <a:off x="731520" y="3410712"/>
            <a:ext cx="420624" cy="420624"/>
          </a:xfrm>
          <a:prstGeom prst="ellipse">
            <a:avLst/>
          </a:prstGeom>
          <a:solidFill>
            <a:srgbClr val="FFFFFF"/>
          </a:solidFill>
          <a:ln w="12700">
            <a:solidFill>
              <a:srgbClr val="FFFFFF"/>
            </a:solidFill>
            <a:prstDash val="solid"/>
          </a:ln>
        </p:spPr>
      </p:sp>
      <p:sp>
        <p:nvSpPr>
          <p:cNvPr id="11" name="Text 9"/>
          <p:cNvSpPr txBox="1"/>
          <p:nvPr/>
        </p:nvSpPr>
        <p:spPr>
          <a:xfrm>
            <a:off x="731520" y="3410712"/>
            <a:ext cx="420624" cy="420624"/>
          </a:xfrm>
          <a:prstGeom prst="rect">
            <a:avLst/>
          </a:prstGeom>
          <a:noFill/>
          <a:ln/>
        </p:spPr>
        <p:txBody>
          <a:bodyPr wrap="square" lIns="0" tIns="0" rIns="0" bIns="0" rtlCol="0" anchor="ctr"/>
          <a:lstStyle/>
          <a:p>
            <a:pPr algn="ctr" indent="0" marL="0">
              <a:buNone/>
            </a:pPr>
            <a:r>
              <a:rPr lang="en-US" sz="1400" b="1" dirty="0">
                <a:solidFill>
                  <a:srgbClr val="262B33"/>
                </a:solidFill>
                <a:latin typeface="Calibri" pitchFamily="34" charset="0"/>
                <a:ea typeface="Calibri" pitchFamily="34" charset="-122"/>
                <a:cs typeface="Calibri" pitchFamily="34" charset="-120"/>
              </a:rPr>
              <a:t>3</a:t>
            </a:r>
            <a:endParaRPr lang="en-US" sz="1400" dirty="0"/>
          </a:p>
        </p:txBody>
      </p:sp>
      <p:sp>
        <p:nvSpPr>
          <p:cNvPr id="12" name="Text 10"/>
          <p:cNvSpPr txBox="1"/>
          <p:nvPr/>
        </p:nvSpPr>
        <p:spPr>
          <a:xfrm>
            <a:off x="1371600" y="3374136"/>
            <a:ext cx="10149840" cy="603504"/>
          </a:xfrm>
          <a:prstGeom prst="rect">
            <a:avLst/>
          </a:prstGeom>
          <a:noFill/>
          <a:ln/>
        </p:spPr>
        <p:txBody>
          <a:bodyPr wrap="square" lIns="0" tIns="0" rIns="0" bIns="0" rtlCol="0" anchor="t"/>
          <a:lstStyle/>
          <a:p>
            <a:pPr indent="0" marL="0">
              <a:buNone/>
            </a:pPr>
            <a:r>
              <a:rPr lang="en-US" sz="1900" dirty="0">
                <a:solidFill>
                  <a:srgbClr val="FFFFFF"/>
                </a:solidFill>
                <a:latin typeface="Calibri" pitchFamily="34" charset="0"/>
                <a:ea typeface="Calibri" pitchFamily="34" charset="-122"/>
                <a:cs typeface="Calibri" pitchFamily="34" charset="-120"/>
              </a:rPr>
              <a:t>Make a class abstract and leave methods for the subclasses to complete.</a:t>
            </a:r>
            <a:endParaRPr lang="en-US" sz="1900" dirty="0"/>
          </a:p>
        </p:txBody>
      </p:sp>
      <p:sp>
        <p:nvSpPr>
          <p:cNvPr id="13" name="Shape 11"/>
          <p:cNvSpPr/>
          <p:nvPr/>
        </p:nvSpPr>
        <p:spPr>
          <a:xfrm>
            <a:off x="731520" y="4069080"/>
            <a:ext cx="420624" cy="420624"/>
          </a:xfrm>
          <a:prstGeom prst="ellipse">
            <a:avLst/>
          </a:prstGeom>
          <a:solidFill>
            <a:srgbClr val="FFFFFF"/>
          </a:solidFill>
          <a:ln w="12700">
            <a:solidFill>
              <a:srgbClr val="FFFFFF"/>
            </a:solidFill>
            <a:prstDash val="solid"/>
          </a:ln>
        </p:spPr>
      </p:sp>
      <p:sp>
        <p:nvSpPr>
          <p:cNvPr id="14" name="Text 12"/>
          <p:cNvSpPr txBox="1"/>
          <p:nvPr/>
        </p:nvSpPr>
        <p:spPr>
          <a:xfrm>
            <a:off x="731520" y="4069080"/>
            <a:ext cx="420624" cy="420624"/>
          </a:xfrm>
          <a:prstGeom prst="rect">
            <a:avLst/>
          </a:prstGeom>
          <a:noFill/>
          <a:ln/>
        </p:spPr>
        <p:txBody>
          <a:bodyPr wrap="square" lIns="0" tIns="0" rIns="0" bIns="0" rtlCol="0" anchor="ctr"/>
          <a:lstStyle/>
          <a:p>
            <a:pPr algn="ctr" indent="0" marL="0">
              <a:buNone/>
            </a:pPr>
            <a:r>
              <a:rPr lang="en-US" sz="1400" b="1" dirty="0">
                <a:solidFill>
                  <a:srgbClr val="262B33"/>
                </a:solidFill>
                <a:latin typeface="Calibri" pitchFamily="34" charset="0"/>
                <a:ea typeface="Calibri" pitchFamily="34" charset="-122"/>
                <a:cs typeface="Calibri" pitchFamily="34" charset="-120"/>
              </a:rPr>
              <a:t>4</a:t>
            </a:r>
            <a:endParaRPr lang="en-US" sz="1400" dirty="0"/>
          </a:p>
        </p:txBody>
      </p:sp>
      <p:sp>
        <p:nvSpPr>
          <p:cNvPr id="15" name="Text 13"/>
          <p:cNvSpPr txBox="1"/>
          <p:nvPr/>
        </p:nvSpPr>
        <p:spPr>
          <a:xfrm>
            <a:off x="1371600" y="4032504"/>
            <a:ext cx="10149840" cy="603504"/>
          </a:xfrm>
          <a:prstGeom prst="rect">
            <a:avLst/>
          </a:prstGeom>
          <a:noFill/>
          <a:ln/>
        </p:spPr>
        <p:txBody>
          <a:bodyPr wrap="square" lIns="0" tIns="0" rIns="0" bIns="0" rtlCol="0" anchor="t"/>
          <a:lstStyle/>
          <a:p>
            <a:pPr indent="0" marL="0">
              <a:buNone/>
            </a:pPr>
            <a:r>
              <a:rPr lang="en-US" sz="1900" dirty="0">
                <a:solidFill>
                  <a:srgbClr val="FFFFFF"/>
                </a:solidFill>
                <a:latin typeface="Calibri" pitchFamily="34" charset="0"/>
                <a:ea typeface="Calibri" pitchFamily="34" charset="-122"/>
                <a:cs typeface="Calibri" pitchFamily="34" charset="-120"/>
              </a:rPr>
              <a:t>Store objects of different subclasses in one List&lt;Book&gt; and let each answer in its own way.</a:t>
            </a:r>
            <a:endParaRPr lang="en-US" sz="1900" dirty="0"/>
          </a:p>
        </p:txBody>
      </p:sp>
      <p:sp>
        <p:nvSpPr>
          <p:cNvPr id="16" name="Shape 14"/>
          <p:cNvSpPr/>
          <p:nvPr/>
        </p:nvSpPr>
        <p:spPr>
          <a:xfrm>
            <a:off x="731520" y="4727448"/>
            <a:ext cx="420624" cy="420624"/>
          </a:xfrm>
          <a:prstGeom prst="ellipse">
            <a:avLst/>
          </a:prstGeom>
          <a:solidFill>
            <a:srgbClr val="FFFFFF"/>
          </a:solidFill>
          <a:ln w="12700">
            <a:solidFill>
              <a:srgbClr val="FFFFFF"/>
            </a:solidFill>
            <a:prstDash val="solid"/>
          </a:ln>
        </p:spPr>
      </p:sp>
      <p:sp>
        <p:nvSpPr>
          <p:cNvPr id="17" name="Text 15"/>
          <p:cNvSpPr txBox="1"/>
          <p:nvPr/>
        </p:nvSpPr>
        <p:spPr>
          <a:xfrm>
            <a:off x="731520" y="4727448"/>
            <a:ext cx="420624" cy="420624"/>
          </a:xfrm>
          <a:prstGeom prst="rect">
            <a:avLst/>
          </a:prstGeom>
          <a:noFill/>
          <a:ln/>
        </p:spPr>
        <p:txBody>
          <a:bodyPr wrap="square" lIns="0" tIns="0" rIns="0" bIns="0" rtlCol="0" anchor="ctr"/>
          <a:lstStyle/>
          <a:p>
            <a:pPr algn="ctr" indent="0" marL="0">
              <a:buNone/>
            </a:pPr>
            <a:r>
              <a:rPr lang="en-US" sz="1400" b="1" dirty="0">
                <a:solidFill>
                  <a:srgbClr val="262B33"/>
                </a:solidFill>
                <a:latin typeface="Calibri" pitchFamily="34" charset="0"/>
                <a:ea typeface="Calibri" pitchFamily="34" charset="-122"/>
                <a:cs typeface="Calibri" pitchFamily="34" charset="-120"/>
              </a:rPr>
              <a:t>5</a:t>
            </a:r>
            <a:endParaRPr lang="en-US" sz="1400" dirty="0"/>
          </a:p>
        </p:txBody>
      </p:sp>
      <p:sp>
        <p:nvSpPr>
          <p:cNvPr id="18" name="Text 16"/>
          <p:cNvSpPr txBox="1"/>
          <p:nvPr/>
        </p:nvSpPr>
        <p:spPr>
          <a:xfrm>
            <a:off x="1371600" y="4690872"/>
            <a:ext cx="10149840" cy="603504"/>
          </a:xfrm>
          <a:prstGeom prst="rect">
            <a:avLst/>
          </a:prstGeom>
          <a:noFill/>
          <a:ln/>
        </p:spPr>
        <p:txBody>
          <a:bodyPr wrap="square" lIns="0" tIns="0" rIns="0" bIns="0" rtlCol="0" anchor="t"/>
          <a:lstStyle/>
          <a:p>
            <a:pPr indent="0" marL="0">
              <a:buNone/>
            </a:pPr>
            <a:r>
              <a:rPr lang="en-US" sz="1900" dirty="0">
                <a:solidFill>
                  <a:srgbClr val="FFFFFF"/>
                </a:solidFill>
                <a:latin typeface="Calibri" pitchFamily="34" charset="0"/>
                <a:ea typeface="Calibri" pitchFamily="34" charset="-122"/>
                <a:cs typeface="Calibri" pitchFamily="34" charset="-120"/>
              </a:rPr>
              <a:t>Use instanceof with a pattern variable when only one subclass has what you need.</a:t>
            </a:r>
            <a:endParaRPr lang="en-US" sz="1900" dirty="0"/>
          </a:p>
        </p:txBody>
      </p:sp>
      <p:sp>
        <p:nvSpPr>
          <p:cNvPr id="19" name="Shape 17"/>
          <p:cNvSpPr/>
          <p:nvPr/>
        </p:nvSpPr>
        <p:spPr>
          <a:xfrm>
            <a:off x="731520" y="5486400"/>
            <a:ext cx="10728655" cy="640080"/>
          </a:xfrm>
          <a:prstGeom prst="roundRect">
            <a:avLst>
              <a:gd name="adj" fmla="val 17143"/>
            </a:avLst>
          </a:prstGeom>
          <a:solidFill>
            <a:srgbClr val="FFFFFF"/>
          </a:solidFill>
          <a:ln w="12700">
            <a:solidFill>
              <a:srgbClr val="FFFFFF"/>
            </a:solidFill>
            <a:prstDash val="solid"/>
          </a:ln>
        </p:spPr>
      </p:sp>
      <p:sp>
        <p:nvSpPr>
          <p:cNvPr id="20" name="Text 18"/>
          <p:cNvSpPr txBox="1"/>
          <p:nvPr/>
        </p:nvSpPr>
        <p:spPr>
          <a:xfrm>
            <a:off x="960120" y="5486400"/>
            <a:ext cx="10271455" cy="640080"/>
          </a:xfrm>
          <a:prstGeom prst="rect">
            <a:avLst/>
          </a:prstGeom>
          <a:noFill/>
          <a:ln/>
        </p:spPr>
        <p:txBody>
          <a:bodyPr wrap="square" lIns="0" tIns="0" rIns="0" bIns="0" rtlCol="0" anchor="ctr">
            <a:normAutofit/>
          </a:bodyPr>
          <a:lstStyle/>
          <a:p>
            <a:pPr indent="0" marL="0">
              <a:buNone/>
            </a:pPr>
            <a:r>
              <a:rPr lang="en-US" sz="1600" b="1" dirty="0">
                <a:solidFill>
                  <a:srgbClr val="262B33"/>
                </a:solidFill>
                <a:latin typeface="Calibri" pitchFamily="34" charset="0"/>
                <a:ea typeface="Calibri" pitchFamily="34" charset="-122"/>
                <a:cs typeface="Calibri" pitchFamily="34" charset="-120"/>
              </a:rPr>
              <a:t>Next week:  </a:t>
            </a:r>
            <a:pPr indent="0" marL="0">
              <a:buNone/>
            </a:pPr>
            <a:r>
              <a:rPr lang="en-US" sz="1600" dirty="0">
                <a:solidFill>
                  <a:srgbClr val="1F2328"/>
                </a:solidFill>
                <a:latin typeface="Calibri" pitchFamily="34" charset="0"/>
                <a:ea typeface="Calibri" pitchFamily="34" charset="-122"/>
                <a:cs typeface="Calibri" pitchFamily="34" charset="-120"/>
              </a:rPr>
              <a:t>Trial practical under exam conditions. The week after: the midterm.</a:t>
            </a:r>
            <a:endParaRPr lang="en-US" sz="1600" dirty="0"/>
          </a:p>
        </p:txBody>
      </p:sp>
      <p:sp>
        <p:nvSpPr>
          <p:cNvPr id="21" name="Text 19"/>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CSCI 2430 Programming Languages  ·  Week 5  ·  Lab</a:t>
            </a:r>
            <a:endParaRPr lang="en-US" sz="1050" dirty="0"/>
          </a:p>
        </p:txBody>
      </p:sp>
      <p:sp>
        <p:nvSpPr>
          <p:cNvPr id="22" name="Text 20"/>
          <p:cNvSpPr txBox="1"/>
          <p:nvPr/>
        </p:nvSpPr>
        <p:spPr>
          <a:xfrm>
            <a:off x="9677095" y="6400800"/>
            <a:ext cx="548640" cy="274320"/>
          </a:xfrm>
          <a:prstGeom prst="rect">
            <a:avLst/>
          </a:prstGeom>
          <a:noFill/>
          <a:ln/>
        </p:spPr>
        <p:txBody>
          <a:bodyPr wrap="square" lIns="0" tIns="0" rIns="0" bIns="0" rtlCol="0" anchor="ctr"/>
          <a:lstStyle/>
          <a:p>
            <a:pPr algn="r" indent="0" marL="0">
              <a:buNone/>
            </a:pPr>
            <a:r>
              <a:rPr lang="en-US" sz="1050" dirty="0">
                <a:solidFill>
                  <a:srgbClr val="FFFFFF"/>
                </a:solidFill>
                <a:latin typeface="Calibri" pitchFamily="34" charset="0"/>
                <a:ea typeface="Calibri" pitchFamily="34" charset="-122"/>
                <a:cs typeface="Calibri" pitchFamily="34" charset="-120"/>
              </a:rPr>
              <a:t>15</a:t>
            </a:r>
            <a:endParaRPr lang="en-US" sz="1050" dirty="0"/>
          </a:p>
        </p:txBody>
      </p:sp>
      <p:pic>
        <p:nvPicPr>
          <p:cNvPr id="23" name="Image 0" descr="/home/claude/decks/assets/logo-white-small.png">    </p:cNvPr>
          <p:cNvPicPr>
            <a:picLocks noChangeAspect="1"/>
          </p:cNvPicPr>
          <p:nvPr/>
        </p:nvPicPr>
        <p:blipFill>
          <a:blip r:embed="rId1"/>
          <a:stretch>
            <a:fillRect/>
          </a:stretch>
        </p:blipFill>
        <p:spPr>
          <a:xfrm>
            <a:off x="10518343" y="6291172"/>
            <a:ext cx="1124712" cy="41138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University American College Skopje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5 Lab: One book type becomes three</dc:title>
  <dc:subject>PptxGenJS Presentation</dc:subject>
  <dc:creator>Dejan Mitov</dc:creator>
  <cp:lastModifiedBy>Dejan Mitov</cp:lastModifiedBy>
  <cp:revision>1</cp:revision>
  <dcterms:created xsi:type="dcterms:W3CDTF">2026-09-20T20:05:26Z</dcterms:created>
  <dcterms:modified xsi:type="dcterms:W3CDTF">2026-09-20T20:05:26Z</dcterms:modified>
</cp:coreProperties>
</file>